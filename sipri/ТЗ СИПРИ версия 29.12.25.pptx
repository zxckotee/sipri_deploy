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ink/ink1.xml" ContentType="application/inkml+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comments/comment10.xml" ContentType="application/vnd.openxmlformats-officedocument.presentationml.comments+xml"/>
  <Override PartName="/ppt/comments/comment11.xml" ContentType="application/vnd.openxmlformats-officedocument.presentationml.comments+xml"/>
  <Override PartName="/ppt/comments/comment12.xml" ContentType="application/vnd.openxmlformats-officedocument.presentationml.comments+xml"/>
  <Override PartName="/ppt/comments/comment13.xml" ContentType="application/vnd.openxmlformats-officedocument.presentationml.comments+xml"/>
  <Override PartName="/ppt/comments/comment14.xml" ContentType="application/vnd.openxmlformats-officedocument.presentationml.comments+xml"/>
  <Override PartName="/ppt/comments/comment15.xml" ContentType="application/vnd.openxmlformats-officedocument.presentationml.comments+xml"/>
  <Override PartName="/ppt/comments/comment16.xml" ContentType="application/vnd.openxmlformats-officedocument.presentationml.comments+xml"/>
  <Override PartName="/ppt/comments/comment17.xml" ContentType="application/vnd.openxmlformats-officedocument.presentationml.comments+xml"/>
  <Override PartName="/ppt/comments/comment18.xml" ContentType="application/vnd.openxmlformats-officedocument.presentationml.comments+xml"/>
  <Override PartName="/ppt/comments/comment19.xml" ContentType="application/vnd.openxmlformats-officedocument.presentationml.comments+xml"/>
  <Override PartName="/ppt/comments/comment20.xml" ContentType="application/vnd.openxmlformats-officedocument.presentationml.comments+xml"/>
  <Override PartName="/ppt/comments/comment21.xml" ContentType="application/vnd.openxmlformats-officedocument.presentationml.comments+xml"/>
  <Override PartName="/ppt/comments/comment22.xml" ContentType="application/vnd.openxmlformats-officedocument.presentationml.comments+xml"/>
  <Override PartName="/ppt/comments/comment23.xml" ContentType="application/vnd.openxmlformats-officedocument.presentationml.comments+xml"/>
  <Override PartName="/ppt/comments/comment24.xml" ContentType="application/vnd.openxmlformats-officedocument.presentationml.comments+xml"/>
  <Override PartName="/ppt/comments/comment25.xml" ContentType="application/vnd.openxmlformats-officedocument.presentationml.comments+xml"/>
  <Override PartName="/ppt/comments/comment26.xml" ContentType="application/vnd.openxmlformats-officedocument.presentationml.comments+xml"/>
  <Override PartName="/ppt/comments/comment27.xml" ContentType="application/vnd.openxmlformats-officedocument.presentationml.comments+xml"/>
  <Override PartName="/ppt/comments/comment28.xml" ContentType="application/vnd.openxmlformats-officedocument.presentationml.comments+xml"/>
  <Override PartName="/ppt/comments/comment29.xml" ContentType="application/vnd.openxmlformats-officedocument.presentationml.comments+xml"/>
  <Override PartName="/ppt/comments/comment30.xml" ContentType="application/vnd.openxmlformats-officedocument.presentationml.comments+xml"/>
  <Override PartName="/ppt/comments/comment31.xml" ContentType="application/vnd.openxmlformats-officedocument.presentationml.comments+xml"/>
  <Override PartName="/ppt/comments/comment32.xml" ContentType="application/vnd.openxmlformats-officedocument.presentationml.comments+xml"/>
  <Override PartName="/ppt/comments/comment33.xml" ContentType="application/vnd.openxmlformats-officedocument.presentationml.comments+xml"/>
  <Override PartName="/ppt/comments/comment34.xml" ContentType="application/vnd.openxmlformats-officedocument.presentationml.comments+xml"/>
  <Override PartName="/ppt/comments/comment35.xml" ContentType="application/vnd.openxmlformats-officedocument.presentationml.comments+xml"/>
  <Override PartName="/ppt/comments/comment36.xml" ContentType="application/vnd.openxmlformats-officedocument.presentationml.comments+xml"/>
  <Override PartName="/ppt/comments/comment37.xml" ContentType="application/vnd.openxmlformats-officedocument.presentationml.comments+xml"/>
  <Override PartName="/ppt/comments/comment38.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314" r:id="rId5"/>
    <p:sldId id="308" r:id="rId6"/>
    <p:sldId id="261" r:id="rId7"/>
    <p:sldId id="310" r:id="rId8"/>
    <p:sldId id="291" r:id="rId9"/>
    <p:sldId id="312" r:id="rId10"/>
    <p:sldId id="293" r:id="rId11"/>
    <p:sldId id="317" r:id="rId12"/>
    <p:sldId id="266" r:id="rId13"/>
    <p:sldId id="323" r:id="rId14"/>
    <p:sldId id="320" r:id="rId15"/>
    <p:sldId id="318" r:id="rId16"/>
    <p:sldId id="321" r:id="rId17"/>
    <p:sldId id="322" r:id="rId18"/>
    <p:sldId id="319" r:id="rId19"/>
    <p:sldId id="269" r:id="rId20"/>
    <p:sldId id="276" r:id="rId21"/>
    <p:sldId id="294" r:id="rId22"/>
    <p:sldId id="280" r:id="rId23"/>
    <p:sldId id="279" r:id="rId24"/>
    <p:sldId id="270" r:id="rId25"/>
    <p:sldId id="295" r:id="rId26"/>
    <p:sldId id="296" r:id="rId27"/>
    <p:sldId id="306" r:id="rId28"/>
    <p:sldId id="272" r:id="rId29"/>
    <p:sldId id="283" r:id="rId30"/>
    <p:sldId id="298" r:id="rId31"/>
    <p:sldId id="286" r:id="rId32"/>
    <p:sldId id="297" r:id="rId33"/>
    <p:sldId id="289" r:id="rId34"/>
    <p:sldId id="299" r:id="rId35"/>
    <p:sldId id="300" r:id="rId36"/>
    <p:sldId id="326" r:id="rId37"/>
    <p:sldId id="328" r:id="rId38"/>
    <p:sldId id="329" r:id="rId39"/>
    <p:sldId id="301" r:id="rId40"/>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40" userDrawn="1">
          <p15:clr>
            <a:srgbClr val="A4A3A4"/>
          </p15:clr>
        </p15:guide>
        <p15:guide id="2" pos="21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Пользователь Lenovo" initials="ПL" lastIdx="294" clrIdx="0">
    <p:extLst>
      <p:ext uri="{19B8F6BF-5375-455C-9EA6-DF929625EA0E}">
        <p15:presenceInfo xmlns:p15="http://schemas.microsoft.com/office/powerpoint/2012/main" userId="2fbe42296bdb71d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0066"/>
    <a:srgbClr val="FF3399"/>
    <a:srgbClr val="E6E6E6"/>
    <a:srgbClr val="AE6402"/>
    <a:srgbClr val="B9B9B9"/>
    <a:srgbClr val="ADB9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426" autoAdjust="0"/>
    <p:restoredTop sz="93979" autoAdjust="0"/>
  </p:normalViewPr>
  <p:slideViewPr>
    <p:cSldViewPr snapToGrid="0">
      <p:cViewPr varScale="1">
        <p:scale>
          <a:sx n="39" d="100"/>
          <a:sy n="39" d="100"/>
        </p:scale>
        <p:origin x="1932" y="20"/>
      </p:cViewPr>
      <p:guideLst>
        <p:guide orient="horz" pos="384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4-18T11:48:54.197" idx="104">
    <p:pos x="1263" y="3816"/>
    <p:text>при нажатии открывается слайд 2</p:text>
    <p:extLst mod="1">
      <p:ext uri="{C676402C-5697-4E1C-873F-D02D1690AC5C}">
        <p15:threadingInfo xmlns:p15="http://schemas.microsoft.com/office/powerpoint/2012/main" timeZoneBias="-720"/>
      </p:ext>
    </p:extLst>
  </p:cm>
  <p:cm authorId="1" dt="2025-12-14T17:23:29.585" idx="246">
    <p:pos x="1461" y="5184"/>
    <p:text>форма визуализации входа, авторизации,  на ваше усмотрение, как лучше, предлагайте</p:text>
    <p:extLst>
      <p:ext uri="{C676402C-5697-4E1C-873F-D02D1690AC5C}">
        <p15:threadingInfo xmlns:p15="http://schemas.microsoft.com/office/powerpoint/2012/main" timeZoneBias="-720"/>
      </p:ext>
    </p:extLst>
  </p:cm>
  <p:cm authorId="1" dt="2025-12-14T17:52:52.819" idx="247">
    <p:pos x="2062" y="1934"/>
    <p:text>зарегестрированный знак "СИПРИ" (как ярлык приложения первой версии)</p:text>
    <p:extLst>
      <p:ext uri="{C676402C-5697-4E1C-873F-D02D1690AC5C}">
        <p15:threadingInfo xmlns:p15="http://schemas.microsoft.com/office/powerpoint/2012/main" timeZoneBias="-7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5-02-26T14:52:20.371" idx="4">
    <p:pos x="732" y="633"/>
    <p:text>1. строка для поиска по названиям компаний, предприятий и фамилиям (клиентов компании) зарегестрированных на сайте, внесенных в базу и контакты (регистрация на 3 ем слайде ТЗ, кнопка "регистрация...". На сервере создается карточка предприятия после регистрации пользователя или заполнения ее с правами администратора ( программисты, руководители). Работник после регистрации в своей компании видит вверху над поисковой строкой наименование его предприятия. при следующем входе оно сохраняется. Сделать вход лучше с паролем и логином? или сайт может запомнить все ID устройства работника (телефон, компьютер) и можно потом входить через них?</p:text>
    <p:extLst mod="1">
      <p:ext uri="{C676402C-5697-4E1C-873F-D02D1690AC5C}">
        <p15:threadingInfo xmlns:p15="http://schemas.microsoft.com/office/powerpoint/2012/main" timeZoneBias="-720"/>
      </p:ext>
    </p:extLst>
  </p:cm>
  <p:cm authorId="1" dt="2025-02-26T14:56:36.357" idx="6">
    <p:pos x="521" y="2064"/>
    <p:text>кн 2 - при нажатии переход на слайд 3</p:text>
    <p:extLst mod="1">
      <p:ext uri="{C676402C-5697-4E1C-873F-D02D1690AC5C}">
        <p15:threadingInfo xmlns:p15="http://schemas.microsoft.com/office/powerpoint/2012/main" timeZoneBias="-720"/>
      </p:ext>
    </p:extLst>
  </p:cm>
  <p:cm authorId="1" dt="2025-02-26T15:02:18.228" idx="9">
    <p:pos x="586" y="4186"/>
    <p:text>при нажатии переходим на слайд 10</p:text>
    <p:extLst mod="1">
      <p:ext uri="{C676402C-5697-4E1C-873F-D02D1690AC5C}">
        <p15:threadingInfo xmlns:p15="http://schemas.microsoft.com/office/powerpoint/2012/main" timeZoneBias="-720"/>
      </p:ext>
    </p:extLst>
  </p:cm>
  <p:cm authorId="1" dt="2025-02-26T15:03:25.229" idx="10">
    <p:pos x="524" y="3055"/>
    <p:text>при нажатии преходим на слайд 5 (на вкладку "ЧАТ"-открытые кнопки-вкладки выделяется цветом)</p:text>
    <p:extLst mod="1">
      <p:ext uri="{C676402C-5697-4E1C-873F-D02D1690AC5C}">
        <p15:threadingInfo xmlns:p15="http://schemas.microsoft.com/office/powerpoint/2012/main" timeZoneBias="-720"/>
      </p:ext>
    </p:extLst>
  </p:cm>
  <p:cm authorId="1" dt="2025-02-26T15:57:26.719" idx="11">
    <p:pos x="525" y="5174"/>
    <p:text>при нажатии преходим на слайд 13</p:text>
    <p:extLst mod="1">
      <p:ext uri="{C676402C-5697-4E1C-873F-D02D1690AC5C}">
        <p15:threadingInfo xmlns:p15="http://schemas.microsoft.com/office/powerpoint/2012/main" timeZoneBias="-720"/>
      </p:ext>
    </p:extLst>
  </p:cm>
  <p:cm authorId="1" dt="2025-02-26T15:59:24.898" idx="12">
    <p:pos x="473" y="6079"/>
    <p:text>при нажатии преходим на слайд 18</p:text>
    <p:extLst mod="1">
      <p:ext uri="{C676402C-5697-4E1C-873F-D02D1690AC5C}">
        <p15:threadingInfo xmlns:p15="http://schemas.microsoft.com/office/powerpoint/2012/main" timeZoneBias="-720"/>
      </p:ext>
    </p:extLst>
  </p:cm>
  <p:cm authorId="1" dt="2025-02-26T16:00:07.602" idx="13">
    <p:pos x="597" y="6953"/>
    <p:text>при нажатии преходим на слайд 18</p:text>
    <p:extLst mod="1">
      <p:ext uri="{C676402C-5697-4E1C-873F-D02D1690AC5C}">
        <p15:threadingInfo xmlns:p15="http://schemas.microsoft.com/office/powerpoint/2012/main" timeZoneBias="-720"/>
      </p:ext>
    </p:extLst>
  </p:cm>
  <p:cm authorId="1" dt="2025-04-14T06:53:23.938" idx="99">
    <p:pos x="3677" y="6943"/>
    <p:text>кнопка "информация". при нажатии открываетс описание, инструкция, комментарии о данной странице (ввиде окна или новой страницы с кнопкой "вернуться назад?", как лучше?)</p:text>
    <p:extLst mod="1">
      <p:ext uri="{C676402C-5697-4E1C-873F-D02D1690AC5C}">
        <p15:threadingInfo xmlns:p15="http://schemas.microsoft.com/office/powerpoint/2012/main" timeZoneBias="-720"/>
      </p:ext>
    </p:extLst>
  </p:cm>
  <p:cm authorId="1" dt="2025-04-17T17:09:50.996" idx="101">
    <p:pos x="2499" y="6542"/>
    <p:text>При входе пользователь  может войти в правила участия , далее авторизуется через личный кабинет , внося свои данные или анонимно чере ник с привязкой ID номера устройства(или другим способом лучше?). После авторизации сразу вход в личный кабинет и возможен просмотр и пользование в соответствии с правами данной категории пользователя. Категорий три: 1)все работники данного предприятия (рабочие, руководители, директор и замы), 2) работники других или смежных предприятий, 3) клиенты, потребители продукции или услуг предприятия</p:text>
    <p:extLst mod="1">
      <p:ext uri="{C676402C-5697-4E1C-873F-D02D1690AC5C}">
        <p15:threadingInfo xmlns:p15="http://schemas.microsoft.com/office/powerpoint/2012/main" timeZoneBias="-720"/>
      </p:ext>
    </p:extLst>
  </p:cm>
  <p:cm authorId="1" dt="2025-04-18T10:27:59.091" idx="102">
    <p:pos x="2335" y="418"/>
    <p:text>Работник или клиент после регистрации в своей компании видит вверху над поисковой строкой появляется наименование своего предприятия. при следующих входах оно сохраняется. отображается на слайде №29 (в примечании слайда указано(вверху)</p:text>
    <p:extLst mod="1">
      <p:ext uri="{C676402C-5697-4E1C-873F-D02D1690AC5C}">
        <p15:threadingInfo xmlns:p15="http://schemas.microsoft.com/office/powerpoint/2012/main" timeZoneBias="-720"/>
      </p:ext>
    </p:extLst>
  </p:cm>
  <p:cm authorId="1" dt="2025-04-18T11:12:36.795" idx="103">
    <p:pos x="1423" y="68"/>
    <p:text>активная строка с адресом и наименованием на русском языке. при нажатии-переход на общий сайт (не своего предприятия)</p:text>
    <p:extLst>
      <p:ext uri="{C676402C-5697-4E1C-873F-D02D1690AC5C}">
        <p15:threadingInfo xmlns:p15="http://schemas.microsoft.com/office/powerpoint/2012/main" timeZoneBias="-7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5-02-26T16:08:19.119" idx="14">
    <p:pos x="401" y="916"/>
    <p:text>"Правила для участников". при нажатии открывается (слайд 4) два разделенных поля на экране с одинаковым текстом правил . Верхнее поле с текстом правил имеет заголовок "Правила для участников" (тескст вводит админ-напишу позже) с возможностью редактирования и сохранения его администратором данного предприятия под свои правила. Нижнее поле имеет заголовок "шаблон" и имеет такой же текст правил как в верхнем поле, только с возможностью копирования текста и вставки в верхнее поле "Правила участников". Редактировать и удалять текст шаблона администратору предприятия нельзя (первоначально, потом решим).</p:text>
    <p:extLst mod="1">
      <p:ext uri="{C676402C-5697-4E1C-873F-D02D1690AC5C}">
        <p15:threadingInfo xmlns:p15="http://schemas.microsoft.com/office/powerpoint/2012/main" timeZoneBias="-720"/>
      </p:ext>
    </p:extLst>
  </p:cm>
  <p:cm authorId="1" dt="2025-02-26T16:34:28.254" idx="15">
    <p:pos x="400" y="2983"/>
    <p:text>после создания сайта будет размещен на данной странице сайта  видеоролик (распространенный формат файла для пк и мобильных устройств) - описание пользования сайтом и и ниже поле с текстом описания страниц сайта и функциями</p:text>
    <p:extLst mod="1">
      <p:ext uri="{C676402C-5697-4E1C-873F-D02D1690AC5C}">
        <p15:threadingInfo xmlns:p15="http://schemas.microsoft.com/office/powerpoint/2012/main" timeZoneBias="-720"/>
      </p:ext>
    </p:extLst>
  </p:cm>
  <p:cm authorId="1" dt="2025-02-26T16:52:45.844" idx="16">
    <p:pos x="689" y="4197"/>
    <p:text>после нажатия открывается страница (слайд 29)  с полями внесения личных основных данных данного предприятия, компании. при поступлении идеи от них в карточке отображается наименование и пр данные компании соответственно. Далее их можно найти в "контактах" через поиск (наимен предпр, ник, ФИО и тп. согласно карточке данных при регистрации</p:text>
    <p:extLst mod="1">
      <p:ext uri="{C676402C-5697-4E1C-873F-D02D1690AC5C}">
        <p15:threadingInfo xmlns:p15="http://schemas.microsoft.com/office/powerpoint/2012/main" timeZoneBias="-720"/>
      </p:ext>
    </p:extLst>
  </p:cm>
  <p:cm authorId="1" dt="2025-12-14T18:08:15.270" idx="248">
    <p:pos x="525" y="316"/>
    <p:text>вернуться назад</p:text>
    <p:extLst>
      <p:ext uri="{C676402C-5697-4E1C-873F-D02D1690AC5C}">
        <p15:threadingInfo xmlns:p15="http://schemas.microsoft.com/office/powerpoint/2012/main" timeZoneBias="-720"/>
      </p:ext>
    </p:extLst>
  </p:cm>
  <p:cm authorId="1" dt="2025-12-14T18:42:05.317" idx="249">
    <p:pos x="4179" y="7075"/>
    <p:text>при нажатии на значок "i" Информация открывается поле (или текст инструкции или пояснений о данной странице) на весь экран с возможностью вернуться или свернуть, закрыть-как лучше?</p:text>
    <p:extLst>
      <p:ext uri="{C676402C-5697-4E1C-873F-D02D1690AC5C}">
        <p15:threadingInfo xmlns:p15="http://schemas.microsoft.com/office/powerpoint/2012/main" timeZoneBias="-7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5-02-26T16:08:19.119" idx="14">
    <p:pos x="4002" y="6821"/>
    <p:text>"Правила для участников" :открывается три разделенных поля на экране с  текстом правил по указанным категориям. При нажатии на поля открывается текст правил для чтения данных категорий участников  на всю страницу экрана с возможностью прокрутки вверх-вниз. Текст правил SIPRI  (напишу позже) с возможностью редактирования и сохранения только  администратором данного предприятия под свои правила. поля 2 и 3 аналогичны первому (но текст будет другой)</p:text>
    <p:extLst mod="1">
      <p:ext uri="{C676402C-5697-4E1C-873F-D02D1690AC5C}">
        <p15:threadingInfo xmlns:p15="http://schemas.microsoft.com/office/powerpoint/2012/main" timeZoneBias="-720"/>
      </p:ext>
    </p:extLst>
  </p:cm>
  <p:cm authorId="1" dt="2025-11-28T15:16:33.442" idx="133">
    <p:pos x="1852" y="1933"/>
    <p:text>Ниже после надписи Шаблон правил 1 (аналогично Шаблон правил 2 и 3) стоит значок "скрепка" или аналог(вместо звездочки)- прикрепленный файл в формате (лучше делать в "WORD"?) При нажатии на него  открывается базовый -оригинальный текст правил СИПРИ который я напишу.  Редактировать и удалять текст шаблона нельзя никому и администратору предприятия  (первоначально, потом решим). Но администратору можно копировать текст и вставлять</p:text>
    <p:extLst mod="1">
      <p:ext uri="{C676402C-5697-4E1C-873F-D02D1690AC5C}">
        <p15:threadingInfo xmlns:p15="http://schemas.microsoft.com/office/powerpoint/2012/main" timeZoneBias="-72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5-02-26T17:09:41.678" idx="17">
    <p:pos x="3765" y="6748"/>
    <p:text/>
    <p:extLst mod="1">
      <p:ext uri="{C676402C-5697-4E1C-873F-D02D1690AC5C}">
        <p15:threadingInfo xmlns:p15="http://schemas.microsoft.com/office/powerpoint/2012/main" timeZoneBias="-720"/>
      </p:ext>
    </p:extLst>
  </p:cm>
  <p:cm authorId="1" dt="2025-12-14T18:52:51.849" idx="250">
    <p:pos x="3765" y="6884"/>
    <p:text>главная страница для выбора необход раздела-вкладки для просмотра и подачи идей от своего отдела, от предприятий и клиентов с возможностью выбора необходимой и возможностью поделиться с коллегами своего предприятия. СТРАНИЦЫ "ПРОБЛЕМА-ПРЕДЛОЖЕНИЕ" И "БАЗА ПРЕДЛОЖЕНИЙ" ОКАЗАЛИСЬ СХОЖИ(по завершении ТЗ понял) ЕСЛИ ВОЗМОЖНО, ПРОВЕРЬТЕ ФУНКЦИОНАЛ. ЕСЛИ ТАК ПРОЩЕ И ВСЕ СХОДИТСЯ ОБЪЕДИНИТЬ ЗАМЕНИВ НАЗВАНИЕ СТРАНИЦ НА "БАЗА ПРЕДЛОЖЕНИЙ". ЕСЛИ ПРОБЛЕМНО ТО ПУСТЬ КАК ЕСТЬ</p:text>
    <p:extLst>
      <p:ext uri="{C676402C-5697-4E1C-873F-D02D1690AC5C}">
        <p15:threadingInfo xmlns:p15="http://schemas.microsoft.com/office/powerpoint/2012/main" timeZoneBias="-720">
          <p15:parentCm authorId="1" idx="17"/>
        </p15:threadingInfo>
      </p:ext>
    </p:extLst>
  </p:cm>
  <p:cm authorId="1" dt="2025-02-26T17:19:19.392" idx="19">
    <p:pos x="3218" y="812"/>
    <p:text>"поиск"- поисковая строка для поиска всех (зарегестрированных обсуждаемых, на исполнении или нах-ся в архиве реализованных или отложенных) предложений (поиск по номеру, ФИО автора и соавтора, ключевым словам Предложения, идеи). При нажатии появляется всплывающая подсказка с текстом: "введите данные идеи- ключевые слова предложения, идеи,ФИО автора, номер предложения" (или как лучше?),  при вводе данных списком открываются возможные варианты совпадений с возможностью нажатия появившегося варианта и дальнейшего открытия карточки идеи, предложения из базы предложений.</p:text>
    <p:extLst mod="1">
      <p:ext uri="{C676402C-5697-4E1C-873F-D02D1690AC5C}">
        <p15:threadingInfo xmlns:p15="http://schemas.microsoft.com/office/powerpoint/2012/main" timeZoneBias="-720"/>
      </p:ext>
    </p:extLst>
  </p:cm>
  <p:cm authorId="1" dt="2025-03-02T16:28:54.998" idx="35">
    <p:pos x="237" y="484"/>
    <p:text>вкладка для просмотра идей работников одного отдела, группы или структуры предприятия. В верхней строке отображается все самые новые идеи, на обсуждении, ниже идут согласно обратному номеру номеру поданной идеи №25. ниже №24, ниже №23 и тд до №1 в самом низу списка</p:text>
    <p:extLst mod="1">
      <p:ext uri="{C676402C-5697-4E1C-873F-D02D1690AC5C}">
        <p15:threadingInfo xmlns:p15="http://schemas.microsoft.com/office/powerpoint/2012/main" timeZoneBias="-720"/>
      </p:ext>
    </p:extLst>
  </p:cm>
  <p:cm authorId="1" dt="2025-03-02T16:29:41.773" idx="36">
    <p:pos x="947" y="6100"/>
    <p:text>вкладка для работников смежных отделов, групп в структуре предприятия. Сформированное и принятое после голосования в чате своего отдела, группы) можно отправить для обсуждения и голосования в смежный отдел. При нажатии на поле вкладки "коллеги" отображается завершенная карточка после голосования в своем отделе, и в поле "поиск" отправитель (только руководитель имеет это право) выбирает по должности или фио любого из соседнего отдела, далее нажимает кнопку "отправить". Соседний отдел (весь коллектив) получает карточку (неизменны внесенные данные карточки- №, рейтинг, автор и тд), активны все кнопки - поиск, аноним, публично, мессенджер и кнопки голосования</p:text>
    <p:extLst mod="1">
      <p:ext uri="{C676402C-5697-4E1C-873F-D02D1690AC5C}">
        <p15:threadingInfo xmlns:p15="http://schemas.microsoft.com/office/powerpoint/2012/main" timeZoneBias="-720"/>
      </p:ext>
    </p:extLst>
  </p:cm>
  <p:cm authorId="1" dt="2025-04-12T15:01:40.074" idx="89">
    <p:pos x="2582" y="370"/>
    <p:text>предложения полученные от клиентов. на данной вкладке у всех пользователей предприятия при нажатии на нее отображается (на слайд 9)</p:text>
    <p:extLst mod="1">
      <p:ext uri="{C676402C-5697-4E1C-873F-D02D1690AC5C}">
        <p15:threadingInfo xmlns:p15="http://schemas.microsoft.com/office/powerpoint/2012/main" timeZoneBias="-720"/>
      </p:ext>
    </p:extLst>
  </p:cm>
  <p:cm authorId="1" dt="2025-04-24T11:17:28.227" idx="122">
    <p:pos x="471" y="6640"/>
    <p:text>кнопка "подать идею", при нажатии открывается карточка подачи идеи (слайд 6)</p:text>
    <p:extLst mod="1">
      <p:ext uri="{C676402C-5697-4E1C-873F-D02D1690AC5C}">
        <p15:threadingInfo xmlns:p15="http://schemas.microsoft.com/office/powerpoint/2012/main" timeZoneBias="-720"/>
      </p:ext>
    </p:extLst>
  </p:cm>
  <p:cm authorId="1" dt="2025-04-24T16:51:28.606" idx="123">
    <p:pos x="1573" y="370"/>
    <p:text>при нажатии на вкладку открывается аналогичный чат (слайд 7)  с коллегами из других отделов или структур своего предприятия ( аналогично как на вкладке "ЧАТ"). Карточку идей коллег невозможно править если она ими прислана для согласования-можно ниже карточки писать комментарии (все коллеги видят ФИО, должность, время и дату автора комментария. Если идея прислана для реализации отделу(как подсказка в работу) то ее можно полностью менять на усмотрение получившего отдела.</p:text>
    <p:extLst mod="1">
      <p:ext uri="{C676402C-5697-4E1C-873F-D02D1690AC5C}">
        <p15:threadingInfo xmlns:p15="http://schemas.microsoft.com/office/powerpoint/2012/main" timeZoneBias="-720"/>
      </p:ext>
    </p:extLst>
  </p:cm>
  <p:cm authorId="1" dt="2025-05-16T18:39:39.730" idx="124">
    <p:pos x="2386" y="6624"/>
    <p:text>1 из 2х вариантов:                                при нажатии появляется всплывающая подсказка-окно "выберите идею", и выделяются все идеи из чата (цветом, рамкой или выделение для галочки (или другим способом-как лучше?). Выбранная и выделенная строка карточки после касания ее пальцем с кнопки переходит на вкладку "Коллеги" слайд 7, ГДЕ выбрав нужный отдел нажатием на его название отправить карточку идеи</p:text>
    <p:extLst mod="1">
      <p:ext uri="{C676402C-5697-4E1C-873F-D02D1690AC5C}">
        <p15:threadingInfo xmlns:p15="http://schemas.microsoft.com/office/powerpoint/2012/main" timeZoneBias="-720"/>
      </p:ext>
    </p:extLst>
  </p:cm>
  <p:cm authorId="1" dt="2025-05-16T19:06:06.747" idx="125">
    <p:pos x="2386" y="6760"/>
    <p:text/>
    <p:extLst mod="1">
      <p:ext uri="{C676402C-5697-4E1C-873F-D02D1690AC5C}">
        <p15:threadingInfo xmlns:p15="http://schemas.microsoft.com/office/powerpoint/2012/main" timeZoneBias="-720">
          <p15:parentCm authorId="1" idx="124"/>
        </p15:threadingInfo>
      </p:ext>
    </p:extLst>
  </p:cm>
  <p:cm authorId="1" dt="2025-05-17T09:56:16.666" idx="126">
    <p:pos x="3476" y="2300"/>
    <p:text>строка идеи согласованной руководителем отдела в чате идей данной вкладки. Отображается дата, время, номер, должность отдела или структуры предприятия, ФИО. При нажатии на строку идеи открывается ее карточка Если статус идеи "На рассмотрении" (на время рассмотрения идеи руководством после получения от руководителя отдела или структ подразд предпр) цвет строки желтый</p:text>
    <p:extLst mod="1">
      <p:ext uri="{C676402C-5697-4E1C-873F-D02D1690AC5C}">
        <p15:threadingInfo xmlns:p15="http://schemas.microsoft.com/office/powerpoint/2012/main" timeZoneBias="-720"/>
      </p:ext>
    </p:extLst>
  </p:cm>
  <p:cm authorId="1" dt="2025-05-17T09:59:31.882" idx="127">
    <p:pos x="3518" y="3363"/>
    <p:text>строка идеи  в чате идей данной вкладки. Отображается дата, время, номер, должность отдела или структуры предприятия, ФИО. Если идею руководство принимает в работу, ее статус меняется на "В работе" цвет строки оранжевый</p:text>
    <p:extLst>
      <p:ext uri="{C676402C-5697-4E1C-873F-D02D1690AC5C}">
        <p15:threadingInfo xmlns:p15="http://schemas.microsoft.com/office/powerpoint/2012/main" timeZoneBias="-720"/>
      </p:ext>
    </p:extLst>
  </p:cm>
  <p:cm authorId="1" dt="2025-05-17T10:02:28.526" idx="128">
    <p:pos x="3487" y="4186"/>
    <p:text>строка идеи  в чате идей данной вкладки. Отображается дата, время, номер, должность отдела или структуры предприятия, ФИО. Если идея реализована статус идеи с "в работе" меняется на "Исполнено" цвет строки зеленый. Статус идеи может менять руководитель отдела (и руководство) нажатием на кнопку "статус" в карточке идеи</p:text>
    <p:extLst>
      <p:ext uri="{C676402C-5697-4E1C-873F-D02D1690AC5C}">
        <p15:threadingInfo xmlns:p15="http://schemas.microsoft.com/office/powerpoint/2012/main" timeZoneBias="-720"/>
      </p:ext>
    </p:extLst>
  </p:cm>
  <p:cm authorId="1" dt="2025-05-17T10:30:04.026" idx="129">
    <p:pos x="3476" y="5040"/>
    <p:text>строка идеи  в чате идей данной вкладки. Отображается дата, время, номер, должность отдела или структуры предприятия, ФИО. При нажатии на строку идеи открывается ее карточка Если статус идеи - отказ, присваивается и уходит в "В архив" цвет строки красный</p:text>
    <p:extLst mod="1">
      <p:ext uri="{C676402C-5697-4E1C-873F-D02D1690AC5C}">
        <p15:threadingInfo xmlns:p15="http://schemas.microsoft.com/office/powerpoint/2012/main" timeZoneBias="-720"/>
      </p:ext>
    </p:extLst>
  </p:cm>
  <p:cm authorId="1" dt="2025-05-17T11:25:01.297" idx="131">
    <p:pos x="3460" y="1254"/>
    <p:text>строка идеи  в чате идей данной вкладки. Отображается ее номер (с 1 до 9999999, дата, время,  должность работника, наименов отдела или структуры предприятия, ФИО автора идеи. При нажатии на строку идеи открывается ее карточка Если статус идеи "Обсуждение", до отправки руководителя отдела руководству согласованной карточки с коллегами цвет строки белый и данная надпись в правом верхнем углу(аналогично в других строках-кнопках ниже соответствующие цвета и надписи).</p:text>
    <p:extLst mod="1">
      <p:ext uri="{C676402C-5697-4E1C-873F-D02D1690AC5C}">
        <p15:threadingInfo xmlns:p15="http://schemas.microsoft.com/office/powerpoint/2012/main" timeZoneBias="-720"/>
      </p:ext>
    </p:extLst>
  </p:cm>
  <p:cm authorId="1" dt="2025-11-28T16:46:49.679" idx="134">
    <p:pos x="185" y="51"/>
    <p:text>возрат назад на предидущую страницу</p:text>
    <p:extLst>
      <p:ext uri="{C676402C-5697-4E1C-873F-D02D1690AC5C}">
        <p15:threadingInfo xmlns:p15="http://schemas.microsoft.com/office/powerpoint/2012/main" timeZoneBias="-720"/>
      </p:ext>
    </p:extLst>
  </p:cm>
  <p:cm authorId="1" dt="2025-12-15T14:55:05.160" idx="251">
    <p:pos x="2315" y="741"/>
    <p:text>текущее время и дата</p:text>
    <p:extLst>
      <p:ext uri="{C676402C-5697-4E1C-873F-D02D1690AC5C}">
        <p15:threadingInfo xmlns:p15="http://schemas.microsoft.com/office/powerpoint/2012/main" timeZoneBias="-720"/>
      </p:ext>
    </p:extLst>
  </p:cm>
  <p:cm authorId="1" dt="2025-12-18T10:25:11.339" idx="256">
    <p:pos x="2664" y="1131"/>
    <p:text>три категории ссылок "наши идеи", "идеи предложенные нам" и  "анонимно"</p:text>
    <p:extLst>
      <p:ext uri="{C676402C-5697-4E1C-873F-D02D1690AC5C}">
        <p15:threadingInfo xmlns:p15="http://schemas.microsoft.com/office/powerpoint/2012/main" timeZoneBias="-72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5-02-26T17:09:41.678" idx="17">
    <p:pos x="3929" y="6790"/>
    <p:text>данная страница (после нажатия на кнопку "проблема-предложение" слайда 2 открывается на вкладке "ЧАТ" толко для своего отдела (кнопка и слово чат при этом выделяется иным цветом (более темным или светлым-как лучше смотрится?))</p:text>
    <p:extLst mod="1">
      <p:ext uri="{C676402C-5697-4E1C-873F-D02D1690AC5C}">
        <p15:threadingInfo xmlns:p15="http://schemas.microsoft.com/office/powerpoint/2012/main" timeZoneBias="-720"/>
      </p:ext>
    </p:extLst>
  </p:cm>
  <p:cm authorId="1" dt="2025-02-26T17:16:35.779" idx="18">
    <p:pos x="226" y="792"/>
    <p:text>пишется дата, время согласно локации предприятия</p:text>
    <p:extLst mod="1">
      <p:ext uri="{C676402C-5697-4E1C-873F-D02D1690AC5C}">
        <p15:threadingInfo xmlns:p15="http://schemas.microsoft.com/office/powerpoint/2012/main" timeZoneBias="-720"/>
      </p:ext>
    </p:extLst>
  </p:cm>
  <p:cm authorId="1" dt="2025-02-26T17:19:19.392" idx="19">
    <p:pos x="3218" y="812"/>
    <p:text>"поиск"- поисковая строка для поиска уже зарегестрированных (обсуждаемых, на исполнении или нах-ся в архиве реализованных или отложенных) предложений (поиск по номеру, ФИО автора и соавтора, ключевым словам Предложения, идеи). При нажатии появляется всплывающая подсказка с текстом: введите известные данные предложения- ключевые слова предложения, идеи,ФИО автора, соавтора, номер предложения,  при вводе данных списком открываются возможные варианты совпадений с возможностью нажатия появившегося варианта и дальнейшего открытия карточки идеи, предложения из базы предложений.</p:text>
    <p:extLst mod="1">
      <p:ext uri="{C676402C-5697-4E1C-873F-D02D1690AC5C}">
        <p15:threadingInfo xmlns:p15="http://schemas.microsoft.com/office/powerpoint/2012/main" timeZoneBias="-720"/>
      </p:ext>
    </p:extLst>
  </p:cm>
  <p:cm authorId="1" dt="2025-02-26T19:10:52.242" idx="21">
    <p:pos x="2735" y="1214"/>
    <p:text>перед отправкой предложения автор идеи после заполнения карточки нажимает кнопку "анонимно" (после нажатия кнопка  затемняется) если хочет чтобы все коллеги не видели кто автор. при этом скрываются все его данные из карточки личного кабинета,</p:text>
    <p:extLst mod="1">
      <p:ext uri="{C676402C-5697-4E1C-873F-D02D1690AC5C}">
        <p15:threadingInfo xmlns:p15="http://schemas.microsoft.com/office/powerpoint/2012/main" timeZoneBias="-720"/>
      </p:ext>
    </p:extLst>
  </p:cm>
  <p:cm authorId="1" dt="2025-03-02T15:34:19.575" idx="22">
    <p:pos x="3472" y="6591"/>
    <p:text>после заполнения карточки и выбора публично (анонимно) нажимаем кнопку отправки-далее переход и выделение строки "поиск" с высплывающей надписью подсказкой-"выберите адресата" или есть лучше вариант?</p:text>
    <p:extLst mod="1">
      <p:ext uri="{C676402C-5697-4E1C-873F-D02D1690AC5C}">
        <p15:threadingInfo xmlns:p15="http://schemas.microsoft.com/office/powerpoint/2012/main" timeZoneBias="-720"/>
      </p:ext>
    </p:extLst>
  </p:cm>
  <p:cm authorId="1" dt="2025-03-02T15:36:55.205" idx="23">
    <p:pos x="1458" y="5460"/>
    <p:text>после отправки идеи автором и появления карточки в чате у своих коллег отдела, каждый голосует ниже выбором кнопок в опубликованной карточке(за, против, воздержался)</p:text>
    <p:extLst mod="1">
      <p:ext uri="{C676402C-5697-4E1C-873F-D02D1690AC5C}">
        <p15:threadingInfo xmlns:p15="http://schemas.microsoft.com/office/powerpoint/2012/main" timeZoneBias="-720"/>
      </p:ext>
    </p:extLst>
  </p:cm>
  <p:cm authorId="1" dt="2025-03-02T15:41:25.128" idx="24">
    <p:pos x="1760" y="6540"/>
    <p:text>кнопка "мессенджер"- переход в мессенджер (слайд 24)для обсуждения идеи со всеми коллегами перед голосованием</p:text>
    <p:extLst mod="1">
      <p:ext uri="{C676402C-5697-4E1C-873F-D02D1690AC5C}">
        <p15:threadingInfo xmlns:p15="http://schemas.microsoft.com/office/powerpoint/2012/main" timeZoneBias="-720"/>
      </p:ext>
    </p:extLst>
  </p:cm>
  <p:cm authorId="1" dt="2025-03-02T15:47:17.594" idx="26">
    <p:pos x="2025" y="1204"/>
    <p:text>автонумерация предложений по порядку, от 1  до 10000000. считаются все(обсуждаемые, исполняемые, отложенные (в архиве), через косой слэш точка отсчета -время и дата отправки автором пример: № 12/14.03.2026</p:text>
    <p:extLst mod="1">
      <p:ext uri="{C676402C-5697-4E1C-873F-D02D1690AC5C}">
        <p15:threadingInfo xmlns:p15="http://schemas.microsoft.com/office/powerpoint/2012/main" timeZoneBias="-720"/>
      </p:ext>
    </p:extLst>
  </p:cm>
  <p:cm authorId="1" dt="2025-03-02T15:57:53.311" idx="29">
    <p:pos x="1060" y="1419"/>
    <p:text>процентное отношение голосовавших за к числу голосовавших против</p:text>
    <p:extLst mod="1">
      <p:ext uri="{C676402C-5697-4E1C-873F-D02D1690AC5C}">
        <p15:threadingInfo xmlns:p15="http://schemas.microsoft.com/office/powerpoint/2012/main" timeZoneBias="-720"/>
      </p:ext>
    </p:extLst>
  </p:cm>
  <p:cm authorId="1" dt="2025-03-02T16:04:14.694" idx="30">
    <p:pos x="401" y="2890"/>
    <p:text>число строк появляется в соответствии с набором текста. Когда не умещается на одной странице открывается набор для текста второй страницы на экранах. Или значок текста (справа желтый квадрат - у меня) и при его нажатии открывается страница с курсором и возможностью вводить текст. После ввода и сохранения несколько ключевых слов видны в строке. Как лучше по вашему?</p:text>
    <p:extLst mod="1">
      <p:ext uri="{C676402C-5697-4E1C-873F-D02D1690AC5C}">
        <p15:threadingInfo xmlns:p15="http://schemas.microsoft.com/office/powerpoint/2012/main" timeZoneBias="-720"/>
      </p:ext>
    </p:extLst>
  </p:cm>
  <p:cm authorId="1" dt="2025-03-02T16:08:04.226" idx="31">
    <p:pos x="2551" y="2016"/>
    <p:text>автоматически отображается ФИО и должность заполняющего карточку идеи, указанная зарегестрированным пользователем. Если поставлена отметка "клиент" компании, отображается после ФИО в строке "клиент". При выборе " анонимно" предлагается создать свой "ник" в строке "автор"</p:text>
    <p:extLst mod="1">
      <p:ext uri="{C676402C-5697-4E1C-873F-D02D1690AC5C}">
        <p15:threadingInfo xmlns:p15="http://schemas.microsoft.com/office/powerpoint/2012/main" timeZoneBias="-720"/>
      </p:ext>
    </p:extLst>
  </p:cm>
  <p:cm authorId="1" dt="2025-03-02T16:15:28.534" idx="32">
    <p:pos x="1132" y="6162"/>
    <p:text>кнопка-значок плохо- этот или кисть руки пальцем вниз, или смайл губы вниз?как лучше? и кол-во голосов</p:text>
    <p:extLst mod="1">
      <p:ext uri="{C676402C-5697-4E1C-873F-D02D1690AC5C}">
        <p15:threadingInfo xmlns:p15="http://schemas.microsoft.com/office/powerpoint/2012/main" timeZoneBias="-720"/>
      </p:ext>
    </p:extLst>
  </p:cm>
  <p:cm authorId="1" dt="2025-03-02T16:16:25.181" idx="33">
    <p:pos x="357" y="6251"/>
    <p:text>кнопка-значок хорошо-кисть руки пальцем вверх, или смайл улыбка справа сверху количество голосов</p:text>
    <p:extLst mod="1">
      <p:ext uri="{C676402C-5697-4E1C-873F-D02D1690AC5C}">
        <p15:threadingInfo xmlns:p15="http://schemas.microsoft.com/office/powerpoint/2012/main" timeZoneBias="-720"/>
      </p:ext>
    </p:extLst>
  </p:cm>
  <p:cm authorId="1" dt="2025-03-02T16:21:43.970" idx="34">
    <p:pos x="361" y="2211"/>
    <p:text>Кнопка. автор, нажимая ее, открывает поисковую строку (выше, на этой странице) где может выбрать из списка коллегу или клиента и добавить того, кто помог развить идею (соавтор) и данные заполняются в строку "соавтор"</p:text>
    <p:extLst mod="1">
      <p:ext uri="{C676402C-5697-4E1C-873F-D02D1690AC5C}">
        <p15:threadingInfo xmlns:p15="http://schemas.microsoft.com/office/powerpoint/2012/main" timeZoneBias="-720"/>
      </p:ext>
    </p:extLst>
  </p:cm>
  <p:cm authorId="1" dt="2025-03-02T16:28:54.998" idx="35">
    <p:pos x="412" y="340"/>
    <p:text>вкладка для работников одного отдела, группы или структуры предприятия</p:text>
    <p:extLst mod="1">
      <p:ext uri="{C676402C-5697-4E1C-873F-D02D1690AC5C}">
        <p15:threadingInfo xmlns:p15="http://schemas.microsoft.com/office/powerpoint/2012/main" timeZoneBias="-720"/>
      </p:ext>
    </p:extLst>
  </p:cm>
  <p:cm authorId="1" dt="2025-03-02T16:29:41.773" idx="36">
    <p:pos x="1553" y="360"/>
    <p:text>вкладка для работников смежных отделов, групп в структуре предприятия. Сформированное и принятое после голосования в чате своего отдела, группы) можно отправить для обсуждения и голосования в смежный отдел. При нажатии на поле вкладки "коллеги" отображается завершенная карточка после голосования в своем отделе, и в поле "поиск" отправитель (только руководитель имеет это право) выбирает по должности или фио любого из соседнего отдела, далее нажимает кнопку "отправить". Соседний отдел (весь коллектив) получает карточку (неизменны внесенные данные карточки- №, рейтинг, автор и тд), активны все кнопки - поиск, аноним, публично, мессенджер и кнопки голосования</p:text>
    <p:extLst mod="1">
      <p:ext uri="{C676402C-5697-4E1C-873F-D02D1690AC5C}">
        <p15:threadingInfo xmlns:p15="http://schemas.microsoft.com/office/powerpoint/2012/main" timeZoneBias="-720"/>
      </p:ext>
    </p:extLst>
  </p:cm>
  <p:cm authorId="1" dt="2025-03-06T16:48:44.079" idx="37">
    <p:pos x="1904" y="1676"/>
    <p:text>Участник после заполнения карточки нажимает статус кнопку карточки  " обсуждение" -после этого она поступает в чат своим коллегам (пока не нажата кнопка "отправить" (руководителю)- горит"обсуждение", после отправки надпись меняется на "рассмотрение" и неактивна при нажатии</p:text>
    <p:extLst mod="1">
      <p:ext uri="{C676402C-5697-4E1C-873F-D02D1690AC5C}">
        <p15:threadingInfo xmlns:p15="http://schemas.microsoft.com/office/powerpoint/2012/main" timeZoneBias="-720"/>
      </p:ext>
    </p:extLst>
  </p:cm>
  <p:cm authorId="1" dt="2025-04-12T13:56:08.879" idx="88">
    <p:pos x="3476" y="5619"/>
    <p:text>поле справа рядом с "отправить коллегам"(есть только у начальника отдела), поставив в нем отметку (галочку), потом жмем ниже кнопку "отправить", после заполненная карточка открывается в соседней вкладке "КОЛЛЕГИ" где в поисковой строке выбирается по названию отдела или ФИО кому отправить на обсуждение данную идею</p:text>
    <p:extLst mod="1">
      <p:ext uri="{C676402C-5697-4E1C-873F-D02D1690AC5C}">
        <p15:threadingInfo xmlns:p15="http://schemas.microsoft.com/office/powerpoint/2012/main" timeZoneBias="-720"/>
      </p:ext>
    </p:extLst>
  </p:cm>
  <p:cm authorId="1" dt="2025-04-12T15:01:40.074" idx="89">
    <p:pos x="2665" y="329"/>
    <p:text>на данной вкладке у всех пользователей предприятия при нажатии на нее отображается (слайд 37)</p:text>
    <p:extLst mod="1">
      <p:ext uri="{C676402C-5697-4E1C-873F-D02D1690AC5C}">
        <p15:threadingInfo xmlns:p15="http://schemas.microsoft.com/office/powerpoint/2012/main" timeZoneBias="-720"/>
      </p:ext>
    </p:extLst>
  </p:cm>
  <p:cm authorId="1" dt="2025-04-23T12:37:24.821" idx="115">
    <p:pos x="3731" y="2741"/>
    <p:text>значок скрепки-при нажатии выбор прикрепления файлов (фото, файлы и тп в галерея и тд)</p:text>
    <p:extLst mod="1">
      <p:ext uri="{C676402C-5697-4E1C-873F-D02D1690AC5C}">
        <p15:threadingInfo xmlns:p15="http://schemas.microsoft.com/office/powerpoint/2012/main" timeZoneBias="-720"/>
      </p:ext>
    </p:extLst>
  </p:cm>
  <p:cm authorId="1" dt="2025-04-24T10:39:33.535" idx="121">
    <p:pos x="2773" y="6588"/>
    <p:text>кнопка сохранения черновика (если требуется отложить на время отправку руководству идеи. Если не нажал "сохранить" текст и введенные данныевсе равно сохранятся в карточке) перед отправкой. После отправки идея кнопка деактивируется (серым цветом). Если руководитель не отправил карточка сохраняется, при этом находится в базе идей, строка серого цвета, просмотр и редактирование возможны работниками авторами и всего отдела, работники смежного не могут просматривать карточку-черновик</p:text>
    <p:extLst mod="1">
      <p:ext uri="{C676402C-5697-4E1C-873F-D02D1690AC5C}">
        <p15:threadingInfo xmlns:p15="http://schemas.microsoft.com/office/powerpoint/2012/main" timeZoneBias="-720"/>
      </p:ext>
    </p:extLst>
  </p:cm>
  <p:cm authorId="1" dt="2025-05-17T10:32:18.178" idx="130">
    <p:pos x="1388" y="1666"/>
    <p:text>пока не нажата кнопка "отправить"- "обсуждение", после отправки руководителем отдела руководству - "рассмотрение", после принятия руководителем компании или руководством- "исполнение", после выполнения (завершения ответственным исполнителем) статус "выполнено". В случае непринятие руководством сохраняется в папке "Архив" и статус " отказ"</p:text>
    <p:extLst mod="1">
      <p:ext uri="{C676402C-5697-4E1C-873F-D02D1690AC5C}">
        <p15:threadingInfo xmlns:p15="http://schemas.microsoft.com/office/powerpoint/2012/main" timeZoneBias="-720"/>
      </p:ext>
    </p:extLst>
  </p:cm>
  <p:cm authorId="1" dt="2025-12-13T10:48:05.672" idx="236">
    <p:pos x="3579" y="1633"/>
    <p:text>при подаче идеи автором из руководства (от заместителя, руководителя направления деятельности (замдир, глав. инженер, главбух и тп до директора у всех в карточке появляется значок, привлекающ внимание (любой, восклиц знак, -по вашему что лучше?)</p:text>
    <p:extLst>
      <p:ext uri="{C676402C-5697-4E1C-873F-D02D1690AC5C}">
        <p15:threadingInfo xmlns:p15="http://schemas.microsoft.com/office/powerpoint/2012/main" timeZoneBias="-720"/>
      </p:ext>
    </p:extLst>
  </p:cm>
  <p:cm authorId="1" dt="2025-12-15T16:07:12.951" idx="252">
    <p:pos x="3257" y="2739"/>
    <p:text>знак текста-при нажатии открывается поле или страница для его ввода</p:text>
    <p:extLst>
      <p:ext uri="{C676402C-5697-4E1C-873F-D02D1690AC5C}">
        <p15:threadingInfo xmlns:p15="http://schemas.microsoft.com/office/powerpoint/2012/main" timeZoneBias="-720"/>
      </p:ext>
    </p:extLst>
  </p:cm>
  <p:cm authorId="1" dt="2025-12-15T16:11:35.861" idx="253">
    <p:pos x="1059" y="3456"/>
    <p:text>аналогично строке "проблема"</p:text>
    <p:extLst>
      <p:ext uri="{C676402C-5697-4E1C-873F-D02D1690AC5C}">
        <p15:threadingInfo xmlns:p15="http://schemas.microsoft.com/office/powerpoint/2012/main" timeZoneBias="-720"/>
      </p:ext>
    </p:extLst>
  </p:cm>
  <p:cm authorId="1" dt="2025-12-15T16:14:09.838" idx="254">
    <p:pos x="1760" y="6163"/>
    <p:text>кто воздержался-смайл "равнодушие"? или какой можно аналог?</p:text>
    <p:extLst>
      <p:ext uri="{C676402C-5697-4E1C-873F-D02D1690AC5C}">
        <p15:threadingInfo xmlns:p15="http://schemas.microsoft.com/office/powerpoint/2012/main" timeZoneBias="-72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5-02-26T17:09:41.678" idx="17">
    <p:pos x="3816" y="6779"/>
    <p:text>данная страница (после нажатия на кнопку "проблема-предложение" слайда 2 открывается на вкладке "Коллеги" (кнопка и слово чат при этом выделяется иным цветом (более темным или светлым-как лучше смотрится?)). В каждой строке отображены все поданные идеи и статусом разным цветом (обсуждаемые-строка заливка желтым цветом, в работе-зеленым, в архиве-оранжевым)работниками  своего подразделения ранее.</p:text>
    <p:extLst mod="1">
      <p:ext uri="{C676402C-5697-4E1C-873F-D02D1690AC5C}">
        <p15:threadingInfo xmlns:p15="http://schemas.microsoft.com/office/powerpoint/2012/main" timeZoneBias="-720"/>
      </p:ext>
    </p:extLst>
  </p:cm>
  <p:cm authorId="1" dt="2025-02-26T17:19:19.392" idx="19">
    <p:pos x="3218" y="812"/>
    <p:text>"поиск"- поисковая строка для поиска уже зарегестрированных (кроме обсуждаемых и не согласованных руководителем отдела, на исполнении или нах-ся в архиве реализованных или отложенных) предложений созданных коллегами(свои идеи здесь не показываются, свои нах-ся на вкладке "чат" (поиск по номеру, ФИО автора и соавтора, ключевым словам Предложения, идеи). При нажатии появляется всплывающая подсказка с текстом: введите известные данные предложения- ключевые слова предложения, идеи,ФИО автора, соавтора, номер предложения,  при вводе данных списком открываются возможные варианты совпадений с возможностью нажатия появившегося варианта и дальнейшего открытия карточки идеи, предложения из базы предложений.</p:text>
    <p:extLst mod="1">
      <p:ext uri="{C676402C-5697-4E1C-873F-D02D1690AC5C}">
        <p15:threadingInfo xmlns:p15="http://schemas.microsoft.com/office/powerpoint/2012/main" timeZoneBias="-720"/>
      </p:ext>
    </p:extLst>
  </p:cm>
  <p:cm authorId="1" dt="2025-03-02T16:28:54.998" idx="35">
    <p:pos x="319" y="371"/>
    <p:text>вкладка для работников одного отдела, группы или структуры предприятия (слайд 6)</p:text>
    <p:extLst mod="1">
      <p:ext uri="{C676402C-5697-4E1C-873F-D02D1690AC5C}">
        <p15:threadingInfo xmlns:p15="http://schemas.microsoft.com/office/powerpoint/2012/main" timeZoneBias="-720"/>
      </p:ext>
    </p:extLst>
  </p:cm>
  <p:cm authorId="1" dt="2025-03-02T16:29:41.773" idx="36">
    <p:pos x="1533" y="309"/>
    <p:text>вкладка для просмотра списка как своих поданных  идей коллегам, так и от коллег ( от работников смежных отделов, групп в структуре предприятия) и подачи им (выбор отдела через прокрутку вверх-вниз, строку поиск или при нажатии на строку ссылку наименование отдела) новой идей, согласованной в своем отделе. Сформированное и принятое после голосования в чате своего отдела, группы-слайд 6) можно отправить для обсуждения и голосования в смежный отдел. При нажатии на поле вкладки "коллеги" отображается кнопкой-строкой завершенная карточка после голосования в своем отделе, и в поле "поиск" отправитель (только руководитель имеет это право) выбирает по должности или фио любой необходимый отдел, далее нажимает кнопку(появляется на странице) "отправить". Соседний отдел (весь коллектив) получает карточку (неизменны внесенные данные карточки- №, рейтинг, автор и тд), активны все кнопки - поиск, аноним, публично, мессенджер и кнопки голосования, и далее коллеги получившие карточку сами ее могут дополнять и голосовать, кроме строк "Автор" и " соавтор", где остаются данные придумавших идею от соседнего отдела.</p:text>
    <p:extLst mod="1">
      <p:ext uri="{C676402C-5697-4E1C-873F-D02D1690AC5C}">
        <p15:threadingInfo xmlns:p15="http://schemas.microsoft.com/office/powerpoint/2012/main" timeZoneBias="-720"/>
      </p:ext>
    </p:extLst>
  </p:cm>
  <p:cm authorId="1" dt="2025-04-12T15:01:40.074" idx="89">
    <p:pos x="2572" y="371"/>
    <p:text>на данной вкладке у всех пользователей предприятия при нажатии на нее отображается (слайд 24)</p:text>
    <p:extLst mod="1">
      <p:ext uri="{C676402C-5697-4E1C-873F-D02D1690AC5C}">
        <p15:threadingInfo xmlns:p15="http://schemas.microsoft.com/office/powerpoint/2012/main" timeZoneBias="-720"/>
      </p:ext>
    </p:extLst>
  </p:cm>
  <p:cm authorId="1" dt="2025-04-24T11:17:28.227" idx="122">
    <p:pos x="1448" y="6722"/>
    <p:text>кнопка "подать идею", при нажатии открывается карточка подачи идеи для коллег других отделов. Идея обсуждается всеми работниками своего отдела, после сохранения карточка идеи отправляется только руководителем создавшего идею отдела (слайд 8). В строке поиск он выбирает наименование отдела коллег и после выбора необходимого адресата  отправляет карточку. При этом авторам по желанию можно не заполнять все строки карточки кроме строки"предложение, идея-данная обязательна, страница не требует  заполнения всех строк, в строке "предложение, идея" справа сверху значок отметки (ромашка, звездочка и тп, при нажатии или наведении курсора показывает данную информацию ("для отправки идеи заполнение данной строки обязательно, строки ниже по возможности, но не обязательно"</p:text>
    <p:extLst mod="1">
      <p:ext uri="{C676402C-5697-4E1C-873F-D02D1690AC5C}">
        <p15:threadingInfo xmlns:p15="http://schemas.microsoft.com/office/powerpoint/2012/main" timeZoneBias="-720"/>
      </p:ext>
    </p:extLst>
  </p:cm>
  <p:cm authorId="1" dt="2025-04-24T16:51:28.606" idx="123">
    <p:pos x="2211" y="298"/>
    <p:text>при нажатии на вкладку открывается аналогичный список идей с отделов с коллегами как на вкладке "ЧАТ" (аналоги</p:text>
    <p:extLst mod="1">
      <p:ext uri="{C676402C-5697-4E1C-873F-D02D1690AC5C}">
        <p15:threadingInfo xmlns:p15="http://schemas.microsoft.com/office/powerpoint/2012/main" timeZoneBias="-720"/>
      </p:ext>
    </p:extLst>
  </p:cm>
  <p:cm authorId="1" dt="2025-12-02T15:59:26.365" idx="136">
    <p:pos x="536" y="1358"/>
    <p:text>при открытии вкладки "коллеги" открывается списком кнопки-окна поданных идей цветом  в соответствии со статусом (белый-обсуждается, желтым -согласован руководителем отдела, оранжевый в соответствии со статусом рассмотрение руководством, зеленым- в работе, красный-отказ, архив. Текстом отображается отдел, номер идеи, время и дата создания карточки идеи, должность, фамилия, инициалы руководителя отдела, согласовавшего идею, краткое название идеи (берутся первые 4-5 слов, далее многоточие)  с карточи идеи из строки "Предложение, идея". После нажатия на кнопку открывается карточка идеи-слайд 8(в соответствии со статусом), в которой добавляется к базаовой, созданной чьим либо отделом выделенная строка"комментарии", при нажатии на которую открывается списком все комментарии (текст мнения о идеи коллеги с указанием кто написал (пишется его "ник") и далее строка или всплывающее окно "добавить комментарий). Как лучше это сделать-посоветуйте</p:text>
    <p:extLst mod="1">
      <p:ext uri="{C676402C-5697-4E1C-873F-D02D1690AC5C}">
        <p15:threadingInfo xmlns:p15="http://schemas.microsoft.com/office/powerpoint/2012/main" timeZoneBias="-720"/>
      </p:ext>
    </p:extLst>
  </p:cm>
  <p:cm authorId="1" dt="2025-12-18T10:18:29.387" idx="255">
    <p:pos x="2613" y="1110"/>
    <p:text>при нажатии на всю страницу открываются списком строки-кнопки идей, которые авторы отдела из вкладки "ЧАТ" отправили коллегам (3 категории-"отправленные коллегам" , "полученные от коллег" и "анонимно"</p:text>
    <p:extLst>
      <p:ext uri="{C676402C-5697-4E1C-873F-D02D1690AC5C}">
        <p15:threadingInfo xmlns:p15="http://schemas.microsoft.com/office/powerpoint/2012/main" timeZoneBias="-72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5-02-26T17:09:41.678" idx="17">
    <p:pos x="3878" y="6666"/>
    <p:text>данная страница (после нажатия на кнопку "проблема-предложение" слайда 7 открывается на вкладке "КОЛЛЕГИ" (кнопка и слово чат при этом выделяется иным цветом (более темным или светлым-как лучше смотрится?))</p:text>
    <p:extLst mod="1">
      <p:ext uri="{C676402C-5697-4E1C-873F-D02D1690AC5C}">
        <p15:threadingInfo xmlns:p15="http://schemas.microsoft.com/office/powerpoint/2012/main" timeZoneBias="-720"/>
      </p:ext>
    </p:extLst>
  </p:cm>
  <p:cm authorId="1" dt="2025-02-26T17:16:35.779" idx="18">
    <p:pos x="360" y="803"/>
    <p:text>пишется дата, время согласно локации предприятия</p:text>
    <p:extLst mod="1">
      <p:ext uri="{C676402C-5697-4E1C-873F-D02D1690AC5C}">
        <p15:threadingInfo xmlns:p15="http://schemas.microsoft.com/office/powerpoint/2012/main" timeZoneBias="-720"/>
      </p:ext>
    </p:extLst>
  </p:cm>
  <p:cm authorId="1" dt="2025-02-26T17:19:19.392" idx="19">
    <p:pos x="3136" y="761"/>
    <p:text>"поиск"- поисковая строка для поиска уже зарегестрированных идей тправленных и полученных от  коллег (обсуждаемых, на исполнении или нах-ся в архиве реализованных или отложенных) предложений (поиск по номеру, ФИО автора и соавтора, ключевым словам Предложения, идеи). При нажатии появляется всплывающая подсказка с текстом: введите известные данные предложения- ключевые слова предложения, идеи,ФИО автора, соавтора, номер предложения,  при вводе данных списком открываются возможные варианты совпадений с возможностью нажатия появившегося варианта и дальнейшего открытия карточки идеи, предложения из базы предложений.</p:text>
    <p:extLst mod="1">
      <p:ext uri="{C676402C-5697-4E1C-873F-D02D1690AC5C}">
        <p15:threadingInfo xmlns:p15="http://schemas.microsoft.com/office/powerpoint/2012/main" timeZoneBias="-720"/>
      </p:ext>
    </p:extLst>
  </p:cm>
  <p:cm authorId="1" dt="2025-02-26T19:10:52.242" idx="21">
    <p:pos x="2694" y="1183"/>
    <p:text>перед отправкой предложения автор идеи после заполнения карточки нажимает кнопку "анонимно" (после нажатия кнопка  затемняется) если хочет чтобы все коллеги не видели кто автор.при этом в карточке у коллег не отображаются его ФИО, должность</p:text>
    <p:extLst mod="1">
      <p:ext uri="{C676402C-5697-4E1C-873F-D02D1690AC5C}">
        <p15:threadingInfo xmlns:p15="http://schemas.microsoft.com/office/powerpoint/2012/main" timeZoneBias="-720"/>
      </p:ext>
    </p:extLst>
  </p:cm>
  <p:cm authorId="1" dt="2025-03-02T15:34:19.575" idx="22">
    <p:pos x="3349" y="6498"/>
    <p:text>после заполнения карточки и выбора  (анонимно возможно) нажимаем кнопку "отправить"</p:text>
    <p:extLst mod="1">
      <p:ext uri="{C676402C-5697-4E1C-873F-D02D1690AC5C}">
        <p15:threadingInfo xmlns:p15="http://schemas.microsoft.com/office/powerpoint/2012/main" timeZoneBias="-720"/>
      </p:ext>
    </p:extLst>
  </p:cm>
  <p:cm authorId="1" dt="2025-03-02T15:36:55.205" idx="23">
    <p:pos x="2137" y="5470"/>
    <p:text>после отправки идеи автором и получения карточки коллегами, каждый голосует ниже выбором кнопок в опубликованной карточке(за, против, воздержался)</p:text>
    <p:extLst mod="1">
      <p:ext uri="{C676402C-5697-4E1C-873F-D02D1690AC5C}">
        <p15:threadingInfo xmlns:p15="http://schemas.microsoft.com/office/powerpoint/2012/main" timeZoneBias="-720"/>
      </p:ext>
    </p:extLst>
  </p:cm>
  <p:cm authorId="1" dt="2025-03-02T15:41:25.128" idx="24">
    <p:pos x="423" y="5707"/>
    <p:text>кнопка-значок  "мессенджер"- быстрый переход в мессенджер для обсуждения идеи со всеми коллегами перед голосованием. Расположить где удобнее, форма символа- лучше вместе согласовать, какой нагляднее вариант?</p:text>
    <p:extLst mod="1">
      <p:ext uri="{C676402C-5697-4E1C-873F-D02D1690AC5C}">
        <p15:threadingInfo xmlns:p15="http://schemas.microsoft.com/office/powerpoint/2012/main" timeZoneBias="-720"/>
      </p:ext>
    </p:extLst>
  </p:cm>
  <p:cm authorId="1" dt="2025-03-02T15:47:17.594" idx="26">
    <p:pos x="2005" y="1173"/>
    <p:text>автонумерация предложений по порядку, от 1  до 10000000. считаются все(обсуждаемые, исполняемые, отложенные (в архиве), точка отсчета -время и дата отправки автором</p:text>
    <p:extLst mod="1">
      <p:ext uri="{C676402C-5697-4E1C-873F-D02D1690AC5C}">
        <p15:threadingInfo xmlns:p15="http://schemas.microsoft.com/office/powerpoint/2012/main" timeZoneBias="-720"/>
      </p:ext>
    </p:extLst>
  </p:cm>
  <p:cm authorId="1" dt="2025-03-02T15:57:53.311" idx="29">
    <p:pos x="1142" y="1471"/>
    <p:text>процентное отношение голосовавших за к числу голосовавших против</p:text>
    <p:extLst mod="1">
      <p:ext uri="{C676402C-5697-4E1C-873F-D02D1690AC5C}">
        <p15:threadingInfo xmlns:p15="http://schemas.microsoft.com/office/powerpoint/2012/main" timeZoneBias="-720"/>
      </p:ext>
    </p:extLst>
  </p:cm>
  <p:cm authorId="1" dt="2025-03-02T16:04:14.694" idx="30">
    <p:pos x="2952" y="2901"/>
    <p:text>строка продлевается в соответствии с набором текста, или нажав на символ-значок текста(справа)</p:text>
    <p:extLst mod="1">
      <p:ext uri="{C676402C-5697-4E1C-873F-D02D1690AC5C}">
        <p15:threadingInfo xmlns:p15="http://schemas.microsoft.com/office/powerpoint/2012/main" timeZoneBias="-720"/>
      </p:ext>
    </p:extLst>
  </p:cm>
  <p:cm authorId="1" dt="2025-03-02T16:08:04.226" idx="31">
    <p:pos x="2242" y="1903"/>
    <p:text>автоматически отображается ФИО, должность автора - заполняющего карточку идеи, указанная зарегестрированным пользователем. Если нажата кнопка "Анонимно" появляется надпись в строке фио "анонимно". Если карточка создана клиентом компании (поступившая из вкладки "клиенты", отображается после ФИО в строке надпись"клиент"</p:text>
    <p:extLst mod="1">
      <p:ext uri="{C676402C-5697-4E1C-873F-D02D1690AC5C}">
        <p15:threadingInfo xmlns:p15="http://schemas.microsoft.com/office/powerpoint/2012/main" timeZoneBias="-720"/>
      </p:ext>
    </p:extLst>
  </p:cm>
  <p:cm authorId="1" dt="2025-03-02T16:15:28.534" idx="32">
    <p:pos x="1348" y="6450"/>
    <p:text>кнопка-значок плохо- знак стоп или кисть руки пальцем вниз, или что либо аналогичное</p:text>
    <p:extLst mod="1">
      <p:ext uri="{C676402C-5697-4E1C-873F-D02D1690AC5C}">
        <p15:threadingInfo xmlns:p15="http://schemas.microsoft.com/office/powerpoint/2012/main" timeZoneBias="-720"/>
      </p:ext>
    </p:extLst>
  </p:cm>
  <p:cm authorId="1" dt="2025-03-02T16:16:25.181" idx="33">
    <p:pos x="449" y="6447"/>
    <p:text>кнопка-значок хорошо-кисть руки пальцем вверх или смайл. Рядом появляется цифра-количество нажавших такой же значок</p:text>
    <p:extLst mod="1">
      <p:ext uri="{C676402C-5697-4E1C-873F-D02D1690AC5C}">
        <p15:threadingInfo xmlns:p15="http://schemas.microsoft.com/office/powerpoint/2012/main" timeZoneBias="-720"/>
      </p:ext>
    </p:extLst>
  </p:cm>
  <p:cm authorId="1" dt="2025-03-02T16:21:43.970" idx="34">
    <p:pos x="340" y="2171"/>
    <p:text>Кнопка. автор, нажимая ее, открывает поисковую строку (выше, на этой странице) где может выбрать из списка коллегу или клиента и добавить того, кто помог развить идею</p:text>
    <p:extLst mod="1">
      <p:ext uri="{C676402C-5697-4E1C-873F-D02D1690AC5C}">
        <p15:threadingInfo xmlns:p15="http://schemas.microsoft.com/office/powerpoint/2012/main" timeZoneBias="-720"/>
      </p:ext>
    </p:extLst>
  </p:cm>
  <p:cm authorId="1" dt="2025-03-02T16:28:54.998" idx="35">
    <p:pos x="463" y="423"/>
    <p:text>вкладка для работников одного отдела, группы или структуры предприятия</p:text>
    <p:extLst mod="1">
      <p:ext uri="{C676402C-5697-4E1C-873F-D02D1690AC5C}">
        <p15:threadingInfo xmlns:p15="http://schemas.microsoft.com/office/powerpoint/2012/main" timeZoneBias="-720"/>
      </p:ext>
    </p:extLst>
  </p:cm>
  <p:cm authorId="1" dt="2025-03-02T16:29:41.773" idx="36">
    <p:pos x="2293" y="257"/>
    <p:text>вкладка для работников смежных отделов, групп в структуре предприятия. Сформированное и принятое после голосования в чате своего отдела, группы) можно отправить для обсуждения и голосования в смежный отдел. При нажатии на поле вкладки "коллеги" отображается завершенная карточка после голосования в своем отделе, и в поле "поиск" отправитель (только руководитель имеет это право) выбирает по должности или фио любого из соседнего отдела, далее нажимает кнопку "отправить". Соседний отдел получает карточку (неизменны внесенные данные карточки- №, рейтинг, автор и тд), активны все кнопки - поиск, аноним, публично, мессенджер и кнопки голосования</p:text>
    <p:extLst mod="1">
      <p:ext uri="{C676402C-5697-4E1C-873F-D02D1690AC5C}">
        <p15:threadingInfo xmlns:p15="http://schemas.microsoft.com/office/powerpoint/2012/main" timeZoneBias="-720"/>
      </p:ext>
    </p:extLst>
  </p:cm>
  <p:cm authorId="1" dt="2025-03-06T16:48:44.079" idx="37">
    <p:pos x="2171" y="1677"/>
    <p:text>пока не нажата кнопка "отправить"- "обсуждение", после отправки - статусы"рассмотрение", после принятия руководителем компании или руководством- "исполнение", после выполнения (завершения ответственным исполнителем) статус "выполнено". В случае непринятие руководством сохраняется в папке "Архив" и статус " Архив"</p:text>
    <p:extLst mod="1">
      <p:ext uri="{C676402C-5697-4E1C-873F-D02D1690AC5C}">
        <p15:threadingInfo xmlns:p15="http://schemas.microsoft.com/office/powerpoint/2012/main" timeZoneBias="-720"/>
      </p:ext>
    </p:extLst>
  </p:cm>
  <p:cm authorId="1" dt="2025-04-14T06:52:03.467" idx="98">
    <p:pos x="2293" y="6515"/>
    <p:text>заменить на более интуитив понятный значок (смайл с прямыми губами?)</p:text>
    <p:extLst mod="1">
      <p:ext uri="{C676402C-5697-4E1C-873F-D02D1690AC5C}">
        <p15:threadingInfo xmlns:p15="http://schemas.microsoft.com/office/powerpoint/2012/main" timeZoneBias="-720"/>
      </p:ext>
    </p:extLst>
  </p:cm>
  <p:cm authorId="1" dt="2025-11-28T17:26:26.443" idx="135">
    <p:pos x="1482" y="6140"/>
    <p:text>при нажатии на подчеркнутый текст "комментарии" (или лучше сделать в виде кнопки? посоветуйте) открывается поле или всплывающее окно, где можно ввести текст своего комментария и отправить его, и списком видны комментарии всех коллег с других отделов</p:text>
    <p:extLst>
      <p:ext uri="{C676402C-5697-4E1C-873F-D02D1690AC5C}">
        <p15:threadingInfo xmlns:p15="http://schemas.microsoft.com/office/powerpoint/2012/main" timeZoneBias="-720"/>
      </p:ext>
    </p:extLst>
  </p:cm>
  <p:cm authorId="1" dt="2025-12-18T11:59:05.629" idx="257">
    <p:pos x="3277" y="2661"/>
    <p:text>значок текста</p:text>
    <p:extLst>
      <p:ext uri="{C676402C-5697-4E1C-873F-D02D1690AC5C}">
        <p15:threadingInfo xmlns:p15="http://schemas.microsoft.com/office/powerpoint/2012/main" timeZoneBias="-720"/>
      </p:ext>
    </p:extLst>
  </p:cm>
  <p:cm authorId="1" dt="2025-12-18T11:59:25.620" idx="258">
    <p:pos x="3675" y="2619"/>
    <p:text>значок "прикрепить файлы"-подгрузка любых основых типов файлов</p:text>
    <p:extLst>
      <p:ext uri="{C676402C-5697-4E1C-873F-D02D1690AC5C}">
        <p15:threadingInfo xmlns:p15="http://schemas.microsoft.com/office/powerpoint/2012/main" timeZoneBias="-72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5-02-26T17:09:41.678" idx="17">
    <p:pos x="3785" y="6769"/>
    <p:text>данная страница открывает списком все полученные от клиентов предприятия(все что пишут и отправляют клиенты-пользователи продукции и работники смежных предприятий. после нажатия на странице "проблема-предложение" слайда 5 кнопки-вкладки  "КЛИЕНТЫ" (кнопка и слово чат при этом выделяется иным цветом (более темным или светлым-как лучше смотрится?)). В каждой строке отображены все поданные идеи разным цветом (обсуждаемые-строка заливка белым цветом, согласованные руководителем-желтым, исполняемые-зеленым, обсуждаемые, принятые к рассмотрению руководством-оранжевым, отказные и выполненные успешно или неуспешно в архиве-красным)</p:text>
    <p:extLst mod="1">
      <p:ext uri="{C676402C-5697-4E1C-873F-D02D1690AC5C}">
        <p15:threadingInfo xmlns:p15="http://schemas.microsoft.com/office/powerpoint/2012/main" timeZoneBias="-720"/>
      </p:ext>
    </p:extLst>
  </p:cm>
  <p:cm authorId="1" dt="2025-02-26T17:19:19.392" idx="19">
    <p:pos x="3218" y="812"/>
    <p:text>"поиск"- поисковая строка для поиска уже зарегестрированных (обсуждаемых, на исполнении или нах-ся в архиве реализованных или отложенных) предложений (поиск по номеру, ФИО автора и соавтора, ключевым словам Предложения, идеи). При нажатии появляется всплывающая подсказка с текстом: введите известные данные предложения- ключевые слова предложения, идеи,ФИО автора, соавтора, номер предложения,  при вводе данных списком открываются возможные варианты совпадений с возможностью нажатия появившегося варианта и дальнейшего открытия карточки идеи, предложения из базы предложений.</p:text>
    <p:extLst mod="1">
      <p:ext uri="{C676402C-5697-4E1C-873F-D02D1690AC5C}">
        <p15:threadingInfo xmlns:p15="http://schemas.microsoft.com/office/powerpoint/2012/main" timeZoneBias="-720"/>
      </p:ext>
    </p:extLst>
  </p:cm>
  <p:cm authorId="1" dt="2025-03-02T16:28:54.998" idx="35">
    <p:pos x="494" y="505"/>
    <p:text>вкладка для работников одного отдела, группы или структуры предприятия</p:text>
    <p:extLst mod="1">
      <p:ext uri="{C676402C-5697-4E1C-873F-D02D1690AC5C}">
        <p15:threadingInfo xmlns:p15="http://schemas.microsoft.com/office/powerpoint/2012/main" timeZoneBias="-720"/>
      </p:ext>
    </p:extLst>
  </p:cm>
  <p:cm authorId="1" dt="2025-03-02T16:29:41.773" idx="36">
    <p:pos x="608" y="5925"/>
    <p:text>вкладка для работников смежных отделов, групп в структуре предприятия. Сформированное и принятое после голосования в чате своего отдела, группы) можно отправить для обсуждения и голосования в смежный отдел. При нажатии на поле вкладки "коллеги" отображается завершенная карточка после голосования в своем отделе, и в поле "поиск" отправитель (только руководитель имеет это право) выбирает по должности или фио любого из соседнего отдела, далее нажимает кнопку "отправить". Соседний отдел (весь коллектив) получает карточку (неизменны внесенные данные карточки- №, рейтинг, автор и тд), активны все кнопки - поиск, аноним, публично, мессенджер и кнопки голосования</p:text>
    <p:extLst mod="1">
      <p:ext uri="{C676402C-5697-4E1C-873F-D02D1690AC5C}">
        <p15:threadingInfo xmlns:p15="http://schemas.microsoft.com/office/powerpoint/2012/main" timeZoneBias="-720"/>
      </p:ext>
    </p:extLst>
  </p:cm>
  <p:cm authorId="1" dt="2025-04-12T15:01:40.074" idx="89">
    <p:pos x="2572" y="566"/>
    <p:text>на данной вкладке у всех пользователей предприятия при нажатии на нее отображается (слайд 24)</p:text>
    <p:extLst>
      <p:ext uri="{C676402C-5697-4E1C-873F-D02D1690AC5C}">
        <p15:threadingInfo xmlns:p15="http://schemas.microsoft.com/office/powerpoint/2012/main" timeZoneBias="-720"/>
      </p:ext>
    </p:extLst>
  </p:cm>
  <p:cm authorId="1" dt="2025-04-24T16:51:28.606" idx="123">
    <p:pos x="2139" y="535"/>
    <p:text>при нажатии на вкладку открывается аналогичный чат с коллегами из других отделов или структур своего предприятия ( аналогично как на вкладке "ЧАТ")</p:text>
    <p:extLst mod="1">
      <p:ext uri="{C676402C-5697-4E1C-873F-D02D1690AC5C}">
        <p15:threadingInfo xmlns:p15="http://schemas.microsoft.com/office/powerpoint/2012/main" timeZoneBias="-720"/>
      </p:ext>
    </p:extLst>
  </p:cm>
  <p:cm authorId="1" dt="2025-05-16T18:39:39.730" idx="124">
    <p:pos x="2479" y="6305"/>
    <p:text>1 из 2х вариантов:                                при нажатии появляется всплывающая подсказка "выберите идею", и выделяются все идеи из чата (цветом, рамкой или выделение для галочки (или другим способом-как лучше?). Выбранная и выделенная строка карточки после отпускания пальца с кнопки переходит на вкладку "Коллеги"в виде слайда 7???(сверить)</p:text>
    <p:extLst mod="1">
      <p:ext uri="{C676402C-5697-4E1C-873F-D02D1690AC5C}">
        <p15:threadingInfo xmlns:p15="http://schemas.microsoft.com/office/powerpoint/2012/main" timeZoneBias="-720"/>
      </p:ext>
    </p:extLst>
  </p:cm>
  <p:cm authorId="1" dt="2025-05-16T19:06:06.747" idx="125">
    <p:pos x="2479" y="6441"/>
    <p:text/>
    <p:extLst mod="1">
      <p:ext uri="{C676402C-5697-4E1C-873F-D02D1690AC5C}">
        <p15:threadingInfo xmlns:p15="http://schemas.microsoft.com/office/powerpoint/2012/main" timeZoneBias="-720">
          <p15:parentCm authorId="1" idx="124"/>
        </p15:threadingInfo>
      </p:ext>
    </p:extLst>
  </p:cm>
  <p:cm authorId="1" dt="2025-05-17T09:56:16.666" idx="126">
    <p:pos x="3466" y="2567"/>
    <p:text>строка идеи  в чате идей данной вкладки. Отображается дата, время, номер, должность отдела или структуры предприятия, ФИО. При нажатии на строку идеи открывается ее карточка Если статус идеи "На рассмотрении" (на время рассмотрения идеи руководством после получения от руководителя отдела или структ подразд предпр) цвет строки желтый</p:text>
    <p:extLst>
      <p:ext uri="{C676402C-5697-4E1C-873F-D02D1690AC5C}">
        <p15:threadingInfo xmlns:p15="http://schemas.microsoft.com/office/powerpoint/2012/main" timeZoneBias="-720"/>
      </p:ext>
    </p:extLst>
  </p:cm>
  <p:cm authorId="1" dt="2025-05-17T09:59:31.882" idx="127">
    <p:pos x="3518" y="3363"/>
    <p:text>строка идеи  в чате идей данной вкладки. Отображается дата, время, номер, должность отдела или структуры предприятия, ФИО. Если идею руководство принимает в работу, ее статус меняется на "В работе" цвет строки оранжевый</p:text>
    <p:extLst>
      <p:ext uri="{C676402C-5697-4E1C-873F-D02D1690AC5C}">
        <p15:threadingInfo xmlns:p15="http://schemas.microsoft.com/office/powerpoint/2012/main" timeZoneBias="-720"/>
      </p:ext>
    </p:extLst>
  </p:cm>
  <p:cm authorId="1" dt="2025-05-17T10:02:28.526" idx="128">
    <p:pos x="3487" y="4186"/>
    <p:text>строка идеи  в чате идей данной вкладки. Отображается дата, время, номер, должность отдела или структуры предприятия, ФИО. Если идея реализована статус идеи с "в работе" меняется на "Исполнено" цвет строки зеленый. Статус идеи может менять руководитель отдела (и руководство) нажатием на кнопку "статус" в карточке идеи</p:text>
    <p:extLst>
      <p:ext uri="{C676402C-5697-4E1C-873F-D02D1690AC5C}">
        <p15:threadingInfo xmlns:p15="http://schemas.microsoft.com/office/powerpoint/2012/main" timeZoneBias="-720"/>
      </p:ext>
    </p:extLst>
  </p:cm>
  <p:cm authorId="1" dt="2025-05-17T10:30:04.026" idx="129">
    <p:pos x="3476" y="5040"/>
    <p:text>строка идеи  в чате идей данной вкладки. Отображается дата, время, номер, должность отдела или структуры предприятия, ФИО. При нажатии на строку идеи открывается ее карточка Если статус идеи "В архив" цвет строки красный</p:text>
    <p:extLst>
      <p:ext uri="{C676402C-5697-4E1C-873F-D02D1690AC5C}">
        <p15:threadingInfo xmlns:p15="http://schemas.microsoft.com/office/powerpoint/2012/main" timeZoneBias="-720"/>
      </p:ext>
    </p:extLst>
  </p:cm>
  <p:cm authorId="1" dt="2025-05-17T11:25:01.297" idx="131">
    <p:pos x="3470" y="1490"/>
    <p:text>строка идеи  в чате идей данной вкладки. Отображается дата, время, номер, должность отдела или структуры предприятия, ФИО, первые несколько слов названия идеи из карточки. При нажатии на строку идеи открывается ее карточка Если статус идеи "Обсуждение", до отправки руководителя отдела руководству согласованной карточки с коллегами цвет строки белый.</p:text>
    <p:extLst mod="1">
      <p:ext uri="{C676402C-5697-4E1C-873F-D02D1690AC5C}">
        <p15:threadingInfo xmlns:p15="http://schemas.microsoft.com/office/powerpoint/2012/main" timeZoneBias="-720"/>
      </p:ext>
    </p:extLst>
  </p:cm>
  <p:cm authorId="1" dt="2025-05-17T18:28:29.848" idx="132">
    <p:pos x="501" y="4897"/>
    <p:text>строки карточек имеют значок (смайлик или другой символ) обозначающий клиентов подавших идею. )</p:text>
    <p:extLst mod="1">
      <p:ext uri="{C676402C-5697-4E1C-873F-D02D1690AC5C}">
        <p15:threadingInfo xmlns:p15="http://schemas.microsoft.com/office/powerpoint/2012/main" timeZoneBias="-720"/>
      </p:ext>
    </p:extLst>
  </p:cm>
  <p:cm authorId="1" dt="2025-12-18T13:22:51.936" idx="259">
    <p:pos x="1265" y="1625"/>
    <p:text>руководитель отдела (от начальника до директора) нажав на надпись кнопку "взять в работу" переходит в раскрытую карточку идеи (слайд 10) где клиент вносил свой текст и в режиме дополнения может внести свой текст (он отличается от текста автора-клиента, например шрифтом-курсивом или цветом, как лучше?</p:text>
    <p:extLst>
      <p:ext uri="{C676402C-5697-4E1C-873F-D02D1690AC5C}">
        <p15:threadingInfo xmlns:p15="http://schemas.microsoft.com/office/powerpoint/2012/main" timeZoneBias="-72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25-02-26T17:09:41.678" idx="17">
    <p:pos x="3703" y="320"/>
    <p:text>данная страница (после нажатия на кнопку -вкладку "клиенты" проблема-предложение" слайда 9) открывается на вкладке "клиенты" (кнопка и слово чат при этом выделяется иным цветом (более темным или светлым-как лучше смотрится?)) Первоначально открывается списоком заголовки карточек предложений, поступивших предложений от клиентов или смежных предприятий(слайд 9). При нажатии на выбранную строку предложения открывается карточка предложенная клиентом ( на данном слайде 10)</p:text>
    <p:extLst mod="1">
      <p:ext uri="{C676402C-5697-4E1C-873F-D02D1690AC5C}">
        <p15:threadingInfo xmlns:p15="http://schemas.microsoft.com/office/powerpoint/2012/main" timeZoneBias="-720"/>
      </p:ext>
    </p:extLst>
  </p:cm>
  <p:cm authorId="1" dt="2025-12-18T14:46:31.960" idx="265">
    <p:pos x="3703" y="456"/>
    <p:text>страница где возможен просмотр, редактирование, делегирование , голосование идеи полученной извне предприятия-от клиентов и работников смежных предприятий</p:text>
    <p:extLst>
      <p:ext uri="{C676402C-5697-4E1C-873F-D02D1690AC5C}">
        <p15:threadingInfo xmlns:p15="http://schemas.microsoft.com/office/powerpoint/2012/main" timeZoneBias="-720">
          <p15:parentCm authorId="1" idx="17"/>
        </p15:threadingInfo>
      </p:ext>
    </p:extLst>
  </p:cm>
  <p:cm authorId="1" dt="2025-02-26T17:16:35.779" idx="18">
    <p:pos x="267" y="772"/>
    <p:text>пишется дата, время согласно локации предприятия</p:text>
    <p:extLst mod="1">
      <p:ext uri="{C676402C-5697-4E1C-873F-D02D1690AC5C}">
        <p15:threadingInfo xmlns:p15="http://schemas.microsoft.com/office/powerpoint/2012/main" timeZoneBias="-720"/>
      </p:ext>
    </p:extLst>
  </p:cm>
  <p:cm authorId="1" dt="2025-02-26T19:10:52.242" idx="21">
    <p:pos x="2632" y="844"/>
    <p:text>перед отправкой предложения автор идеи после заполнения карточки нажимает кнопку "анонимно" (после нажатия кнопка  затемняется или ярче или другим цветом, как лучше?) если хочет чтобы все коллеги не видели кто автор. Контактные данные от всех скрываются, виден только ник или имя (вводит в строку "Автор, фио")</p:text>
    <p:extLst mod="1">
      <p:ext uri="{C676402C-5697-4E1C-873F-D02D1690AC5C}">
        <p15:threadingInfo xmlns:p15="http://schemas.microsoft.com/office/powerpoint/2012/main" timeZoneBias="-720"/>
      </p:ext>
    </p:extLst>
  </p:cm>
  <p:cm authorId="1" dt="2025-03-02T15:34:19.575" idx="22">
    <p:pos x="3266" y="6693"/>
    <p:text>после заполнения карточки и выбора публично-анонимно, нажимаем кнопку отправки. Если автор зарегестрирован, при нажании "анонимно" все его персональные данные скрываются и надпись "аноним" где фио</p:text>
    <p:extLst mod="1">
      <p:ext uri="{C676402C-5697-4E1C-873F-D02D1690AC5C}">
        <p15:threadingInfo xmlns:p15="http://schemas.microsoft.com/office/powerpoint/2012/main" timeZoneBias="-720"/>
      </p:ext>
    </p:extLst>
  </p:cm>
  <p:cm authorId="1" dt="2025-03-02T15:36:55.205" idx="23">
    <p:pos x="1438" y="6005"/>
    <p:text>после отправки идеи автором и получения карточки коллегами, каждый голосует ниже выбором кнопок в опубликованной карточке(за, против, воздержался)</p:text>
    <p:extLst mod="1">
      <p:ext uri="{C676402C-5697-4E1C-873F-D02D1690AC5C}">
        <p15:threadingInfo xmlns:p15="http://schemas.microsoft.com/office/powerpoint/2012/main" timeZoneBias="-720"/>
      </p:ext>
    </p:extLst>
  </p:cm>
  <p:cm authorId="1" dt="2025-03-02T15:47:17.594" idx="26">
    <p:pos x="2067" y="1193"/>
    <p:text>автонумерация предложений по порядку, от 1  до 10000000. считаются все(обсуждаемые, исполняемые, отложенные (в архиве), точка отсчета -время и дата отправки автором</p:text>
    <p:extLst mod="1">
      <p:ext uri="{C676402C-5697-4E1C-873F-D02D1690AC5C}">
        <p15:threadingInfo xmlns:p15="http://schemas.microsoft.com/office/powerpoint/2012/main" timeZoneBias="-720"/>
      </p:ext>
    </p:extLst>
  </p:cm>
  <p:cm authorId="1" dt="2025-03-02T15:57:53.311" idx="29">
    <p:pos x="1235" y="1492"/>
    <p:text>процентное отношение голосовавших за к числу голосовавших против</p:text>
    <p:extLst mod="1">
      <p:ext uri="{C676402C-5697-4E1C-873F-D02D1690AC5C}">
        <p15:threadingInfo xmlns:p15="http://schemas.microsoft.com/office/powerpoint/2012/main" timeZoneBias="-720"/>
      </p:ext>
    </p:extLst>
  </p:cm>
  <p:cm authorId="1" dt="2025-03-02T16:04:14.694" idx="30">
    <p:pos x="1472" y="3158"/>
    <p:text>число строк появляется в соответствии с набором текста</p:text>
    <p:extLst mod="1">
      <p:ext uri="{C676402C-5697-4E1C-873F-D02D1690AC5C}">
        <p15:threadingInfo xmlns:p15="http://schemas.microsoft.com/office/powerpoint/2012/main" timeZoneBias="-720"/>
      </p:ext>
    </p:extLst>
  </p:cm>
  <p:cm authorId="1" dt="2025-03-02T16:08:04.226" idx="31">
    <p:pos x="874" y="1995"/>
    <p:text>автоматически отображается ФИО, должность автора - заполняющего карточку идеи, указанная зарегестрированным пользователем. Если отправителем поставлена отметка "клиент" компании, отображается после ФИО в строке "клиент". если автор создавая карточку нажал кнопку "анонимно" то в строке ФИО пишется "Анонимно"</p:text>
    <p:extLst mod="1">
      <p:ext uri="{C676402C-5697-4E1C-873F-D02D1690AC5C}">
        <p15:threadingInfo xmlns:p15="http://schemas.microsoft.com/office/powerpoint/2012/main" timeZoneBias="-720"/>
      </p:ext>
    </p:extLst>
  </p:cm>
  <p:cm authorId="1" dt="2025-03-02T16:15:28.534" idx="32">
    <p:pos x="1842" y="6645"/>
    <p:text>кнопка-значок плохо-кисть руки пальцем вниз</p:text>
    <p:extLst mod="1">
      <p:ext uri="{C676402C-5697-4E1C-873F-D02D1690AC5C}">
        <p15:threadingInfo xmlns:p15="http://schemas.microsoft.com/office/powerpoint/2012/main" timeZoneBias="-720"/>
      </p:ext>
    </p:extLst>
  </p:cm>
  <p:cm authorId="1" dt="2025-03-02T16:16:25.181" idx="33">
    <p:pos x="840" y="6684"/>
    <p:text>кнопка-значок хорошо-кисть руки пальцем вверх. рядом число проголосовавших(аналогично и у значков против и воздержался)</p:text>
    <p:extLst mod="1">
      <p:ext uri="{C676402C-5697-4E1C-873F-D02D1690AC5C}">
        <p15:threadingInfo xmlns:p15="http://schemas.microsoft.com/office/powerpoint/2012/main" timeZoneBias="-720"/>
      </p:ext>
    </p:extLst>
  </p:cm>
  <p:cm authorId="1" dt="2025-03-02T16:28:54.998" idx="35">
    <p:pos x="432" y="351"/>
    <p:text>вкладка для работников одного отдела, группы или структуры предприятия</p:text>
    <p:extLst mod="1">
      <p:ext uri="{C676402C-5697-4E1C-873F-D02D1690AC5C}">
        <p15:threadingInfo xmlns:p15="http://schemas.microsoft.com/office/powerpoint/2012/main" timeZoneBias="-720"/>
      </p:ext>
    </p:extLst>
  </p:cm>
  <p:cm authorId="1" dt="2025-03-02T16:29:41.773" idx="36">
    <p:pos x="1697" y="350"/>
    <p:text>вкладка для работников смежных отделов, групп в структуре предприятия. Сформированное и принятое после голосования в чате своего отдела, группы) можно отправить для обсуждения и голосования в смежный отдел. При нажатии на поле вкладки "коллеги" отображается завершенная карточка после голосования в своем отделе, и в поле "поиск" отправитель (только руководитель имеет это право) выбирает по должности или фио любого из соседнего отдела, далее нажимает кнопку "отправить". Соседний отдел получает карточку (неизменны внесенные данные карточки- №, рейтинг, автор и тд), активны все кнопки - поиск, аноним, публично, мессенджер и кнопки голосования</p:text>
    <p:extLst mod="1">
      <p:ext uri="{C676402C-5697-4E1C-873F-D02D1690AC5C}">
        <p15:threadingInfo xmlns:p15="http://schemas.microsoft.com/office/powerpoint/2012/main" timeZoneBias="-720"/>
      </p:ext>
    </p:extLst>
  </p:cm>
  <p:cm authorId="1" dt="2025-03-06T16:48:44.079" idx="37">
    <p:pos x="1152" y="1739"/>
    <p:text>после получения карточки от клиента в строке идей слайда 8 строка белым цветом., после открытия для просмотра кем либо становится в строке желтым цветом и в статусе слайда 9 появляется надпись "рассмотрение" и нажатия кнопки отправка - "рассмотрение".  У руководителя есть возможность менять статус на следующий ( в работе, исполнено, в архив). В случае непринятие руководством сохраняется в папке "Архив" и статус " Архив"</p:text>
    <p:extLst mod="1">
      <p:ext uri="{C676402C-5697-4E1C-873F-D02D1690AC5C}">
        <p15:threadingInfo xmlns:p15="http://schemas.microsoft.com/office/powerpoint/2012/main" timeZoneBias="-720"/>
      </p:ext>
    </p:extLst>
  </p:cm>
  <p:cm authorId="1" dt="2025-12-18T13:31:47.112" idx="260">
    <p:pos x="2479" y="6059"/>
    <p:text>все работники своего предприятия нажавшие надпись "комментарии" могут внести свое мнение о предложении. нажав открывается поле с вводом текста и возможностью его сохранения и отправки</p:text>
    <p:extLst>
      <p:ext uri="{C676402C-5697-4E1C-873F-D02D1690AC5C}">
        <p15:threadingInfo xmlns:p15="http://schemas.microsoft.com/office/powerpoint/2012/main" timeZoneBias="-720"/>
      </p:ext>
    </p:extLst>
  </p:cm>
  <p:cm authorId="1" dt="2025-12-18T13:34:43.388" idx="261">
    <p:pos x="3696" y="3294"/>
    <p:text>принявший в работу руководитель может также как клиент дополнить карточку своими файлами</p:text>
    <p:extLst>
      <p:ext uri="{C676402C-5697-4E1C-873F-D02D1690AC5C}">
        <p15:threadingInfo xmlns:p15="http://schemas.microsoft.com/office/powerpoint/2012/main" timeZoneBias="-720"/>
      </p:ext>
    </p:extLst>
  </p:cm>
  <p:cm authorId="1" dt="2025-12-18T13:36:38.313" idx="262">
    <p:pos x="3713" y="1121"/>
    <p:text>руководитель принявший в работу идею клиента может делегировать ее другому руководителю. Условия выполнения данной функции: в рамках одной службы или структуры сверху вниз-от высшего руководителя к более низшему (главбух-замглавбух и бухгалтеру может, обратно нет) Также руководители служб уровня заместителей директора могут делегировать друг другу (руководитель одной службы-руководителю  другой-например глав.юрист глав экономисту и наоборот. нач отделов разных направлений не могут) И директор может сам назначить кому делегировать. При нажатии на надпись-кнопку появляется поисковая адресная строка с руководителями, согласно описанному выше условиям выбора ранжирования</p:text>
    <p:extLst>
      <p:ext uri="{C676402C-5697-4E1C-873F-D02D1690AC5C}">
        <p15:threadingInfo xmlns:p15="http://schemas.microsoft.com/office/powerpoint/2012/main" timeZoneBias="-720"/>
      </p:ext>
    </p:extLst>
  </p:cm>
  <p:cm authorId="1" dt="2025-12-18T14:17:54.910" idx="263">
    <p:pos x="3709" y="6313"/>
    <p:text>поставить галочку или значок-надпись "сохранить" (после внесения своего текста автосохранение каждые 5 секунд)</p:text>
    <p:extLst>
      <p:ext uri="{C676402C-5697-4E1C-873F-D02D1690AC5C}">
        <p15:threadingInfo xmlns:p15="http://schemas.microsoft.com/office/powerpoint/2012/main" timeZoneBias="-720"/>
      </p:ext>
    </p:extLst>
  </p:cm>
  <p:cm authorId="1" dt="2025-12-18T14:31:51.585" idx="264">
    <p:pos x="3826" y="6817"/>
    <p:text>страница где возможен просмотр, редактирование, делегирование , голосование идеи полученной извне предприятия-от клиентов и работников смежных предприятий</p:text>
    <p:extLst>
      <p:ext uri="{C676402C-5697-4E1C-873F-D02D1690AC5C}">
        <p15:threadingInfo xmlns:p15="http://schemas.microsoft.com/office/powerpoint/2012/main" timeZoneBias="-720"/>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1" dt="2025-03-06T17:54:55.454" idx="38">
    <p:pos x="259" y="392"/>
    <p:text>При открытии страницы "База предложений" (нажав на кнопку "база предложений" слайда 2 )первоначально попадаем на вкладку "Обсуждаемые и согласованные". При этом сама кнопка выделяется рамкой (и еще большей яркостью свечения или насыщенным полным цветом оранжевым, по сравнению с зеленой и красной справа, которые по типу градиентной светлой окраски - как лучше по вашему? ). Отображаются ниже списком  только карточки идей, нах-ся в статусах "обсуждаемые и согласованные" всех отделов и структур своего предприятия, смежных предприятий и клиентов.</p:text>
    <p:extLst mod="1">
      <p:ext uri="{C676402C-5697-4E1C-873F-D02D1690AC5C}">
        <p15:threadingInfo xmlns:p15="http://schemas.microsoft.com/office/powerpoint/2012/main" timeZoneBias="-720"/>
      </p:ext>
    </p:extLst>
  </p:cm>
  <p:cm authorId="1" dt="2025-04-19T14:49:51.147" idx="107">
    <p:pos x="259" y="528"/>
    <p:text>при открытии вначале появляется списком, в виде строк текст с ключевой информацией поданных карточек. при нажатии на строку открывается карточка (как на рисунке)</p:text>
    <p:extLst mod="1">
      <p:ext uri="{C676402C-5697-4E1C-873F-D02D1690AC5C}">
        <p15:threadingInfo xmlns:p15="http://schemas.microsoft.com/office/powerpoint/2012/main" timeZoneBias="-720">
          <p15:parentCm authorId="1" idx="38"/>
        </p15:threadingInfo>
      </p:ext>
    </p:extLst>
  </p:cm>
  <p:cm authorId="1" dt="2025-12-03T17:15:12.682" idx="138">
    <p:pos x="318" y="1563"/>
    <p:text>в статусе обсуждаемые строка-кнопка белого цвета с текстом данных (№, дата, время и тд как ранее писал). При коротком  нажатии открывается заполненная данными  карточка(слайд 11). При длительном нажатии строка-кнопка выделяется и в правом нижнем углу экрана появляется или выделяется ярче с контуром (как лучше?)значок поделиться (типовой, как в мессенджерах) и активируется курсором и выделением, яркостью вета, рамкой и тп поисковая строка контактов коллег  в верхней строке экрана ( начнет мигать вертик полоса курсор как в вацап после нажатия на поделиться?)</p:text>
    <p:extLst mod="1">
      <p:ext uri="{C676402C-5697-4E1C-873F-D02D1690AC5C}">
        <p15:threadingInfo xmlns:p15="http://schemas.microsoft.com/office/powerpoint/2012/main" timeZoneBias="-720"/>
      </p:ext>
    </p:extLst>
  </p:cm>
  <p:cm authorId="1" dt="2025-12-03T17:15:51.249" idx="139">
    <p:pos x="443" y="2500"/>
    <p:text>в статусе "согласованные"(началь отдела) строка-кнопка желтого цвета. При нажатии открывается заполненная данными  карточка</p:text>
    <p:extLst mod="1">
      <p:ext uri="{C676402C-5697-4E1C-873F-D02D1690AC5C}">
        <p15:threadingInfo xmlns:p15="http://schemas.microsoft.com/office/powerpoint/2012/main" timeZoneBias="-720"/>
      </p:ext>
    </p:extLst>
  </p:cm>
  <p:cm authorId="1" dt="2025-12-03T17:19:57.998" idx="140">
    <p:pos x="1502" y="401"/>
    <p:text>вкладка зеленого цвета. Открываются списком все карточки от всех только в данном статусе. Вся механика работает  аналогично предидущей вкладке "обсуждаемые и согласованные"</p:text>
    <p:extLst mod="1">
      <p:ext uri="{C676402C-5697-4E1C-873F-D02D1690AC5C}">
        <p15:threadingInfo xmlns:p15="http://schemas.microsoft.com/office/powerpoint/2012/main" timeZoneBias="-720"/>
      </p:ext>
    </p:extLst>
  </p:cm>
  <p:cm authorId="1" dt="2025-12-03T17:20:22.411" idx="141">
    <p:pos x="3621" y="380"/>
    <p:text>кнопка вкладка красного цвета. при нажатии списком появляются все идеи из архива, со статусом отказ , успешно выполненные и неуспешно выполненные. Все работает  аналогично предидущим вкладкам.</p:text>
    <p:extLst mod="1">
      <p:ext uri="{C676402C-5697-4E1C-873F-D02D1690AC5C}">
        <p15:threadingInfo xmlns:p15="http://schemas.microsoft.com/office/powerpoint/2012/main" timeZoneBias="-720"/>
      </p:ext>
    </p:extLst>
  </p:cm>
  <p:cm authorId="1" dt="2025-12-03T17:21:42.195" idx="142">
    <p:pos x="3333" y="1040"/>
    <p:text>поиск по номеру идеи, ее дате, ФИО, ключевым словам с карточки идеи (из строки "Идея, предложение"</p:text>
    <p:extLst mod="1">
      <p:ext uri="{C676402C-5697-4E1C-873F-D02D1690AC5C}">
        <p15:threadingInfo xmlns:p15="http://schemas.microsoft.com/office/powerpoint/2012/main" timeZoneBias="-720"/>
      </p:ext>
    </p:extLst>
  </p:cm>
  <p:cm authorId="1" dt="2025-12-03T17:41:52.917" idx="143">
    <p:pos x="2332" y="6602"/>
    <p:text>кнопка "Поделиться" . После длит нажатия на выбранную строку кнопку данная кнопка выделяется (рамкой или яркостью, как лучше?), и после нажатия на нее переходим на адресный поиск коллег, где можно по ФИО сделать выбр , после выбора появляется 2 варианта отправки-значки "Сообщение"-в чат мессенджера нашего приложения (как в смс? ) и "почта" (значок электронки типовой, как в мессенджерах)</p:text>
    <p:extLst>
      <p:ext uri="{C676402C-5697-4E1C-873F-D02D1690AC5C}">
        <p15:threadingInfo xmlns:p15="http://schemas.microsoft.com/office/powerpoint/2012/main" timeZoneBias="-720"/>
      </p:ext>
    </p:extLst>
  </p:cm>
  <p:cm authorId="1" dt="2025-12-05T12:08:43.913" idx="144">
    <p:pos x="3064" y="1687"/>
    <p:text>отображается статус карточки в правом верхнем углу строки-кнопки, цвет фона согласно  статуса</p:text>
    <p:extLst mod="1">
      <p:ext uri="{C676402C-5697-4E1C-873F-D02D1690AC5C}">
        <p15:threadingInfo xmlns:p15="http://schemas.microsoft.com/office/powerpoint/2012/main" timeZoneBias="-720"/>
      </p:ext>
    </p:extLst>
  </p:cm>
  <p:cm authorId="1" dt="2025-12-05T12:09:14.136" idx="145">
    <p:pos x="3682" y="2552"/>
    <p:text>отображается надпись "обсуждение"-статус карточки в правом верхнем углу строки-кнопки</p:text>
    <p:extLst mod="1">
      <p:ext uri="{C676402C-5697-4E1C-873F-D02D1690AC5C}">
        <p15:threadingInfo xmlns:p15="http://schemas.microsoft.com/office/powerpoint/2012/main" timeZoneBias="-720"/>
      </p:ext>
    </p:extLst>
  </p:cm>
  <p:cm authorId="1" dt="2025-12-05T12:12:51.172" idx="146">
    <p:pos x="1471" y="1667"/>
    <p:text>при подаче карточки "Анонимно" отображается данная надпись другим цветом, не черным, на всех карточках во всех статусах (посередине строки-кнопки)</p:text>
    <p:extLst mod="1">
      <p:ext uri="{C676402C-5697-4E1C-873F-D02D1690AC5C}">
        <p15:threadingInfo xmlns:p15="http://schemas.microsoft.com/office/powerpoint/2012/main" timeZoneBias="-720"/>
      </p:ext>
    </p:extLst>
  </p:cm>
  <p:cm authorId="1" dt="2025-12-06T17:21:50.728" idx="217">
    <p:pos x="3096" y="6131"/>
    <p:text>переход на слайд 34</p:text>
    <p:extLst>
      <p:ext uri="{C676402C-5697-4E1C-873F-D02D1690AC5C}">
        <p15:threadingInfo xmlns:p15="http://schemas.microsoft.com/office/powerpoint/2012/main" timeZoneBias="-720"/>
      </p:ext>
    </p:extLst>
  </p:cm>
  <p:cm authorId="1" dt="2025-12-18T15:02:44.122" idx="266">
    <p:pos x="2613" y="1265"/>
    <p:text>сортировка для просмотра по адресатам (кто создавал идеи отделы, смежные, клиенты, с коллегами)-на всех вкладках (обсуждаемые, исполняемые, архив)</p:text>
    <p:extLst>
      <p:ext uri="{C676402C-5697-4E1C-873F-D02D1690AC5C}">
        <p15:threadingInfo xmlns:p15="http://schemas.microsoft.com/office/powerpoint/2012/main" timeZoneBias="-720"/>
      </p:ext>
    </p:extLst>
  </p:cm>
  <p:cm authorId="1" dt="2025-12-18T15:16:58.620" idx="267">
    <p:pos x="3733" y="3641"/>
    <p:text>аналогично кнопке "стогласовано".в соответствии со статусом "на рассмотрении" (цвет оранжевый)</p:text>
    <p:extLst>
      <p:ext uri="{C676402C-5697-4E1C-873F-D02D1690AC5C}">
        <p15:threadingInfo xmlns:p15="http://schemas.microsoft.com/office/powerpoint/2012/main" timeZoneBias="-720"/>
      </p:ext>
    </p:extLst>
  </p:cm>
  <p:cm authorId="1" dt="2025-12-18T15:21:17.747" idx="268">
    <p:pos x="4007" y="6943"/>
    <p:text>страница для просмотра всех идей от всех сортировкой через статусы нажатием по вкладкам "обсужд-исполн, "в работе" и "архив"</p:text>
    <p:extLst>
      <p:ext uri="{C676402C-5697-4E1C-873F-D02D1690AC5C}">
        <p15:threadingInfo xmlns:p15="http://schemas.microsoft.com/office/powerpoint/2012/main" timeZoneBias="-720"/>
      </p:ext>
    </p:extLst>
  </p:cm>
</p:cmLst>
</file>

<file path=ppt/comments/comment12.xml><?xml version="1.0" encoding="utf-8"?>
<p:cmLst xmlns:a="http://schemas.openxmlformats.org/drawingml/2006/main" xmlns:r="http://schemas.openxmlformats.org/officeDocument/2006/relationships" xmlns:p="http://schemas.openxmlformats.org/presentationml/2006/main">
  <p:cm authorId="1" dt="2025-03-06T17:54:55.454" idx="38">
    <p:pos x="259" y="392"/>
    <p:text>отображаются после нажатия в слайде 11 выбранная карточка идеи нах-ся в статусах "обсуждение и рассмотрение до принятия или отказа в статусе "обсуждаемые"</p:text>
    <p:extLst mod="1">
      <p:ext uri="{C676402C-5697-4E1C-873F-D02D1690AC5C}">
        <p15:threadingInfo xmlns:p15="http://schemas.microsoft.com/office/powerpoint/2012/main" timeZoneBias="-720"/>
      </p:ext>
    </p:extLst>
  </p:cm>
  <p:cm authorId="1" dt="2025-04-19T14:49:51.147" idx="107">
    <p:pos x="259" y="528"/>
    <p:text>при открытии вначале появляется списком, ввиде строк текст с ключевой информацией поданных карточек. при нажатии на строку открывается карточка (как на рисунке)</p:text>
    <p:extLst mod="1">
      <p:ext uri="{C676402C-5697-4E1C-873F-D02D1690AC5C}">
        <p15:threadingInfo xmlns:p15="http://schemas.microsoft.com/office/powerpoint/2012/main" timeZoneBias="-720">
          <p15:parentCm authorId="1" idx="38"/>
        </p15:threadingInfo>
      </p:ext>
    </p:extLst>
  </p:cm>
  <p:cm authorId="1" dt="2025-04-19T14:52:20.548" idx="108">
    <p:pos x="3707" y="1842"/>
    <p:text>значок скрепки-при нажатии отображаются все  прикрепленные к данной строке файлы ( с указ долж и ФИО того кто приложил)</p:text>
    <p:extLst mod="1">
      <p:ext uri="{C676402C-5697-4E1C-873F-D02D1690AC5C}">
        <p15:threadingInfo xmlns:p15="http://schemas.microsoft.com/office/powerpoint/2012/main" timeZoneBias="-720"/>
      </p:ext>
    </p:extLst>
  </p:cm>
  <p:cm authorId="1" dt="2025-12-05T14:52:55.047" idx="147">
    <p:pos x="3662" y="1172"/>
    <p:text>данная надпись на желтом фоне если подано анонимно. Если публично надписей нет, пустое место</p:text>
    <p:extLst mod="1">
      <p:ext uri="{C676402C-5697-4E1C-873F-D02D1690AC5C}">
        <p15:threadingInfo xmlns:p15="http://schemas.microsoft.com/office/powerpoint/2012/main" timeZoneBias="-720"/>
      </p:ext>
    </p:extLst>
  </p:cm>
  <p:cm authorId="1" dt="2025-12-05T14:54:35.086" idx="148">
    <p:pos x="833" y="915"/>
    <p:text>дата и время подачи идеи в данной карточке</p:text>
    <p:extLst>
      <p:ext uri="{C676402C-5697-4E1C-873F-D02D1690AC5C}">
        <p15:threadingInfo xmlns:p15="http://schemas.microsoft.com/office/powerpoint/2012/main" timeZoneBias="-720"/>
      </p:ext>
    </p:extLst>
  </p:cm>
  <p:cm authorId="1" dt="2025-12-05T14:59:54.357" idx="149">
    <p:pos x="1378" y="4783"/>
    <p:text>при нажатии надписи-ссылки"все согласования" в карточках со статусами "Согласовано","обсуждаемые, исполняемые, исполненные успешно, исполненные неуспешно, отказ" появляется списком или полем с текстом, (как лучше?) информация: его решение(согласовано или отказ) дата, время, должность и ФИО всех руководителей, согласовавших и не согласовавших отказом карточку идеи. В карточках статуса "Обсуждаемые" этой строки еще нет. В карточках на вкладке "АРХИВ" рядом с  "согласовано" (данные тех кто согласовал) и надпись "Отказано"(также данные по отказу от идеи- должность ФИО отказавшего руководителя отдела или руководства выше по должности кто отказал, дата, время когда</p:text>
    <p:extLst mod="1">
      <p:ext uri="{C676402C-5697-4E1C-873F-D02D1690AC5C}">
        <p15:threadingInfo xmlns:p15="http://schemas.microsoft.com/office/powerpoint/2012/main" timeZoneBias="-720"/>
      </p:ext>
    </p:extLst>
  </p:cm>
  <p:cm authorId="1" dt="2025-12-05T15:08:10.890" idx="150">
    <p:pos x="1245" y="4155"/>
    <p:text>ссылка-при нажатии открывается страница или всплывающее окно со всеми комментариями коллег</p:text>
    <p:extLst>
      <p:ext uri="{C676402C-5697-4E1C-873F-D02D1690AC5C}">
        <p15:threadingInfo xmlns:p15="http://schemas.microsoft.com/office/powerpoint/2012/main" timeZoneBias="-720"/>
      </p:ext>
    </p:extLst>
  </p:cm>
  <p:cm authorId="1" dt="2025-12-05T15:09:04.315" idx="151">
    <p:pos x="1749" y="4320"/>
    <p:text>отображается комментарий того, кто открыл данную карточку. если его не было то надпись- "вашего комментария не было"</p:text>
    <p:extLst>
      <p:ext uri="{C676402C-5697-4E1C-873F-D02D1690AC5C}">
        <p15:threadingInfo xmlns:p15="http://schemas.microsoft.com/office/powerpoint/2012/main" timeZoneBias="-720"/>
      </p:ext>
    </p:extLst>
  </p:cm>
  <p:cm authorId="1" dt="2025-12-05T15:10:48.533" idx="152">
    <p:pos x="3656" y="122"/>
    <p:text>значок меню или техподдержки (сам значок любой, тот что лучше соответствует по смыслу техподдержки. можно написать о проблеме</p:text>
    <p:extLst mod="1">
      <p:ext uri="{C676402C-5697-4E1C-873F-D02D1690AC5C}">
        <p15:threadingInfo xmlns:p15="http://schemas.microsoft.com/office/powerpoint/2012/main" timeZoneBias="-720"/>
      </p:ext>
    </p:extLst>
  </p:cm>
  <p:cm authorId="1" dt="2025-12-05T15:41:22.888" idx="153">
    <p:pos x="2314" y="5173"/>
    <p:text>статистика мнений при голосовании идеи.</p:text>
    <p:extLst mod="1">
      <p:ext uri="{C676402C-5697-4E1C-873F-D02D1690AC5C}">
        <p15:threadingInfo xmlns:p15="http://schemas.microsoft.com/office/powerpoint/2012/main" timeZoneBias="-720"/>
      </p:ext>
    </p:extLst>
  </p:cm>
  <p:cm authorId="1" dt="2025-12-05T15:42:53.410" idx="154">
    <p:pos x="678" y="6098"/>
    <p:text>отображается смайлом улыбки статистика кто за идею</p:text>
    <p:extLst>
      <p:ext uri="{C676402C-5697-4E1C-873F-D02D1690AC5C}">
        <p15:threadingInfo xmlns:p15="http://schemas.microsoft.com/office/powerpoint/2012/main" timeZoneBias="-720"/>
      </p:ext>
    </p:extLst>
  </p:cm>
  <p:cm authorId="1" dt="2025-12-05T15:47:06.409" idx="155">
    <p:pos x="1131" y="5687"/>
    <p:text>суммарное количество тех кто за идею</p:text>
    <p:extLst mod="1">
      <p:ext uri="{C676402C-5697-4E1C-873F-D02D1690AC5C}">
        <p15:threadingInfo xmlns:p15="http://schemas.microsoft.com/office/powerpoint/2012/main" timeZoneBias="-720"/>
      </p:ext>
    </p:extLst>
  </p:cm>
  <p:cm authorId="1" dt="2025-12-05T15:47:41.539" idx="156">
    <p:pos x="1748" y="6133"/>
    <p:text>отображается смайлом недовольства-губы вниз, статистика кто против идеи</p:text>
    <p:extLst>
      <p:ext uri="{C676402C-5697-4E1C-873F-D02D1690AC5C}">
        <p15:threadingInfo xmlns:p15="http://schemas.microsoft.com/office/powerpoint/2012/main" timeZoneBias="-720"/>
      </p:ext>
    </p:extLst>
  </p:cm>
  <p:cm authorId="1" dt="2025-12-05T15:48:38.319" idx="157">
    <p:pos x="2016" y="5708"/>
    <p:text>суммарное количество тех кто против идеи</p:text>
    <p:extLst>
      <p:ext uri="{C676402C-5697-4E1C-873F-D02D1690AC5C}">
        <p15:threadingInfo xmlns:p15="http://schemas.microsoft.com/office/powerpoint/2012/main" timeZoneBias="-720"/>
      </p:ext>
    </p:extLst>
  </p:cm>
  <p:cm authorId="1" dt="2025-12-05T15:49:13.846" idx="158">
    <p:pos x="2841" y="5676"/>
    <p:text>суммарное количество тех кто нажал смайл "воздержался"</p:text>
    <p:extLst mod="1">
      <p:ext uri="{C676402C-5697-4E1C-873F-D02D1690AC5C}">
        <p15:threadingInfo xmlns:p15="http://schemas.microsoft.com/office/powerpoint/2012/main" timeZoneBias="-720"/>
      </p:ext>
    </p:extLst>
  </p:cm>
  <p:cm authorId="1" dt="2025-12-05T15:49:21.814" idx="159">
    <p:pos x="2572" y="6048"/>
    <p:text>смайл с прямыми губами- "воздержался"</p:text>
    <p:extLst>
      <p:ext uri="{C676402C-5697-4E1C-873F-D02D1690AC5C}">
        <p15:threadingInfo xmlns:p15="http://schemas.microsoft.com/office/powerpoint/2012/main" timeZoneBias="-720"/>
      </p:ext>
    </p:extLst>
  </p:cm>
  <p:cm authorId="1" dt="2025-12-05T15:54:08.329" idx="160">
    <p:pos x="3313" y="1864"/>
    <p:text>при нажатии открывается поле с общим текстом от всех кто вносил в данную строку свой текст с отображением должности и ФИО того кто писал</p:text>
    <p:extLst>
      <p:ext uri="{C676402C-5697-4E1C-873F-D02D1690AC5C}">
        <p15:threadingInfo xmlns:p15="http://schemas.microsoft.com/office/powerpoint/2012/main" timeZoneBias="-720"/>
      </p:ext>
    </p:extLst>
  </p:cm>
  <p:cm authorId="1" dt="2025-12-05T16:01:26.015" idx="163">
    <p:pos x="3225" y="2856"/>
    <p:text>аналогично описанному в строке выше</p:text>
    <p:extLst>
      <p:ext uri="{C676402C-5697-4E1C-873F-D02D1690AC5C}">
        <p15:threadingInfo xmlns:p15="http://schemas.microsoft.com/office/powerpoint/2012/main" timeZoneBias="-720"/>
      </p:ext>
    </p:extLst>
  </p:cm>
  <p:cm authorId="1" dt="2025-12-05T16:01:34.469" idx="164">
    <p:pos x="3606" y="2781"/>
    <p:text>аналогично описанному в строке выше</p:text>
    <p:extLst>
      <p:ext uri="{C676402C-5697-4E1C-873F-D02D1690AC5C}">
        <p15:threadingInfo xmlns:p15="http://schemas.microsoft.com/office/powerpoint/2012/main" timeZoneBias="-720"/>
      </p:ext>
    </p:extLst>
  </p:cm>
  <p:cm authorId="1" dt="2025-12-05T16:01:42.048" idx="165">
    <p:pos x="3211" y="3234"/>
    <p:text>аналогично описанному в строке выше</p:text>
    <p:extLst>
      <p:ext uri="{C676402C-5697-4E1C-873F-D02D1690AC5C}">
        <p15:threadingInfo xmlns:p15="http://schemas.microsoft.com/office/powerpoint/2012/main" timeZoneBias="-720"/>
      </p:ext>
    </p:extLst>
  </p:cm>
  <p:cm authorId="1" dt="2025-12-05T16:01:48.960" idx="166">
    <p:pos x="3297" y="3645"/>
    <p:text>аналогично описанному в строке выше</p:text>
    <p:extLst mod="1">
      <p:ext uri="{C676402C-5697-4E1C-873F-D02D1690AC5C}">
        <p15:threadingInfo xmlns:p15="http://schemas.microsoft.com/office/powerpoint/2012/main" timeZoneBias="-720"/>
      </p:ext>
    </p:extLst>
  </p:cm>
  <p:cm authorId="1" dt="2025-12-05T16:01:58.245" idx="167">
    <p:pos x="3691" y="3216"/>
    <p:text>аналогично описанному в строке выше</p:text>
    <p:extLst>
      <p:ext uri="{C676402C-5697-4E1C-873F-D02D1690AC5C}">
        <p15:threadingInfo xmlns:p15="http://schemas.microsoft.com/office/powerpoint/2012/main" timeZoneBias="-720"/>
      </p:ext>
    </p:extLst>
  </p:cm>
  <p:cm authorId="1" dt="2025-12-05T16:02:06.625" idx="168">
    <p:pos x="3714" y="3696"/>
    <p:text>аналогично описанному в строке выше</p:text>
    <p:extLst>
      <p:ext uri="{C676402C-5697-4E1C-873F-D02D1690AC5C}">
        <p15:threadingInfo xmlns:p15="http://schemas.microsoft.com/office/powerpoint/2012/main" timeZoneBias="-720"/>
      </p:ext>
    </p:extLst>
  </p:cm>
  <p:cm authorId="1" dt="2025-12-05T16:05:05.999" idx="169">
    <p:pos x="3003" y="6191"/>
    <p:text>при нажатии отправка карточки коллеге  через строку поиск - на выбор (метку или ссылку, как лучше?- при нажатии на которую получатель откроет ее просмотр , также в мессенджер ссылкой или служебную (на личную нельзя) почту.</p:text>
    <p:extLst mod="1">
      <p:ext uri="{C676402C-5697-4E1C-873F-D02D1690AC5C}">
        <p15:threadingInfo xmlns:p15="http://schemas.microsoft.com/office/powerpoint/2012/main" timeZoneBias="-720"/>
      </p:ext>
    </p:extLst>
  </p:cm>
  <p:cm authorId="1" dt="2025-12-05T16:19:46.782" idx="170">
    <p:pos x="1656" y="432"/>
    <p:text>аналогично как в "обсуждаемых и согласованных" отображаются все карточки в данном статусе</p:text>
    <p:extLst>
      <p:ext uri="{C676402C-5697-4E1C-873F-D02D1690AC5C}">
        <p15:threadingInfo xmlns:p15="http://schemas.microsoft.com/office/powerpoint/2012/main" timeZoneBias="-720"/>
      </p:ext>
    </p:extLst>
  </p:cm>
  <p:cm authorId="1" dt="2025-12-05T16:21:09.734" idx="171">
    <p:pos x="2870" y="442"/>
    <p:text>аналогично как в "обсуждаемых и согласованных" отображаются все карточки в данном статусе</p:text>
    <p:extLst>
      <p:ext uri="{C676402C-5697-4E1C-873F-D02D1690AC5C}">
        <p15:threadingInfo xmlns:p15="http://schemas.microsoft.com/office/powerpoint/2012/main" timeZoneBias="-720"/>
      </p:ext>
    </p:extLst>
  </p:cm>
  <p:cm authorId="1" dt="2025-12-05T16:21:27.051" idx="172">
    <p:pos x="499" y="46"/>
    <p:text>кнопку "вернуться" на предидущую страницу</p:text>
    <p:extLst mod="1">
      <p:ext uri="{C676402C-5697-4E1C-873F-D02D1690AC5C}">
        <p15:threadingInfo xmlns:p15="http://schemas.microsoft.com/office/powerpoint/2012/main" timeZoneBias="-720"/>
      </p:ext>
    </p:extLst>
  </p:cm>
  <p:cm authorId="1" dt="2025-12-10T16:59:32.469" idx="225">
    <p:pos x="2212" y="3898"/>
    <p:text>при нажатии "отправить на голосование" карточку можно отправить любому работнику (через строку "поиск) своего предприятия для согласования, после нажатия становится активно вверху справа окно "поиск" с мигающим курсором, где можно найти коллегу своего предприятия по ключ словам - ФИО, должности, отделу) и переслать карточку (у получившего-СЛАЙД 13), где он ставит отметку "да" или "нет", после чего  появляется у отправителя надпись-ссылка в карточке "согласовано" или отказано (при нажатии на которую отобразится дата, время, должн, отдел, фио согласовавшего,и его комментарии при согласии или отказе</p:text>
    <p:extLst>
      <p:ext uri="{C676402C-5697-4E1C-873F-D02D1690AC5C}">
        <p15:threadingInfo xmlns:p15="http://schemas.microsoft.com/office/powerpoint/2012/main" timeZoneBias="-720"/>
      </p:ext>
    </p:extLst>
  </p:cm>
  <p:cm authorId="1" dt="2025-12-18T15:55:56.464" idx="269">
    <p:pos x="3855" y="6708"/>
    <p:text>страница карточки идей из базы предложений, где авторам можно дорабатывать свою идею добавляя новые данные (но не удаляя старые записи и файлы), с возможностью отправки коллегам на согласование. коллеги имеют возможность комментировать ("комментарии") и голосовать за  новую редакцию. после согласования отображается индикация надпись "редакция 2" (нумерация до 100)</p:text>
    <p:extLst>
      <p:ext uri="{C676402C-5697-4E1C-873F-D02D1690AC5C}">
        <p15:threadingInfo xmlns:p15="http://schemas.microsoft.com/office/powerpoint/2012/main" timeZoneBias="-720"/>
      </p:ext>
    </p:extLst>
  </p:cm>
  <p:cm authorId="1" dt="2025-12-18T16:07:18.601" idx="270">
    <p:pos x="2356" y="1152"/>
    <p:text>после согласования отображается индикация кнопка-надпись "редакция 2" (нумерация от 1 до 100). При нажатии на нее появляется поле со списком всех редакций с возможностью их прокрутки вверх-вниз и просмотра данной редакции-нажав на выбранную редакцию. каждая редакция карточки сохраняется в базе (от 1 до последней, чтобы понимать ход ее изменений)</p:text>
    <p:extLst>
      <p:ext uri="{C676402C-5697-4E1C-873F-D02D1690AC5C}">
        <p15:threadingInfo xmlns:p15="http://schemas.microsoft.com/office/powerpoint/2012/main" timeZoneBias="-720"/>
      </p:ext>
    </p:extLst>
  </p:cm>
  <p:cm authorId="1" dt="2025-12-18T16:10:14.990" idx="271">
    <p:pos x="3560" y="5647"/>
    <p:text>значок "Сохранить"(галочкой или каким лучше) для сохранения новой редакции</p:text>
    <p:extLst>
      <p:ext uri="{C676402C-5697-4E1C-873F-D02D1690AC5C}">
        <p15:threadingInfo xmlns:p15="http://schemas.microsoft.com/office/powerpoint/2012/main" timeZoneBias="-720"/>
      </p:ext>
    </p:extLst>
  </p:cm>
  <p:cm authorId="1" dt="2025-12-18T17:17:56.635" idx="275">
    <p:pos x="2932" y="3929"/>
    <p:text>после отправки на согласование высвечивается надпись "на согласовании", исчезает после возврата карточки (из слайда 13, после нажания на " вернуть карточку"</p:text>
    <p:extLst>
      <p:ext uri="{C676402C-5697-4E1C-873F-D02D1690AC5C}">
        <p15:threadingInfo xmlns:p15="http://schemas.microsoft.com/office/powerpoint/2012/main" timeZoneBias="-720"/>
      </p:ext>
    </p:extLst>
  </p:cm>
</p:cmLst>
</file>

<file path=ppt/comments/comment13.xml><?xml version="1.0" encoding="utf-8"?>
<p:cmLst xmlns:a="http://schemas.openxmlformats.org/drawingml/2006/main" xmlns:r="http://schemas.openxmlformats.org/officeDocument/2006/relationships" xmlns:p="http://schemas.openxmlformats.org/presentationml/2006/main">
  <p:cm authorId="1" dt="2025-03-06T17:54:55.454" idx="38">
    <p:pos x="259" y="392"/>
    <p:text>отображаются все карточки идеи нах-ся в статусах "обсуждение и рассмотрение до принятия или отказа в статусе "обсуждаемые"</p:text>
    <p:extLst mod="1">
      <p:ext uri="{C676402C-5697-4E1C-873F-D02D1690AC5C}">
        <p15:threadingInfo xmlns:p15="http://schemas.microsoft.com/office/powerpoint/2012/main" timeZoneBias="-720"/>
      </p:ext>
    </p:extLst>
  </p:cm>
  <p:cm authorId="1" dt="2025-04-19T14:49:51.147" idx="107">
    <p:pos x="259" y="528"/>
    <p:text>при открытии вначале появляется списком, ввиде строк текст с ключевой информацией поданных карточек. при нажатии на строку открывается карточка (как на рисунке)</p:text>
    <p:extLst mod="1">
      <p:ext uri="{C676402C-5697-4E1C-873F-D02D1690AC5C}">
        <p15:threadingInfo xmlns:p15="http://schemas.microsoft.com/office/powerpoint/2012/main" timeZoneBias="-720">
          <p15:parentCm authorId="1" idx="38"/>
        </p15:threadingInfo>
      </p:ext>
    </p:extLst>
  </p:cm>
  <p:cm authorId="1" dt="2025-04-19T14:52:20.548" idx="108">
    <p:pos x="3707" y="1842"/>
    <p:text>значок скрепки-при нажатии отображаются все  прикрепленные к данной строке файлы ( с указ долж и ФИО того кто приложил)</p:text>
    <p:extLst mod="1">
      <p:ext uri="{C676402C-5697-4E1C-873F-D02D1690AC5C}">
        <p15:threadingInfo xmlns:p15="http://schemas.microsoft.com/office/powerpoint/2012/main" timeZoneBias="-720"/>
      </p:ext>
    </p:extLst>
  </p:cm>
  <p:cm authorId="1" dt="2025-12-05T14:52:55.047" idx="147">
    <p:pos x="3621" y="1183"/>
    <p:text>данная надпись на желтом фоне если подано анонимно. Если публично надписей нет</p:text>
    <p:extLst mod="1">
      <p:ext uri="{C676402C-5697-4E1C-873F-D02D1690AC5C}">
        <p15:threadingInfo xmlns:p15="http://schemas.microsoft.com/office/powerpoint/2012/main" timeZoneBias="-720"/>
      </p:ext>
    </p:extLst>
  </p:cm>
  <p:cm authorId="1" dt="2025-12-05T14:54:35.086" idx="148">
    <p:pos x="2551" y="761"/>
    <p:text>дата и время подачи идеи в данной карточке</p:text>
    <p:extLst mod="1">
      <p:ext uri="{C676402C-5697-4E1C-873F-D02D1690AC5C}">
        <p15:threadingInfo xmlns:p15="http://schemas.microsoft.com/office/powerpoint/2012/main" timeZoneBias="-720"/>
      </p:ext>
    </p:extLst>
  </p:cm>
  <p:cm authorId="1" dt="2025-12-05T15:09:04.315" idx="151">
    <p:pos x="783" y="4258"/>
    <p:text>отображаются все комментарии, и того, кто открыл данную карточку.</p:text>
    <p:extLst mod="1">
      <p:ext uri="{C676402C-5697-4E1C-873F-D02D1690AC5C}">
        <p15:threadingInfo xmlns:p15="http://schemas.microsoft.com/office/powerpoint/2012/main" timeZoneBias="-720"/>
      </p:ext>
    </p:extLst>
  </p:cm>
  <p:cm authorId="1" dt="2025-12-05T15:10:48.533" idx="152">
    <p:pos x="3656" y="122"/>
    <p:text>значок техподдержки (сам значок любой, тот что лучше соответствует по смыслу техподдержки. можно написать о проблеме</p:text>
    <p:extLst>
      <p:ext uri="{C676402C-5697-4E1C-873F-D02D1690AC5C}">
        <p15:threadingInfo xmlns:p15="http://schemas.microsoft.com/office/powerpoint/2012/main" timeZoneBias="-720"/>
      </p:ext>
    </p:extLst>
  </p:cm>
  <p:cm authorId="1" dt="2025-12-05T15:54:08.329" idx="160">
    <p:pos x="3313" y="1864"/>
    <p:text>при нажатии открывается поле с общим текстом от всех кто вносил в данную строку "проблема"свой текст(дополнения) с отображением отдела, должности и ФИО того кто писал. Как свернуть поле после просмотра?</p:text>
    <p:extLst mod="1">
      <p:ext uri="{C676402C-5697-4E1C-873F-D02D1690AC5C}">
        <p15:threadingInfo xmlns:p15="http://schemas.microsoft.com/office/powerpoint/2012/main" timeZoneBias="-720"/>
      </p:ext>
    </p:extLst>
  </p:cm>
  <p:cm authorId="1" dt="2025-12-05T16:01:26.015" idx="163">
    <p:pos x="3225" y="2856"/>
    <p:text>аналогично описанному в строке выше</p:text>
    <p:extLst>
      <p:ext uri="{C676402C-5697-4E1C-873F-D02D1690AC5C}">
        <p15:threadingInfo xmlns:p15="http://schemas.microsoft.com/office/powerpoint/2012/main" timeZoneBias="-720"/>
      </p:ext>
    </p:extLst>
  </p:cm>
  <p:cm authorId="1" dt="2025-12-05T16:01:34.469" idx="164">
    <p:pos x="3606" y="2781"/>
    <p:text>аналогично описанному в строке выше</p:text>
    <p:extLst>
      <p:ext uri="{C676402C-5697-4E1C-873F-D02D1690AC5C}">
        <p15:threadingInfo xmlns:p15="http://schemas.microsoft.com/office/powerpoint/2012/main" timeZoneBias="-720"/>
      </p:ext>
    </p:extLst>
  </p:cm>
  <p:cm authorId="1" dt="2025-12-05T16:01:42.048" idx="165">
    <p:pos x="3211" y="3234"/>
    <p:text>аналогично описанному в строке выше</p:text>
    <p:extLst>
      <p:ext uri="{C676402C-5697-4E1C-873F-D02D1690AC5C}">
        <p15:threadingInfo xmlns:p15="http://schemas.microsoft.com/office/powerpoint/2012/main" timeZoneBias="-720"/>
      </p:ext>
    </p:extLst>
  </p:cm>
  <p:cm authorId="1" dt="2025-12-05T16:01:48.960" idx="166">
    <p:pos x="3337" y="3666"/>
    <p:text>аналогично описанному в строке выше</p:text>
    <p:extLst mod="1">
      <p:ext uri="{C676402C-5697-4E1C-873F-D02D1690AC5C}">
        <p15:threadingInfo xmlns:p15="http://schemas.microsoft.com/office/powerpoint/2012/main" timeZoneBias="-720"/>
      </p:ext>
    </p:extLst>
  </p:cm>
  <p:cm authorId="1" dt="2025-12-05T16:01:58.245" idx="167">
    <p:pos x="3691" y="3216"/>
    <p:text>аналогично описанному в строке выше</p:text>
    <p:extLst>
      <p:ext uri="{C676402C-5697-4E1C-873F-D02D1690AC5C}">
        <p15:threadingInfo xmlns:p15="http://schemas.microsoft.com/office/powerpoint/2012/main" timeZoneBias="-720"/>
      </p:ext>
    </p:extLst>
  </p:cm>
  <p:cm authorId="1" dt="2025-12-05T16:02:06.625" idx="168">
    <p:pos x="3714" y="3696"/>
    <p:text>аналогично описанному в строке выше</p:text>
    <p:extLst>
      <p:ext uri="{C676402C-5697-4E1C-873F-D02D1690AC5C}">
        <p15:threadingInfo xmlns:p15="http://schemas.microsoft.com/office/powerpoint/2012/main" timeZoneBias="-720"/>
      </p:ext>
    </p:extLst>
  </p:cm>
  <p:cm authorId="1" dt="2025-12-05T16:19:46.782" idx="170">
    <p:pos x="2633" y="360"/>
    <p:text>аналогично как в "обсуждаемых и согласованных" отображаются все карточки в данном статусе</p:text>
    <p:extLst mod="1">
      <p:ext uri="{C676402C-5697-4E1C-873F-D02D1690AC5C}">
        <p15:threadingInfo xmlns:p15="http://schemas.microsoft.com/office/powerpoint/2012/main" timeZoneBias="-720"/>
      </p:ext>
    </p:extLst>
  </p:cm>
  <p:cm authorId="1" dt="2025-12-05T16:21:09.734" idx="171">
    <p:pos x="3641" y="442"/>
    <p:text>аналогично как в "обсуждаемых и согласованных" отображаются все карточки от всех (отказ и выполненные успешно и неуспешно) в данном статусе</p:text>
    <p:extLst mod="1">
      <p:ext uri="{C676402C-5697-4E1C-873F-D02D1690AC5C}">
        <p15:threadingInfo xmlns:p15="http://schemas.microsoft.com/office/powerpoint/2012/main" timeZoneBias="-720"/>
      </p:ext>
    </p:extLst>
  </p:cm>
  <p:cm authorId="1" dt="2025-12-05T16:21:27.051" idx="172">
    <p:pos x="417" y="35"/>
    <p:text>кнопку "вернуться" на предидущую страницу</p:text>
    <p:extLst mod="1">
      <p:ext uri="{C676402C-5697-4E1C-873F-D02D1690AC5C}">
        <p15:threadingInfo xmlns:p15="http://schemas.microsoft.com/office/powerpoint/2012/main" timeZoneBias="-720"/>
      </p:ext>
    </p:extLst>
  </p:cm>
  <p:cm authorId="1" dt="2025-12-10T16:59:32.469" idx="225">
    <p:pos x="2140" y="3919"/>
    <p:text>при нажатии "отправить на голосование" карточку можно отправить любому работнику предприятия для согласования, после нажатия становится активно справа окно "поиск" с мигающим курсором, где можно найти коллегу своего предприятия по ключ словам - ФИО, должности, отделу) и переслать карточку, где тот ставит отметку "согласовано" или "отказ", после чего  выделяется ниже кнопка цветом и контуром"вернуть карточку". Но получивший данную карточку на согласование может также отправить на согласование ее еще кому либо также через строку "поиск"( у получившего алгоритм аналогичен вплоть до вернуть карточку У отправителя в вернувшейся карточке появляется надпись-ссылка в карточке "согласовано" или отказано (при нажатии на которую отобразится дата, время, должн, отдел, фио согласовавшего,и его комментарии при согласии или отказе.</p:text>
    <p:extLst>
      <p:ext uri="{C676402C-5697-4E1C-873F-D02D1690AC5C}">
        <p15:threadingInfo xmlns:p15="http://schemas.microsoft.com/office/powerpoint/2012/main" timeZoneBias="-720"/>
      </p:ext>
    </p:extLst>
  </p:cm>
  <p:cm authorId="1" dt="2025-12-10T17:26:27.258" idx="226">
    <p:pos x="1152" y="4783"/>
    <p:text>получивший на согласование в квадратном поле справа от надписей "Согласовано" или "отказ" нажатием ставит отметку (галочку), и нажав на текст "мой комментарий" появится окно-поле с текстовым вводом, где согласовант пишет свои пояснения.</p:text>
    <p:extLst>
      <p:ext uri="{C676402C-5697-4E1C-873F-D02D1690AC5C}">
        <p15:threadingInfo xmlns:p15="http://schemas.microsoft.com/office/powerpoint/2012/main" timeZoneBias="-720"/>
      </p:ext>
    </p:extLst>
  </p:cm>
  <p:cm authorId="1" dt="2025-12-10T17:45:01.892" idx="227">
    <p:pos x="710" y="5482"/>
    <p:text>аналогично вышеописанному в "Согласовано"</p:text>
    <p:extLst>
      <p:ext uri="{C676402C-5697-4E1C-873F-D02D1690AC5C}">
        <p15:threadingInfo xmlns:p15="http://schemas.microsoft.com/office/powerpoint/2012/main" timeZoneBias="-720"/>
      </p:ext>
    </p:extLst>
  </p:cm>
  <p:cm authorId="1" dt="2025-12-10T17:45:41.377" idx="228">
    <p:pos x="3302" y="6316"/>
    <p:text>после того как подписант поставил отметку в согласовано или отказ (одновременно везде нельзя поставить отметки-только в одном поле-согласовано или отказ, данная кнопк выделяется цветом (другим или ярче) с более жирным контуром кнопки по периметру. У руководителя авторов идеи данная кнопка не активна или отсутствует, как лучше? им возвращать некому если они инициаторы</p:text>
    <p:extLst>
      <p:ext uri="{C676402C-5697-4E1C-873F-D02D1690AC5C}">
        <p15:threadingInfo xmlns:p15="http://schemas.microsoft.com/office/powerpoint/2012/main" timeZoneBias="-720"/>
      </p:ext>
    </p:extLst>
  </p:cm>
  <p:cm authorId="1" dt="2025-12-10T19:24:26.246" idx="229">
    <p:pos x="2931" y="3852"/>
    <p:text>после выбора фио адресата нажимаем кнопку "отправить" (можно отобразить значком другого вида) Это если получившему карточку  требуется перед своим принятием решения (согласовано или отказ) направить еще кому либо для согласования. Пока коллега рассматривает и принимает решение (оно может затянуться на день и более) его карточка хранится как черновик в кэше или папке, как лучше? После получения обратно карточки с согласованием или отказом коллеги, получивший ставит свои отметки (согласовано или отказать, кнопку сохранить) и далее нажимает "вернуть карточку" тому, кто ее прислал на согласование</p:text>
    <p:extLst>
      <p:ext uri="{C676402C-5697-4E1C-873F-D02D1690AC5C}">
        <p15:threadingInfo xmlns:p15="http://schemas.microsoft.com/office/powerpoint/2012/main" timeZoneBias="-720"/>
      </p:ext>
    </p:extLst>
  </p:cm>
  <p:cm authorId="1" dt="2025-12-13T09:12:32.123" idx="232">
    <p:pos x="2756" y="5976"/>
    <p:text>ссылка-при нажатии открыв окно или список ниже всех кто согласовал или отказал данной идее с их комментариями. выход из окна кнопка назад или тапнуть? как лучше?</p:text>
    <p:extLst>
      <p:ext uri="{C676402C-5697-4E1C-873F-D02D1690AC5C}">
        <p15:threadingInfo xmlns:p15="http://schemas.microsoft.com/office/powerpoint/2012/main" timeZoneBias="-720"/>
      </p:ext>
    </p:extLst>
  </p:cm>
  <p:cm authorId="1" dt="2025-12-18T17:09:37.398" idx="273">
    <p:pos x="3549" y="987"/>
    <p:text>поиск по фио, долж и тд тем кому отправить на согласование</p:text>
    <p:extLst>
      <p:ext uri="{C676402C-5697-4E1C-873F-D02D1690AC5C}">
        <p15:threadingInfo xmlns:p15="http://schemas.microsoft.com/office/powerpoint/2012/main" timeZoneBias="-720"/>
      </p:ext>
    </p:extLst>
  </p:cm>
  <p:cm authorId="1" dt="2025-12-18T17:12:11.584" idx="274">
    <p:pos x="2541" y="6449"/>
    <p:text>получатель карточки может сохранить внеснную информацию для последующего редактирования перед отправкой(если ему потребуется доп. время для согласования), при этом у отправителя в карточке (слайд 12) будет отображаться статус "на рассмотрении". после возврата карточки статус исчезает</p:text>
    <p:extLst>
      <p:ext uri="{C676402C-5697-4E1C-873F-D02D1690AC5C}">
        <p15:threadingInfo xmlns:p15="http://schemas.microsoft.com/office/powerpoint/2012/main" timeZoneBias="-720"/>
      </p:ext>
    </p:extLst>
  </p:cm>
  <p:cm authorId="1" dt="2025-12-18T17:51:58.768" idx="276">
    <p:pos x="3997" y="6937"/>
    <p:text>вид карточки у получившего на согласование (отказать или согласовать). Может перед этим также отправить любому работнику на согласование, получив обратно согласовать или отказать и вернуть карточку отправителю. индикация номера редакции карточки</p:text>
    <p:extLst>
      <p:ext uri="{C676402C-5697-4E1C-873F-D02D1690AC5C}">
        <p15:threadingInfo xmlns:p15="http://schemas.microsoft.com/office/powerpoint/2012/main" timeZoneBias="-720"/>
      </p:ext>
    </p:extLst>
  </p:cm>
</p:cmLst>
</file>

<file path=ppt/comments/comment14.xml><?xml version="1.0" encoding="utf-8"?>
<p:cmLst xmlns:a="http://schemas.openxmlformats.org/drawingml/2006/main" xmlns:r="http://schemas.openxmlformats.org/officeDocument/2006/relationships" xmlns:p="http://schemas.openxmlformats.org/presentationml/2006/main">
  <p:cm authorId="1" dt="2025-03-06T17:54:55.454" idx="38">
    <p:pos x="259" y="392"/>
    <p:text>При открытии страницы "База предложений" первоначально попадаем на вкладку "Обсуждаемые и согласованные". При этом сама кнопка выделяется рамкой (или лучше большей яркостью свечения по сравнению с зеленой и красной, как лучше по вашему? ). Отображаются ниже списком  только карточки идей, нах-ся в статусах "обсуждаемые и согласованные"</p:text>
    <p:extLst mod="1">
      <p:ext uri="{C676402C-5697-4E1C-873F-D02D1690AC5C}">
        <p15:threadingInfo xmlns:p15="http://schemas.microsoft.com/office/powerpoint/2012/main" timeZoneBias="-720"/>
      </p:ext>
    </p:extLst>
  </p:cm>
  <p:cm authorId="1" dt="2025-04-19T14:49:51.147" idx="107">
    <p:pos x="259" y="528"/>
    <p:text>при открытии вначале появляется списком, в виде строк текст с ключевой информацией поданных карточек. при нажатии на строку открывается карточка (как на рисунке)</p:text>
    <p:extLst mod="1">
      <p:ext uri="{C676402C-5697-4E1C-873F-D02D1690AC5C}">
        <p15:threadingInfo xmlns:p15="http://schemas.microsoft.com/office/powerpoint/2012/main" timeZoneBias="-720">
          <p15:parentCm authorId="1" idx="38"/>
        </p15:threadingInfo>
      </p:ext>
    </p:extLst>
  </p:cm>
  <p:cm authorId="1" dt="2025-12-03T17:19:57.998" idx="140">
    <p:pos x="1502" y="401"/>
    <p:text>вкладка зеленого цвета. Открываются списком карточки только в данном статусе Все работает  аналогично предидущей вкладке</p:text>
    <p:extLst>
      <p:ext uri="{C676402C-5697-4E1C-873F-D02D1690AC5C}">
        <p15:threadingInfo xmlns:p15="http://schemas.microsoft.com/office/powerpoint/2012/main" timeZoneBias="-720"/>
      </p:ext>
    </p:extLst>
  </p:cm>
  <p:cm authorId="1" dt="2025-12-03T17:20:22.411" idx="141">
    <p:pos x="2952" y="473"/>
    <p:text>кнопка вкладка красного цвета. при нажатии списком появляются все идеи из архива, со статусом отказ. Все работает  аналогично предидущим вкладкам.</p:text>
    <p:extLst>
      <p:ext uri="{C676402C-5697-4E1C-873F-D02D1690AC5C}">
        <p15:threadingInfo xmlns:p15="http://schemas.microsoft.com/office/powerpoint/2012/main" timeZoneBias="-720"/>
      </p:ext>
    </p:extLst>
  </p:cm>
  <p:cm authorId="1" dt="2025-12-03T17:21:42.195" idx="142">
    <p:pos x="3271" y="1091"/>
    <p:text>поиск по номеру идеи, ее дате, ФИО, ключевым словам с карточки идеи (из строки "Идея, предложение"</p:text>
    <p:extLst>
      <p:ext uri="{C676402C-5697-4E1C-873F-D02D1690AC5C}">
        <p15:threadingInfo xmlns:p15="http://schemas.microsoft.com/office/powerpoint/2012/main" timeZoneBias="-720"/>
      </p:ext>
    </p:extLst>
  </p:cm>
  <p:cm authorId="1" dt="2025-12-03T17:41:52.917" idx="143">
    <p:pos x="3103" y="6582"/>
    <p:text>кнопка "Поделиться" . После длит нажатия на выбранную строку кнопку данная кнопка выделяется (рамкой или яркостью, как лучше?), и после нажатия на нее переходим на адресный поиск коллег, где можно по ФИО сделать выбр , после выбора появляется 2 варианта отправки-значки "Сообщение"-в чат мессенджера нашего приложения (как в смс? ) и "почта" (значок электронки типовой, как в мессенджерах)</p:text>
    <p:extLst mod="1">
      <p:ext uri="{C676402C-5697-4E1C-873F-D02D1690AC5C}">
        <p15:threadingInfo xmlns:p15="http://schemas.microsoft.com/office/powerpoint/2012/main" timeZoneBias="-720"/>
      </p:ext>
    </p:extLst>
  </p:cm>
  <p:cm authorId="1" dt="2025-12-05T12:08:43.913" idx="144">
    <p:pos x="2427" y="2159"/>
    <p:text>отображается статус карточки в правом верхнем углу строки-кнопки</p:text>
    <p:extLst mod="1">
      <p:ext uri="{C676402C-5697-4E1C-873F-D02D1690AC5C}">
        <p15:threadingInfo xmlns:p15="http://schemas.microsoft.com/office/powerpoint/2012/main" timeZoneBias="-720"/>
      </p:ext>
    </p:extLst>
  </p:cm>
  <p:cm authorId="1" dt="2025-12-05T12:12:51.172" idx="146">
    <p:pos x="2366" y="2510"/>
    <p:text>при поданной при создании карточки "Анонимно" отображается данная надпись на всех карточках во всех статусах (вверху посередине строки-кнопки)</p:text>
    <p:extLst mod="1">
      <p:ext uri="{C676402C-5697-4E1C-873F-D02D1690AC5C}">
        <p15:threadingInfo xmlns:p15="http://schemas.microsoft.com/office/powerpoint/2012/main" timeZoneBias="-720"/>
      </p:ext>
    </p:extLst>
  </p:cm>
  <p:cm authorId="1" dt="2025-12-06T17:21:50.728" idx="217">
    <p:pos x="3096" y="6131"/>
    <p:text>переход на слайд 34, где можно просмотреть все идеи в данном статусе "исполняемые, в работе" среди трех  адресатов (наше предпр, смежные и клиенты)</p:text>
    <p:extLst>
      <p:ext uri="{C676402C-5697-4E1C-873F-D02D1690AC5C}">
        <p15:threadingInfo xmlns:p15="http://schemas.microsoft.com/office/powerpoint/2012/main" timeZoneBias="-720"/>
      </p:ext>
    </p:extLst>
  </p:cm>
  <p:cm authorId="1" dt="2025-12-13T09:36:00.684" idx="233">
    <p:pos x="525" y="6594"/>
    <p:text>любой работник может внести еще предложение по улучшению исполняемого. Для этого при нажатии активируется строка "поиск" (вверху справа), где можно найти требующее корректировки предложение по ключ данным (долж, фио и тд) или с помощью нажатий на ссылки , строки-кнопки или полосы прокрутки.  Выбрав нужную строку исполняемой идеи  нажатием на нее, открываем карточку(следующ слайд 15), и нажимаем текст-ссылку "предложения по корректировке, где после открытия поля вносим в него текст, -выйдя с поля (стрелкой назад лучше или как?) текст сохраняется</p:text>
    <p:extLst>
      <p:ext uri="{C676402C-5697-4E1C-873F-D02D1690AC5C}">
        <p15:threadingInfo xmlns:p15="http://schemas.microsoft.com/office/powerpoint/2012/main" timeZoneBias="-720"/>
      </p:ext>
    </p:extLst>
  </p:cm>
  <p:cm authorId="1" dt="2025-12-13T09:39:14.320" idx="234">
    <p:pos x="4018" y="4372"/>
    <p:text>На всех страницах сайта где не входит инф-ция более чем на весь экран полоса прокрутки вверх-вниз (на ваше усмотрение как лучше в любом месте экрана, в любой удобной пользователю форме</p:text>
    <p:extLst>
      <p:ext uri="{C676402C-5697-4E1C-873F-D02D1690AC5C}">
        <p15:threadingInfo xmlns:p15="http://schemas.microsoft.com/office/powerpoint/2012/main" timeZoneBias="-720"/>
      </p:ext>
    </p:extLst>
  </p:cm>
  <p:cm authorId="1" dt="2025-12-18T18:43:16.694" idx="277">
    <p:pos x="2345" y="4947"/>
    <p:text>переход на слайд 35, но отображаются списком и открываются карточки только в данном статусе "исполняемые, в работе" от клиентов</p:text>
    <p:extLst>
      <p:ext uri="{C676402C-5697-4E1C-873F-D02D1690AC5C}">
        <p15:threadingInfo xmlns:p15="http://schemas.microsoft.com/office/powerpoint/2012/main" timeZoneBias="-720"/>
      </p:ext>
    </p:extLst>
  </p:cm>
  <p:cm authorId="1" dt="2025-12-18T18:44:51.279" idx="278">
    <p:pos x="2675" y="5523"/>
    <p:text>аналогично "клиентам" на сайт 35 от смежных предприятий</p:text>
    <p:extLst>
      <p:ext uri="{C676402C-5697-4E1C-873F-D02D1690AC5C}">
        <p15:threadingInfo xmlns:p15="http://schemas.microsoft.com/office/powerpoint/2012/main" timeZoneBias="-720"/>
      </p:ext>
    </p:extLst>
  </p:cm>
  <p:cm authorId="1" dt="2025-12-18T18:51:57.017" idx="279">
    <p:pos x="3470" y="6607"/>
    <p:text>можно выбрать нужную карточку , нажав на кнопку "поделиться с коллегами" отправить,выбрав в адресной строке</p:text>
    <p:extLst>
      <p:ext uri="{C676402C-5697-4E1C-873F-D02D1690AC5C}">
        <p15:threadingInfo xmlns:p15="http://schemas.microsoft.com/office/powerpoint/2012/main" timeZoneBias="-720"/>
      </p:ext>
    </p:extLst>
  </p:cm>
  <p:cm authorId="1" dt="2025-12-18T18:53:52.633" idx="280">
    <p:pos x="4120" y="7149"/>
    <p:text>страница где можно идеи в данном статусе "исполняемые, в работе" просматривать , делиться с коллегами и добавлять свои предложения в карточки, которые отображаются в строке текста "предложения по корректировке слайда 15"</p:text>
    <p:extLst>
      <p:ext uri="{C676402C-5697-4E1C-873F-D02D1690AC5C}">
        <p15:threadingInfo xmlns:p15="http://schemas.microsoft.com/office/powerpoint/2012/main" timeZoneBias="-720"/>
      </p:ext>
    </p:extLst>
  </p:cm>
</p:cmLst>
</file>

<file path=ppt/comments/comment15.xml><?xml version="1.0" encoding="utf-8"?>
<p:cmLst xmlns:a="http://schemas.openxmlformats.org/drawingml/2006/main" xmlns:r="http://schemas.openxmlformats.org/officeDocument/2006/relationships" xmlns:p="http://schemas.openxmlformats.org/presentationml/2006/main">
  <p:cm authorId="1" dt="2025-04-19T14:52:20.548" idx="108">
    <p:pos x="3707" y="1842"/>
    <p:text>значок скрепки-при нажатии отображаются все  прикрепленные к данной строке файлы ( с указ долж и ФИО того кто приложил)</p:text>
    <p:extLst mod="1">
      <p:ext uri="{C676402C-5697-4E1C-873F-D02D1690AC5C}">
        <p15:threadingInfo xmlns:p15="http://schemas.microsoft.com/office/powerpoint/2012/main" timeZoneBias="-720"/>
      </p:ext>
    </p:extLst>
  </p:cm>
  <p:cm authorId="1" dt="2025-12-05T14:52:55.047" idx="147">
    <p:pos x="2695" y="1265"/>
    <p:text>данная надпись на желтом фоне если подано анонимно. Если публично надписей нет</p:text>
    <p:extLst>
      <p:ext uri="{C676402C-5697-4E1C-873F-D02D1690AC5C}">
        <p15:threadingInfo xmlns:p15="http://schemas.microsoft.com/office/powerpoint/2012/main" timeZoneBias="-720"/>
      </p:ext>
    </p:extLst>
  </p:cm>
  <p:cm authorId="1" dt="2025-12-05T14:54:35.086" idx="148">
    <p:pos x="833" y="915"/>
    <p:text>дата и время подачи идеи в данной карточке</p:text>
    <p:extLst>
      <p:ext uri="{C676402C-5697-4E1C-873F-D02D1690AC5C}">
        <p15:threadingInfo xmlns:p15="http://schemas.microsoft.com/office/powerpoint/2012/main" timeZoneBias="-720"/>
      </p:ext>
    </p:extLst>
  </p:cm>
  <p:cm authorId="1" dt="2025-12-05T14:59:54.357" idx="149">
    <p:pos x="3199" y="4917"/>
    <p:text>в карточках со статусом "Согласовано" появляется дата, время, должность и ФИО руководителя, согласовавшего карточку идеи. В карточках статуса "Обсуждаемые" этой строки нет. в карточках с отказавшим статусом  на вкладке "АРХИВ" на месте "согласовано" надпись "Отказ", дата, время ,должность ФИО отказавшего руководителя отдела или руководства выше по должности</p:text>
    <p:extLst mod="1">
      <p:ext uri="{C676402C-5697-4E1C-873F-D02D1690AC5C}">
        <p15:threadingInfo xmlns:p15="http://schemas.microsoft.com/office/powerpoint/2012/main" timeZoneBias="-720"/>
      </p:ext>
    </p:extLst>
  </p:cm>
  <p:cm authorId="1" dt="2025-12-05T15:08:10.890" idx="150">
    <p:pos x="1307" y="4248"/>
    <p:text>ссылка-при нажатии открывается страница или всплывающее окно со всеми комментариями коллег</p:text>
    <p:extLst mod="1">
      <p:ext uri="{C676402C-5697-4E1C-873F-D02D1690AC5C}">
        <p15:threadingInfo xmlns:p15="http://schemas.microsoft.com/office/powerpoint/2012/main" timeZoneBias="-720"/>
      </p:ext>
    </p:extLst>
  </p:cm>
  <p:cm authorId="1" dt="2025-12-05T15:09:04.315" idx="151">
    <p:pos x="1749" y="4320"/>
    <p:text>отображается комментарий того, кто открыл данную карточку. если его не было то надпись- "вашего комментария не было"</p:text>
    <p:extLst>
      <p:ext uri="{C676402C-5697-4E1C-873F-D02D1690AC5C}">
        <p15:threadingInfo xmlns:p15="http://schemas.microsoft.com/office/powerpoint/2012/main" timeZoneBias="-720"/>
      </p:ext>
    </p:extLst>
  </p:cm>
  <p:cm authorId="1" dt="2025-12-05T15:10:48.533" idx="152">
    <p:pos x="3656" y="122"/>
    <p:text>значок техподдержки (сам значок любой, тот что лучше соответствует по смыслу техподдержки. можно написать о проблеме</p:text>
    <p:extLst>
      <p:ext uri="{C676402C-5697-4E1C-873F-D02D1690AC5C}">
        <p15:threadingInfo xmlns:p15="http://schemas.microsoft.com/office/powerpoint/2012/main" timeZoneBias="-720"/>
      </p:ext>
    </p:extLst>
  </p:cm>
  <p:cm authorId="1" dt="2025-12-05T15:41:22.888" idx="153">
    <p:pos x="504" y="5419"/>
    <p:text>статистика мнений при голосовании идеи.</p:text>
    <p:extLst mod="1">
      <p:ext uri="{C676402C-5697-4E1C-873F-D02D1690AC5C}">
        <p15:threadingInfo xmlns:p15="http://schemas.microsoft.com/office/powerpoint/2012/main" timeZoneBias="-720"/>
      </p:ext>
    </p:extLst>
  </p:cm>
  <p:cm authorId="1" dt="2025-12-05T15:42:53.410" idx="154">
    <p:pos x="678" y="6098"/>
    <p:text>отображается смайлом улыбки статистика кто за идею</p:text>
    <p:extLst>
      <p:ext uri="{C676402C-5697-4E1C-873F-D02D1690AC5C}">
        <p15:threadingInfo xmlns:p15="http://schemas.microsoft.com/office/powerpoint/2012/main" timeZoneBias="-720"/>
      </p:ext>
    </p:extLst>
  </p:cm>
  <p:cm authorId="1" dt="2025-12-05T15:47:06.409" idx="155">
    <p:pos x="1234" y="5687"/>
    <p:text>суммарное количество тех кто за идею</p:text>
    <p:extLst>
      <p:ext uri="{C676402C-5697-4E1C-873F-D02D1690AC5C}">
        <p15:threadingInfo xmlns:p15="http://schemas.microsoft.com/office/powerpoint/2012/main" timeZoneBias="-720"/>
      </p:ext>
    </p:extLst>
  </p:cm>
  <p:cm authorId="1" dt="2025-12-05T15:47:41.539" idx="156">
    <p:pos x="1748" y="6133"/>
    <p:text>отображается смайлом недовольства-губы вниз, статистика кто против идеи</p:text>
    <p:extLst>
      <p:ext uri="{C676402C-5697-4E1C-873F-D02D1690AC5C}">
        <p15:threadingInfo xmlns:p15="http://schemas.microsoft.com/office/powerpoint/2012/main" timeZoneBias="-720"/>
      </p:ext>
    </p:extLst>
  </p:cm>
  <p:cm authorId="1" dt="2025-12-05T15:48:38.319" idx="157">
    <p:pos x="2016" y="5708"/>
    <p:text>суммарное количество тех кто против идеи</p:text>
    <p:extLst>
      <p:ext uri="{C676402C-5697-4E1C-873F-D02D1690AC5C}">
        <p15:threadingInfo xmlns:p15="http://schemas.microsoft.com/office/powerpoint/2012/main" timeZoneBias="-720"/>
      </p:ext>
    </p:extLst>
  </p:cm>
  <p:cm authorId="1" dt="2025-12-05T15:49:13.846" idx="158">
    <p:pos x="2892" y="5676"/>
    <p:text>суммарное количество тех кто нажал смайл "воздержался"</p:text>
    <p:extLst>
      <p:ext uri="{C676402C-5697-4E1C-873F-D02D1690AC5C}">
        <p15:threadingInfo xmlns:p15="http://schemas.microsoft.com/office/powerpoint/2012/main" timeZoneBias="-720"/>
      </p:ext>
    </p:extLst>
  </p:cm>
  <p:cm authorId="1" dt="2025-12-05T15:49:21.814" idx="159">
    <p:pos x="2572" y="6048"/>
    <p:text>смайл с прямыми губами- "воздержался"</p:text>
    <p:extLst>
      <p:ext uri="{C676402C-5697-4E1C-873F-D02D1690AC5C}">
        <p15:threadingInfo xmlns:p15="http://schemas.microsoft.com/office/powerpoint/2012/main" timeZoneBias="-720"/>
      </p:ext>
    </p:extLst>
  </p:cm>
  <p:cm authorId="1" dt="2025-12-05T15:54:08.329" idx="160">
    <p:pos x="3313" y="1864"/>
    <p:text>при нажатии открывается поле с общим текстом от всех кто вносил в данную строку свой текст с отображением должности и ФИО того кто писал</p:text>
    <p:extLst>
      <p:ext uri="{C676402C-5697-4E1C-873F-D02D1690AC5C}">
        <p15:threadingInfo xmlns:p15="http://schemas.microsoft.com/office/powerpoint/2012/main" timeZoneBias="-720"/>
      </p:ext>
    </p:extLst>
  </p:cm>
  <p:cm authorId="1" dt="2025-12-05T16:01:26.015" idx="163">
    <p:pos x="3225" y="2856"/>
    <p:text>аналогично описанному в строке выше</p:text>
    <p:extLst>
      <p:ext uri="{C676402C-5697-4E1C-873F-D02D1690AC5C}">
        <p15:threadingInfo xmlns:p15="http://schemas.microsoft.com/office/powerpoint/2012/main" timeZoneBias="-720"/>
      </p:ext>
    </p:extLst>
  </p:cm>
  <p:cm authorId="1" dt="2025-12-05T16:01:34.469" idx="164">
    <p:pos x="3606" y="2781"/>
    <p:text>аналогично описанному в строке выше</p:text>
    <p:extLst>
      <p:ext uri="{C676402C-5697-4E1C-873F-D02D1690AC5C}">
        <p15:threadingInfo xmlns:p15="http://schemas.microsoft.com/office/powerpoint/2012/main" timeZoneBias="-720"/>
      </p:ext>
    </p:extLst>
  </p:cm>
  <p:cm authorId="1" dt="2025-12-05T16:01:42.048" idx="165">
    <p:pos x="3211" y="3234"/>
    <p:text>аналогично описанному в строке выше</p:text>
    <p:extLst>
      <p:ext uri="{C676402C-5697-4E1C-873F-D02D1690AC5C}">
        <p15:threadingInfo xmlns:p15="http://schemas.microsoft.com/office/powerpoint/2012/main" timeZoneBias="-720"/>
      </p:ext>
    </p:extLst>
  </p:cm>
  <p:cm authorId="1" dt="2025-12-05T16:01:48.960" idx="166">
    <p:pos x="3214" y="3738"/>
    <p:text>аналогично описанному в строке выше</p:text>
    <p:extLst>
      <p:ext uri="{C676402C-5697-4E1C-873F-D02D1690AC5C}">
        <p15:threadingInfo xmlns:p15="http://schemas.microsoft.com/office/powerpoint/2012/main" timeZoneBias="-720"/>
      </p:ext>
    </p:extLst>
  </p:cm>
  <p:cm authorId="1" dt="2025-12-05T16:01:58.245" idx="167">
    <p:pos x="3691" y="3216"/>
    <p:text>аналогично описанному в строке выше</p:text>
    <p:extLst>
      <p:ext uri="{C676402C-5697-4E1C-873F-D02D1690AC5C}">
        <p15:threadingInfo xmlns:p15="http://schemas.microsoft.com/office/powerpoint/2012/main" timeZoneBias="-720"/>
      </p:ext>
    </p:extLst>
  </p:cm>
  <p:cm authorId="1" dt="2025-12-05T16:02:06.625" idx="168">
    <p:pos x="3714" y="3696"/>
    <p:text>аналогично описанному в строке выше</p:text>
    <p:extLst>
      <p:ext uri="{C676402C-5697-4E1C-873F-D02D1690AC5C}">
        <p15:threadingInfo xmlns:p15="http://schemas.microsoft.com/office/powerpoint/2012/main" timeZoneBias="-720"/>
      </p:ext>
    </p:extLst>
  </p:cm>
  <p:cm authorId="1" dt="2025-12-05T16:05:05.999" idx="169">
    <p:pos x="3374" y="6427"/>
    <p:text>при нажатии отправка карточки коллеге (в мессенджер или почту)</p:text>
    <p:extLst>
      <p:ext uri="{C676402C-5697-4E1C-873F-D02D1690AC5C}">
        <p15:threadingInfo xmlns:p15="http://schemas.microsoft.com/office/powerpoint/2012/main" timeZoneBias="-720"/>
      </p:ext>
    </p:extLst>
  </p:cm>
  <p:cm authorId="1" dt="2025-12-05T16:19:46.782" idx="170">
    <p:pos x="1656" y="432"/>
    <p:text>аналогично как в "обсуждаемых и согласованных" отображаются все карточки в данном статусе</p:text>
    <p:extLst>
      <p:ext uri="{C676402C-5697-4E1C-873F-D02D1690AC5C}">
        <p15:threadingInfo xmlns:p15="http://schemas.microsoft.com/office/powerpoint/2012/main" timeZoneBias="-720"/>
      </p:ext>
    </p:extLst>
  </p:cm>
  <p:cm authorId="1" dt="2025-12-05T16:21:27.051" idx="172">
    <p:pos x="633" y="169"/>
    <p:text>кнопку "вернуться" на предидущую страницу</p:text>
    <p:extLst>
      <p:ext uri="{C676402C-5697-4E1C-873F-D02D1690AC5C}">
        <p15:threadingInfo xmlns:p15="http://schemas.microsoft.com/office/powerpoint/2012/main" timeZoneBias="-720"/>
      </p:ext>
    </p:extLst>
  </p:cm>
  <p:cm authorId="1" dt="2025-12-06T17:39:10.823" idx="218">
    <p:pos x="3333" y="5226"/>
    <p:text>строка-переход, отображается у руководителя автора- отдела для последующего заполнения карточки-отчета-слайд 16</p:text>
    <p:extLst>
      <p:ext uri="{C676402C-5697-4E1C-873F-D02D1690AC5C}">
        <p15:threadingInfo xmlns:p15="http://schemas.microsoft.com/office/powerpoint/2012/main" timeZoneBias="-720"/>
      </p:ext>
    </p:extLst>
  </p:cm>
  <p:cm authorId="1" dt="2025-12-10T16:51:27.450" idx="224">
    <p:pos x="206" y="3981"/>
    <p:text>при нажатии на ссылку открывается страница с возм возврата назад (или сделать кнопку с открытием плав окна-как лучше?) открывается список лиц, согласовавших карточку идеи в работу, в реализацию</p:text>
    <p:extLst>
      <p:ext uri="{C676402C-5697-4E1C-873F-D02D1690AC5C}">
        <p15:threadingInfo xmlns:p15="http://schemas.microsoft.com/office/powerpoint/2012/main" timeZoneBias="-720"/>
      </p:ext>
    </p:extLst>
  </p:cm>
  <p:cm authorId="1" dt="2025-12-13T09:46:28.223" idx="235">
    <p:pos x="2829" y="4649"/>
    <p:text>отобразятся предложения вносивших  предложения корректировки (из предидущего слайда с желтой кнопки "предложить корректировку исполняемого". после открытия поля вносим в него текст, -выйдя с поля (стрелкой назад лучше или как?) текст сохраняется. при этом после сохранения в карточке новый добавленный текст будет выделен цветом (фоновой заливкой например или как лучше?)</p:text>
    <p:extLst>
      <p:ext uri="{C676402C-5697-4E1C-873F-D02D1690AC5C}">
        <p15:threadingInfo xmlns:p15="http://schemas.microsoft.com/office/powerpoint/2012/main" timeZoneBias="-720"/>
      </p:ext>
    </p:extLst>
  </p:cm>
</p:cmLst>
</file>

<file path=ppt/comments/comment16.xml><?xml version="1.0" encoding="utf-8"?>
<p:cmLst xmlns:a="http://schemas.openxmlformats.org/drawingml/2006/main" xmlns:r="http://schemas.openxmlformats.org/officeDocument/2006/relationships" xmlns:p="http://schemas.openxmlformats.org/presentationml/2006/main">
  <p:cm authorId="1" dt="2025-04-19T14:52:20.548" idx="108">
    <p:pos x="2328" y="2655"/>
    <p:text>значок скрепки-при нажатии дает возможность прикрепить для подтвержения выполнения  любые файлы из устройства (фото, видео, документы)</p:text>
    <p:extLst mod="1">
      <p:ext uri="{C676402C-5697-4E1C-873F-D02D1690AC5C}">
        <p15:threadingInfo xmlns:p15="http://schemas.microsoft.com/office/powerpoint/2012/main" timeZoneBias="-720"/>
      </p:ext>
    </p:extLst>
  </p:cm>
  <p:cm authorId="1" dt="2025-12-05T14:52:55.047" idx="147">
    <p:pos x="2767" y="1111"/>
    <p:text>данная надпись на желтом фоне если подано анонимно. Если публично надписей и фона нет</p:text>
    <p:extLst mod="1">
      <p:ext uri="{C676402C-5697-4E1C-873F-D02D1690AC5C}">
        <p15:threadingInfo xmlns:p15="http://schemas.microsoft.com/office/powerpoint/2012/main" timeZoneBias="-720"/>
      </p:ext>
    </p:extLst>
  </p:cm>
  <p:cm authorId="1" dt="2025-12-05T14:54:35.086" idx="148">
    <p:pos x="494" y="884"/>
    <p:text>дата и время подачи идеи в данной карточке</p:text>
    <p:extLst mod="1">
      <p:ext uri="{C676402C-5697-4E1C-873F-D02D1690AC5C}">
        <p15:threadingInfo xmlns:p15="http://schemas.microsoft.com/office/powerpoint/2012/main" timeZoneBias="-720"/>
      </p:ext>
    </p:extLst>
  </p:cm>
  <p:cm authorId="1" dt="2025-12-05T15:10:48.533" idx="152">
    <p:pos x="3656" y="122"/>
    <p:text>значок меню, настроек или техподдержки (сам значок любой, тот что лучше соответствует по смыслу техподдержки. можно написать о проблеме. По вашему необходим на большинстве страниц, ваше мнение?</p:text>
    <p:extLst mod="1">
      <p:ext uri="{C676402C-5697-4E1C-873F-D02D1690AC5C}">
        <p15:threadingInfo xmlns:p15="http://schemas.microsoft.com/office/powerpoint/2012/main" timeZoneBias="-720"/>
      </p:ext>
    </p:extLst>
  </p:cm>
  <p:cm authorId="1" dt="2025-12-05T15:54:08.329" idx="160">
    <p:pos x="2367" y="1484"/>
    <p:text>значок файла или карточки идеи-при нажатии дает возможность открыть ее полностью с возможностью вернуться</p:text>
    <p:extLst mod="1">
      <p:ext uri="{C676402C-5697-4E1C-873F-D02D1690AC5C}">
        <p15:threadingInfo xmlns:p15="http://schemas.microsoft.com/office/powerpoint/2012/main" timeZoneBias="-720"/>
      </p:ext>
    </p:extLst>
  </p:cm>
  <p:cm authorId="1" dt="2025-12-05T16:01:26.015" idx="163">
    <p:pos x="1722" y="3576"/>
    <p:text>руководитеем вводится текст отчета о причинах невыполнения предложения</p:text>
    <p:extLst mod="1">
      <p:ext uri="{C676402C-5697-4E1C-873F-D02D1690AC5C}">
        <p15:threadingInfo xmlns:p15="http://schemas.microsoft.com/office/powerpoint/2012/main" timeZoneBias="-720"/>
      </p:ext>
    </p:extLst>
  </p:cm>
  <p:cm authorId="1" dt="2025-12-05T16:05:05.999" idx="169">
    <p:pos x="3374" y="6427"/>
    <p:text>после отметки галочки "успешно выполнено" или "неуспешно" активируется выделением цвета или яркости данная кнопка, и при нажатии отправка только заполненной карточки коллеге через поиск (в мессенджер или почту). Если не введены отчеты-появляется надпись "введите данные отчета"</p:text>
    <p:extLst mod="1">
      <p:ext uri="{C676402C-5697-4E1C-873F-D02D1690AC5C}">
        <p15:threadingInfo xmlns:p15="http://schemas.microsoft.com/office/powerpoint/2012/main" timeZoneBias="-720"/>
      </p:ext>
    </p:extLst>
  </p:cm>
  <p:cm authorId="1" dt="2025-12-05T16:19:46.782" idx="170">
    <p:pos x="1564" y="309"/>
    <p:text>аналогично как в "обсуждаемых и согласованных" отображаются все карточки отданные руководством предприятия на исполнение принятой идеи в данном статусе</p:text>
    <p:extLst mod="1">
      <p:ext uri="{C676402C-5697-4E1C-873F-D02D1690AC5C}">
        <p15:threadingInfo xmlns:p15="http://schemas.microsoft.com/office/powerpoint/2012/main" timeZoneBias="-720"/>
      </p:ext>
    </p:extLst>
  </p:cm>
  <p:cm authorId="1" dt="2025-12-05T16:21:27.051" idx="172">
    <p:pos x="417" y="-16"/>
    <p:text>кнопку "вернуться" на предидущую страницу</p:text>
    <p:extLst mod="1">
      <p:ext uri="{C676402C-5697-4E1C-873F-D02D1690AC5C}">
        <p15:threadingInfo xmlns:p15="http://schemas.microsoft.com/office/powerpoint/2012/main" timeZoneBias="-720"/>
      </p:ext>
    </p:extLst>
  </p:cm>
  <p:cm authorId="1" dt="2025-12-06T18:00:57.436" idx="219">
    <p:pos x="1517" y="2572"/>
    <p:text>поле для ввода текста отчета о выполнении предложения, его реализации и сохранением</p:text>
    <p:extLst>
      <p:ext uri="{C676402C-5697-4E1C-873F-D02D1690AC5C}">
        <p15:threadingInfo xmlns:p15="http://schemas.microsoft.com/office/powerpoint/2012/main" timeZoneBias="-720"/>
      </p:ext>
    </p:extLst>
  </p:cm>
  <p:cm authorId="1" dt="2025-12-06T18:03:48.144" idx="220">
    <p:pos x="2167" y="3597"/>
    <p:text>значок скрепки-при нажатии дает возможность прикрепить для подтвержения неисполнения  любые файлы из устройства (фото, видео, документы)</p:text>
    <p:extLst>
      <p:ext uri="{C676402C-5697-4E1C-873F-D02D1690AC5C}">
        <p15:threadingInfo xmlns:p15="http://schemas.microsoft.com/office/powerpoint/2012/main" timeZoneBias="-720"/>
      </p:ext>
    </p:extLst>
  </p:cm>
  <p:cm authorId="1" dt="2025-12-06T18:08:16.133" idx="221">
    <p:pos x="3487" y="1930"/>
    <p:text>ставится галочка в пустом квадрате. Только в одном месте (здесь или ниже, одновременно нельзя!) После проставления появляется надпись "заполните отчет"</p:text>
    <p:extLst>
      <p:ext uri="{C676402C-5697-4E1C-873F-D02D1690AC5C}">
        <p15:threadingInfo xmlns:p15="http://schemas.microsoft.com/office/powerpoint/2012/main" timeZoneBias="-720"/>
      </p:ext>
    </p:extLst>
  </p:cm>
  <p:cm authorId="1" dt="2025-12-06T18:09:40.956" idx="222">
    <p:pos x="3478" y="2979"/>
    <p:text>ставится галочка в пустом квадрате. Только в одном месте (здесь или выше, одновременно нельзя!)</p:text>
    <p:extLst>
      <p:ext uri="{C676402C-5697-4E1C-873F-D02D1690AC5C}">
        <p15:threadingInfo xmlns:p15="http://schemas.microsoft.com/office/powerpoint/2012/main" timeZoneBias="-720"/>
      </p:ext>
    </p:extLst>
  </p:cm>
  <p:cm authorId="1" dt="2025-12-06T18:54:15.942" idx="223">
    <p:pos x="3004" y="4304"/>
    <p:text>после нажатия на данную кнопку карточка предложения с прикрепленным отчетом и файлами сохраняется и отправляется в архив. в строке архива все (успешно выполненные - зеленым цветом и не выполненные отображаются в строке карточек желтым цветом , и с разным статусом "выполнено" и "не выполнено"(надпись в правом верхнем углу карточки при открытии на вкладке "Архив"). Условие: при незаполненных полях данных "отчет" в архив не уходит, появляется всплывающее окно "введите отчет". Если не были загружены данные с прикрепленим файлов(значок "загрузить данные") отправить в архив можно, но с появлением уточняющей надписи : "сохранить без загрузки данных?" с выбором "да" или нет". После отправки карточка и строка исчезает из вкладки "исполняемые, в работе"Так проще или как?</p:text>
    <p:extLst>
      <p:ext uri="{C676402C-5697-4E1C-873F-D02D1690AC5C}">
        <p15:threadingInfo xmlns:p15="http://schemas.microsoft.com/office/powerpoint/2012/main" timeZoneBias="-720"/>
      </p:ext>
    </p:extLst>
  </p:cm>
  <p:cm authorId="1" dt="2025-12-22T14:18:21.589" idx="281">
    <p:pos x="1759" y="2283"/>
    <p:text>над значком ввода текста надпись "отчет"</p:text>
    <p:extLst>
      <p:ext uri="{C676402C-5697-4E1C-873F-D02D1690AC5C}">
        <p15:threadingInfo xmlns:p15="http://schemas.microsoft.com/office/powerpoint/2012/main" timeZoneBias="-720"/>
      </p:ext>
    </p:extLst>
  </p:cm>
  <p:cm authorId="1" dt="2025-12-22T14:18:57.327" idx="282">
    <p:pos x="2900" y="2283"/>
    <p:text>над значком прикрепления файлов надпись "загрузить данные"</p:text>
    <p:extLst>
      <p:ext uri="{C676402C-5697-4E1C-873F-D02D1690AC5C}">
        <p15:threadingInfo xmlns:p15="http://schemas.microsoft.com/office/powerpoint/2012/main" timeZoneBias="-720"/>
      </p:ext>
    </p:extLst>
  </p:cm>
  <p:cm authorId="1" dt="2025-12-22T15:41:44.944" idx="288">
    <p:pos x="3772" y="6595"/>
    <p:text>ИСПОЛНЯЕМЫЕ, 
страница на вкладке "Исполняемые, в РАБОТЕ". Можно просмотреть состояние исполнения, руководителю отдела или выше замдиректору вносить новые данные (ранее внесенные не удаляются, сохраняются с отметеой даты, времени, фио и долж внесшего записи</p:text>
    <p:extLst>
      <p:ext uri="{C676402C-5697-4E1C-873F-D02D1690AC5C}">
        <p15:threadingInfo xmlns:p15="http://schemas.microsoft.com/office/powerpoint/2012/main" timeZoneBias="-720"/>
      </p:ext>
    </p:extLst>
  </p:cm>
</p:cmLst>
</file>

<file path=ppt/comments/comment17.xml><?xml version="1.0" encoding="utf-8"?>
<p:cmLst xmlns:a="http://schemas.openxmlformats.org/drawingml/2006/main" xmlns:r="http://schemas.openxmlformats.org/officeDocument/2006/relationships" xmlns:p="http://schemas.openxmlformats.org/presentationml/2006/main">
  <p:cm authorId="1" dt="2025-03-06T17:54:55.454" idx="38">
    <p:pos x="259" y="392"/>
    <p:text>При открытии страницы "База предложений" первоначально попадаем на вкладку "Обсуждаемые и согласованные". При этом сама кнопка выделяется рамкой (или лучше большей яркостью свечения по сравнению с зеленой и красной, как лучше по вашему? ). Отображаются ниже списком  только карточки идей, нах-ся в статусах "обсуждаемые и согласованные"</p:text>
    <p:extLst mod="1">
      <p:ext uri="{C676402C-5697-4E1C-873F-D02D1690AC5C}">
        <p15:threadingInfo xmlns:p15="http://schemas.microsoft.com/office/powerpoint/2012/main" timeZoneBias="-720"/>
      </p:ext>
    </p:extLst>
  </p:cm>
  <p:cm authorId="1" dt="2025-04-19T14:49:51.147" idx="107">
    <p:pos x="259" y="528"/>
    <p:text>при открытии вначале появляется списком, в виде строк текст с ключевой информацией поданных карточек. при нажатии на строку открывается карточка (как на рисунке)</p:text>
    <p:extLst mod="1">
      <p:ext uri="{C676402C-5697-4E1C-873F-D02D1690AC5C}">
        <p15:threadingInfo xmlns:p15="http://schemas.microsoft.com/office/powerpoint/2012/main" timeZoneBias="-720">
          <p15:parentCm authorId="1" idx="38"/>
        </p15:threadingInfo>
      </p:ext>
    </p:extLst>
  </p:cm>
  <p:cm authorId="1" dt="2025-12-03T17:15:12.682" idx="138">
    <p:pos x="1326" y="1419"/>
    <p:text>при нажатии открыв списком все карточки, где была отметка" успешно выполненные" перед отправкой в архив в слайде 16</p:text>
    <p:extLst mod="1">
      <p:ext uri="{C676402C-5697-4E1C-873F-D02D1690AC5C}">
        <p15:threadingInfo xmlns:p15="http://schemas.microsoft.com/office/powerpoint/2012/main" timeZoneBias="-720"/>
      </p:ext>
    </p:extLst>
  </p:cm>
  <p:cm authorId="1" dt="2025-12-03T17:19:57.998" idx="140">
    <p:pos x="1502" y="401"/>
    <p:text>вкладка зеленого цвета. Открываются списком карточки только в данном статусе Все работает  аналогично предидущей вкладке</p:text>
    <p:extLst>
      <p:ext uri="{C676402C-5697-4E1C-873F-D02D1690AC5C}">
        <p15:threadingInfo xmlns:p15="http://schemas.microsoft.com/office/powerpoint/2012/main" timeZoneBias="-720"/>
      </p:ext>
    </p:extLst>
  </p:cm>
  <p:cm authorId="1" dt="2025-12-03T17:20:22.411" idx="141">
    <p:pos x="2952" y="473"/>
    <p:text>кнопка вкладка красного цвета. при нажатии списком появляются все идеи из архива, со статусом отказ и исполненные, с пометками успешно(выполнено) и неуспешно(невыполнено). Все работает  аналогично предидущим вкладкам. У руководства предприятия (директор и замы) есть возможность отметить идею, закрыв ее для просмотра всем(только у директора такая возможность, запретив и замам, замы могут запретить только своим подчиненным руководителям и работникам), при этом появляется на кнопке надпись-гриф "секретно" и соотв значок</p:text>
    <p:extLst mod="1">
      <p:ext uri="{C676402C-5697-4E1C-873F-D02D1690AC5C}">
        <p15:threadingInfo xmlns:p15="http://schemas.microsoft.com/office/powerpoint/2012/main" timeZoneBias="-720"/>
      </p:ext>
    </p:extLst>
  </p:cm>
  <p:cm authorId="1" dt="2025-12-03T17:21:42.195" idx="142">
    <p:pos x="3456" y="1040"/>
    <p:text>поиск по номеру идеи, ее дате, ФИО, ключевым словам с карточки идеи (из строки "Идея, предложение"</p:text>
    <p:extLst mod="1">
      <p:ext uri="{C676402C-5697-4E1C-873F-D02D1690AC5C}">
        <p15:threadingInfo xmlns:p15="http://schemas.microsoft.com/office/powerpoint/2012/main" timeZoneBias="-720"/>
      </p:ext>
    </p:extLst>
  </p:cm>
  <p:cm authorId="1" dt="2025-12-03T17:41:52.917" idx="143">
    <p:pos x="2332" y="6602"/>
    <p:text>кнопка "Поделиться" . Как и в других вкладках аналогично после длит нажатия на выбранную строку кнопку данная кнопка выделяется (рамкой или яркостью, как лучше?), и после нажатия на нее переходим на адресный поиск коллег, где можно по ФИО сделать выбр , после выбора появляется 2 варианта отправки-значки "Сообщение"-в чат мессенджера нашего приложения (как в смс? ) , "служебная почта" (значок электронки типовой, как в мессенджерах)</p:text>
    <p:extLst mod="1">
      <p:ext uri="{C676402C-5697-4E1C-873F-D02D1690AC5C}">
        <p15:threadingInfo xmlns:p15="http://schemas.microsoft.com/office/powerpoint/2012/main" timeZoneBias="-720"/>
      </p:ext>
    </p:extLst>
  </p:cm>
  <p:cm authorId="1" dt="2025-12-05T12:08:43.913" idx="144">
    <p:pos x="3578" y="1738"/>
    <p:text>отображается надпись-статус карточки "выполнено" другим от фона заливки  цветом" в правом верхнем углу строки-кнопки и доп. отметкой большой палец вверх(или как можно еще по вашему? цвет заливки зеленый</p:text>
    <p:extLst mod="1">
      <p:ext uri="{C676402C-5697-4E1C-873F-D02D1690AC5C}">
        <p15:threadingInfo xmlns:p15="http://schemas.microsoft.com/office/powerpoint/2012/main" timeZoneBias="-720"/>
      </p:ext>
    </p:extLst>
  </p:cm>
  <p:cm authorId="1" dt="2025-12-05T12:12:51.172" idx="146">
    <p:pos x="1935" y="1778"/>
    <p:text>при подаче карточки "Анонимно" отображается данная надпись на всех карточках во всех статусах (посередине вверху строки-кнопки)</p:text>
    <p:extLst mod="1">
      <p:ext uri="{C676402C-5697-4E1C-873F-D02D1690AC5C}">
        <p15:threadingInfo xmlns:p15="http://schemas.microsoft.com/office/powerpoint/2012/main" timeZoneBias="-720"/>
      </p:ext>
    </p:extLst>
  </p:cm>
  <p:cm authorId="1" dt="2025-12-06T17:21:50.728" idx="217">
    <p:pos x="3189" y="6306"/>
    <p:text>переход на слайд 34</p:text>
    <p:extLst>
      <p:ext uri="{C676402C-5697-4E1C-873F-D02D1690AC5C}">
        <p15:threadingInfo xmlns:p15="http://schemas.microsoft.com/office/powerpoint/2012/main" timeZoneBias="-720"/>
      </p:ext>
    </p:extLst>
  </p:cm>
  <p:cm authorId="1" dt="2025-12-14T14:58:49.866" idx="240">
    <p:pos x="3775" y="2973"/>
    <p:text>при  постановки галочки в предидущем слайде неуспешно исполненных идей "не выполнено"данная надпись на кнопке красным цветом и отметкой большой палец вниз(как лучше?). заливка желтым цветом</p:text>
    <p:extLst>
      <p:ext uri="{C676402C-5697-4E1C-873F-D02D1690AC5C}">
        <p15:threadingInfo xmlns:p15="http://schemas.microsoft.com/office/powerpoint/2012/main" timeZoneBias="-720"/>
      </p:ext>
    </p:extLst>
  </p:cm>
  <p:cm authorId="1" dt="2025-12-22T15:18:13.480" idx="283">
    <p:pos x="3352" y="5030"/>
    <p:text>хранятся все карточки , получившие "отказ" , сортировка согласно адресатов создателей идей-слайд 34</p:text>
    <p:extLst>
      <p:ext uri="{C676402C-5697-4E1C-873F-D02D1690AC5C}">
        <p15:threadingInfo xmlns:p15="http://schemas.microsoft.com/office/powerpoint/2012/main" timeZoneBias="-720"/>
      </p:ext>
    </p:extLst>
  </p:cm>
  <p:cm authorId="1" dt="2025-12-22T15:19:03.608" idx="284">
    <p:pos x="3965" y="6922"/>
    <p:text>на данной странице "АРХИВ" разрешен просмотр карточек всем работникам предприятия. Редактирование, удаление всем запрещено, в т.ч. руководству. Возможно только руководителям (у автора идеи отдела) внести через кн. "добавить данные" дополнительно данные (текст и прикрепить новые данные с отметкой автора текста, и временем, датой внесения. функция прокрутки вверх вниз всех списков карточек</p:text>
    <p:extLst>
      <p:ext uri="{C676402C-5697-4E1C-873F-D02D1690AC5C}">
        <p15:threadingInfo xmlns:p15="http://schemas.microsoft.com/office/powerpoint/2012/main" timeZoneBias="-720"/>
      </p:ext>
    </p:extLst>
  </p:cm>
  <p:cm authorId="1" dt="2025-12-22T15:29:59.649" idx="285">
    <p:pos x="2489" y="2695"/>
    <p:text>согласно отметке "неуспешно" слайда 16</p:text>
    <p:extLst>
      <p:ext uri="{C676402C-5697-4E1C-873F-D02D1690AC5C}">
        <p15:threadingInfo xmlns:p15="http://schemas.microsoft.com/office/powerpoint/2012/main" timeZoneBias="-720"/>
      </p:ext>
    </p:extLst>
  </p:cm>
  <p:cm authorId="1" dt="2025-12-22T15:31:03.746" idx="286">
    <p:pos x="2181" y="4412"/>
    <p:text>хранятся все, получившие "отказ" руководства или начальника отдела-где подавал карточку автор идеи</p:text>
    <p:extLst>
      <p:ext uri="{C676402C-5697-4E1C-873F-D02D1690AC5C}">
        <p15:threadingInfo xmlns:p15="http://schemas.microsoft.com/office/powerpoint/2012/main" timeZoneBias="-720"/>
      </p:ext>
    </p:extLst>
  </p:cm>
  <p:cm authorId="1" dt="2025-12-22T15:38:15.392" idx="287">
    <p:pos x="2201" y="1131"/>
    <p:text>текущая дата и время</p:text>
    <p:extLst>
      <p:ext uri="{C676402C-5697-4E1C-873F-D02D1690AC5C}">
        <p15:threadingInfo xmlns:p15="http://schemas.microsoft.com/office/powerpoint/2012/main" timeZoneBias="-720"/>
      </p:ext>
    </p:extLst>
  </p:cm>
  <p:cm authorId="1" dt="2025-12-22T15:57:29.077" idx="289">
    <p:pos x="1296" y="2232"/>
    <p:text>после сохранения (введения отчета и нажатия отметки сохранения внизу строки-кнопки отображ. его дата и время</p:text>
    <p:extLst>
      <p:ext uri="{C676402C-5697-4E1C-873F-D02D1690AC5C}">
        <p15:threadingInfo xmlns:p15="http://schemas.microsoft.com/office/powerpoint/2012/main" timeZoneBias="-720"/>
      </p:ext>
    </p:extLst>
  </p:cm>
  <p:cm authorId="1" dt="2025-12-22T16:40:19.341" idx="293">
    <p:pos x="2508" y="5891"/>
    <p:text>хранятся все карточки с грифом "секретно", отмеченные после реализации (в статусе успешно, неуспешно, отказ) руководством от нач отдела до директора (в слайде 18)</p:text>
    <p:extLst>
      <p:ext uri="{C676402C-5697-4E1C-873F-D02D1690AC5C}">
        <p15:threadingInfo xmlns:p15="http://schemas.microsoft.com/office/powerpoint/2012/main" timeZoneBias="-720"/>
      </p:ext>
    </p:extLst>
  </p:cm>
</p:cmLst>
</file>

<file path=ppt/comments/comment18.xml><?xml version="1.0" encoding="utf-8"?>
<p:cmLst xmlns:a="http://schemas.openxmlformats.org/drawingml/2006/main" xmlns:r="http://schemas.openxmlformats.org/officeDocument/2006/relationships" xmlns:p="http://schemas.openxmlformats.org/presentationml/2006/main">
  <p:cm authorId="1" dt="2025-04-19T14:52:20.548" idx="108">
    <p:pos x="3707" y="1842"/>
    <p:text>значок скрепки-при нажатии отображаются все  прикрепленные к данной строке файлы ( с указ долж и ФИО того кто приложил)</p:text>
    <p:extLst mod="1">
      <p:ext uri="{C676402C-5697-4E1C-873F-D02D1690AC5C}">
        <p15:threadingInfo xmlns:p15="http://schemas.microsoft.com/office/powerpoint/2012/main" timeZoneBias="-720"/>
      </p:ext>
    </p:extLst>
  </p:cm>
  <p:cm authorId="1" dt="2025-12-05T14:52:55.047" idx="147">
    <p:pos x="3343" y="1162"/>
    <p:text>данная надпись на желтом фоне если подано анонимно. Если публично надписей нет</p:text>
    <p:extLst mod="1">
      <p:ext uri="{C676402C-5697-4E1C-873F-D02D1690AC5C}">
        <p15:threadingInfo xmlns:p15="http://schemas.microsoft.com/office/powerpoint/2012/main" timeZoneBias="-720"/>
      </p:ext>
    </p:extLst>
  </p:cm>
  <p:cm authorId="1" dt="2025-12-05T14:54:35.086" idx="148">
    <p:pos x="833" y="915"/>
    <p:text>дата и время подачи идеи в данной карточке</p:text>
    <p:extLst>
      <p:ext uri="{C676402C-5697-4E1C-873F-D02D1690AC5C}">
        <p15:threadingInfo xmlns:p15="http://schemas.microsoft.com/office/powerpoint/2012/main" timeZoneBias="-720"/>
      </p:ext>
    </p:extLst>
  </p:cm>
  <p:cm authorId="1" dt="2025-12-05T14:59:54.357" idx="149">
    <p:pos x="3209" y="4742"/>
    <p:text>в карточках со статусом "Согласованные" появляется дата, время, должность и ФИО руководителя, согласовавшего карточку идеи. В карточках статуса "Обсуждаемые" этой строки нет. в карточках на вкладке "ОТКАЗ, АРХИВ" на месте "согласовано" надпись "Отказано", дата, время ,должность ФИО отказавшего руководителя отдела или руководства выше по должности</p:text>
    <p:extLst>
      <p:ext uri="{C676402C-5697-4E1C-873F-D02D1690AC5C}">
        <p15:threadingInfo xmlns:p15="http://schemas.microsoft.com/office/powerpoint/2012/main" timeZoneBias="-720"/>
      </p:ext>
    </p:extLst>
  </p:cm>
  <p:cm authorId="1" dt="2025-12-05T15:08:10.890" idx="150">
    <p:pos x="1245" y="4155"/>
    <p:text>ссылка-при нажатии открывается страница или всплывающее окно со всеми комментариями коллег</p:text>
    <p:extLst>
      <p:ext uri="{C676402C-5697-4E1C-873F-D02D1690AC5C}">
        <p15:threadingInfo xmlns:p15="http://schemas.microsoft.com/office/powerpoint/2012/main" timeZoneBias="-720"/>
      </p:ext>
    </p:extLst>
  </p:cm>
  <p:cm authorId="1" dt="2025-12-05T15:09:04.315" idx="151">
    <p:pos x="1749" y="4320"/>
    <p:text>отображается комментарий того, кто открыл данную карточку. если его не было то надпись- "вашего комментария не было"</p:text>
    <p:extLst>
      <p:ext uri="{C676402C-5697-4E1C-873F-D02D1690AC5C}">
        <p15:threadingInfo xmlns:p15="http://schemas.microsoft.com/office/powerpoint/2012/main" timeZoneBias="-720"/>
      </p:ext>
    </p:extLst>
  </p:cm>
  <p:cm authorId="1" dt="2025-12-05T15:10:48.533" idx="152">
    <p:pos x="3656" y="122"/>
    <p:text>значок настроек, меню или техподдержки (сам значок любой, тот что лучше соответствует по смыслу техподдержки. можно написать о проблеме</p:text>
    <p:extLst mod="1">
      <p:ext uri="{C676402C-5697-4E1C-873F-D02D1690AC5C}">
        <p15:threadingInfo xmlns:p15="http://schemas.microsoft.com/office/powerpoint/2012/main" timeZoneBias="-720"/>
      </p:ext>
    </p:extLst>
  </p:cm>
  <p:cm authorId="1" dt="2025-12-05T15:41:22.888" idx="153">
    <p:pos x="843" y="5348"/>
    <p:text>статистика мнений при голосовании идеи.</p:text>
    <p:extLst mod="1">
      <p:ext uri="{C676402C-5697-4E1C-873F-D02D1690AC5C}">
        <p15:threadingInfo xmlns:p15="http://schemas.microsoft.com/office/powerpoint/2012/main" timeZoneBias="-720"/>
      </p:ext>
    </p:extLst>
  </p:cm>
  <p:cm authorId="1" dt="2025-12-05T15:42:53.410" idx="154">
    <p:pos x="678" y="6098"/>
    <p:text>отображается смайлом улыбки статистика кто за идею</p:text>
    <p:extLst>
      <p:ext uri="{C676402C-5697-4E1C-873F-D02D1690AC5C}">
        <p15:threadingInfo xmlns:p15="http://schemas.microsoft.com/office/powerpoint/2012/main" timeZoneBias="-720"/>
      </p:ext>
    </p:extLst>
  </p:cm>
  <p:cm authorId="1" dt="2025-12-05T15:47:06.409" idx="155">
    <p:pos x="1234" y="5687"/>
    <p:text>суммарное количество тех кто за идею</p:text>
    <p:extLst>
      <p:ext uri="{C676402C-5697-4E1C-873F-D02D1690AC5C}">
        <p15:threadingInfo xmlns:p15="http://schemas.microsoft.com/office/powerpoint/2012/main" timeZoneBias="-720"/>
      </p:ext>
    </p:extLst>
  </p:cm>
  <p:cm authorId="1" dt="2025-12-05T15:47:41.539" idx="156">
    <p:pos x="1748" y="6133"/>
    <p:text>отображается смайлом недовольства-губы вниз, статистика кто против идеи</p:text>
    <p:extLst>
      <p:ext uri="{C676402C-5697-4E1C-873F-D02D1690AC5C}">
        <p15:threadingInfo xmlns:p15="http://schemas.microsoft.com/office/powerpoint/2012/main" timeZoneBias="-720"/>
      </p:ext>
    </p:extLst>
  </p:cm>
  <p:cm authorId="1" dt="2025-12-05T15:48:38.319" idx="157">
    <p:pos x="2016" y="5708"/>
    <p:text>суммарное количество тех кто против идеи</p:text>
    <p:extLst>
      <p:ext uri="{C676402C-5697-4E1C-873F-D02D1690AC5C}">
        <p15:threadingInfo xmlns:p15="http://schemas.microsoft.com/office/powerpoint/2012/main" timeZoneBias="-720"/>
      </p:ext>
    </p:extLst>
  </p:cm>
  <p:cm authorId="1" dt="2025-12-05T15:49:13.846" idx="158">
    <p:pos x="2892" y="5676"/>
    <p:text>суммарное количество тех кто нажал смайл "воздержался"</p:text>
    <p:extLst>
      <p:ext uri="{C676402C-5697-4E1C-873F-D02D1690AC5C}">
        <p15:threadingInfo xmlns:p15="http://schemas.microsoft.com/office/powerpoint/2012/main" timeZoneBias="-720"/>
      </p:ext>
    </p:extLst>
  </p:cm>
  <p:cm authorId="1" dt="2025-12-05T15:49:21.814" idx="159">
    <p:pos x="2572" y="6048"/>
    <p:text>смайл с прямыми губами- "воздержался"</p:text>
    <p:extLst>
      <p:ext uri="{C676402C-5697-4E1C-873F-D02D1690AC5C}">
        <p15:threadingInfo xmlns:p15="http://schemas.microsoft.com/office/powerpoint/2012/main" timeZoneBias="-720"/>
      </p:ext>
    </p:extLst>
  </p:cm>
  <p:cm authorId="1" dt="2025-12-05T15:54:08.329" idx="160">
    <p:pos x="3313" y="1864"/>
    <p:text>при нажатии открывается поле с общим текстом от всех кто вносил в данную строку свой текст с отображением должности и ФИО того кто писал</p:text>
    <p:extLst>
      <p:ext uri="{C676402C-5697-4E1C-873F-D02D1690AC5C}">
        <p15:threadingInfo xmlns:p15="http://schemas.microsoft.com/office/powerpoint/2012/main" timeZoneBias="-720"/>
      </p:ext>
    </p:extLst>
  </p:cm>
  <p:cm authorId="1" dt="2025-12-05T16:01:26.015" idx="163">
    <p:pos x="3225" y="2774"/>
    <p:text>аналогично описанному в строке выше</p:text>
    <p:extLst mod="1">
      <p:ext uri="{C676402C-5697-4E1C-873F-D02D1690AC5C}">
        <p15:threadingInfo xmlns:p15="http://schemas.microsoft.com/office/powerpoint/2012/main" timeZoneBias="-720"/>
      </p:ext>
    </p:extLst>
  </p:cm>
  <p:cm authorId="1" dt="2025-12-05T16:01:34.469" idx="164">
    <p:pos x="3606" y="2781"/>
    <p:text>аналогично описанному в строке выше</p:text>
    <p:extLst>
      <p:ext uri="{C676402C-5697-4E1C-873F-D02D1690AC5C}">
        <p15:threadingInfo xmlns:p15="http://schemas.microsoft.com/office/powerpoint/2012/main" timeZoneBias="-720"/>
      </p:ext>
    </p:extLst>
  </p:cm>
  <p:cm authorId="1" dt="2025-12-05T16:01:42.048" idx="165">
    <p:pos x="3211" y="3234"/>
    <p:text>аналогично описанному в строке выше</p:text>
    <p:extLst>
      <p:ext uri="{C676402C-5697-4E1C-873F-D02D1690AC5C}">
        <p15:threadingInfo xmlns:p15="http://schemas.microsoft.com/office/powerpoint/2012/main" timeZoneBias="-720"/>
      </p:ext>
    </p:extLst>
  </p:cm>
  <p:cm authorId="1" dt="2025-12-05T16:01:48.960" idx="166">
    <p:pos x="3214" y="3738"/>
    <p:text>аналогично описанному в строке выше</p:text>
    <p:extLst>
      <p:ext uri="{C676402C-5697-4E1C-873F-D02D1690AC5C}">
        <p15:threadingInfo xmlns:p15="http://schemas.microsoft.com/office/powerpoint/2012/main" timeZoneBias="-720"/>
      </p:ext>
    </p:extLst>
  </p:cm>
  <p:cm authorId="1" dt="2025-12-05T16:01:58.245" idx="167">
    <p:pos x="3691" y="3216"/>
    <p:text>аналогично описанному в строке выше</p:text>
    <p:extLst>
      <p:ext uri="{C676402C-5697-4E1C-873F-D02D1690AC5C}">
        <p15:threadingInfo xmlns:p15="http://schemas.microsoft.com/office/powerpoint/2012/main" timeZoneBias="-720"/>
      </p:ext>
    </p:extLst>
  </p:cm>
  <p:cm authorId="1" dt="2025-12-05T16:02:06.625" idx="168">
    <p:pos x="3714" y="3696"/>
    <p:text>аналогично описанному в строке выше</p:text>
    <p:extLst>
      <p:ext uri="{C676402C-5697-4E1C-873F-D02D1690AC5C}">
        <p15:threadingInfo xmlns:p15="http://schemas.microsoft.com/office/powerpoint/2012/main" timeZoneBias="-720"/>
      </p:ext>
    </p:extLst>
  </p:cm>
  <p:cm authorId="1" dt="2025-12-05T16:05:05.999" idx="169">
    <p:pos x="3374" y="6427"/>
    <p:text>при нажатии отправка карточки коллеге (в мессенджер или почту)</p:text>
    <p:extLst>
      <p:ext uri="{C676402C-5697-4E1C-873F-D02D1690AC5C}">
        <p15:threadingInfo xmlns:p15="http://schemas.microsoft.com/office/powerpoint/2012/main" timeZoneBias="-720"/>
      </p:ext>
    </p:extLst>
  </p:cm>
  <p:cm authorId="1" dt="2025-12-05T16:21:09.734" idx="171">
    <p:pos x="2870" y="442"/>
    <p:text>аналогично как в "обсуждаемых и согласованных" отображаются все карточки в данном статусе</p:text>
    <p:extLst>
      <p:ext uri="{C676402C-5697-4E1C-873F-D02D1690AC5C}">
        <p15:threadingInfo xmlns:p15="http://schemas.microsoft.com/office/powerpoint/2012/main" timeZoneBias="-720"/>
      </p:ext>
    </p:extLst>
  </p:cm>
  <p:cm authorId="1" dt="2025-12-05T16:21:27.051" idx="172">
    <p:pos x="417" y="-16"/>
    <p:text>кнопку "вернуться" на предидущую страницу</p:text>
    <p:extLst mod="1">
      <p:ext uri="{C676402C-5697-4E1C-873F-D02D1690AC5C}">
        <p15:threadingInfo xmlns:p15="http://schemas.microsoft.com/office/powerpoint/2012/main" timeZoneBias="-720"/>
      </p:ext>
    </p:extLst>
  </p:cm>
  <p:cm authorId="1" dt="2025-12-22T16:19:58.995" idx="290">
    <p:pos x="3834" y="6615"/>
    <p:text>открытая карточка из строки-кнопки вкладки "Архив". Просмотр всем (кроме согласно" секретно"), возможно добавление руководством (от нач отдела и выше  до директора) новых записей и комментариев</p:text>
    <p:extLst>
      <p:ext uri="{C676402C-5697-4E1C-873F-D02D1690AC5C}">
        <p15:threadingInfo xmlns:p15="http://schemas.microsoft.com/office/powerpoint/2012/main" timeZoneBias="-720"/>
      </p:ext>
    </p:extLst>
  </p:cm>
  <p:cm authorId="1" dt="2025-12-22T16:27:14.391" idx="291">
    <p:pos x="1708" y="1204"/>
    <p:text>руководство может ставить гриф "секретно" после этого просмотр запрещен работникам предприятия , клиентам, работникам смежных предприятий(как описал на предидущем слайде). Все карточки вкладки "Архив" с данным грифом хранятся в строке-кнопке "секретно"</p:text>
    <p:extLst>
      <p:ext uri="{C676402C-5697-4E1C-873F-D02D1690AC5C}">
        <p15:threadingInfo xmlns:p15="http://schemas.microsoft.com/office/powerpoint/2012/main" timeZoneBias="-720"/>
      </p:ext>
    </p:extLst>
  </p:cm>
  <p:cm authorId="1" dt="2025-12-22T16:35:07.503" idx="292">
    <p:pos x="2808" y="1141"/>
    <p:text>отметка "отложить"-ставится от нач отдела до директора в карточках при отказах или завершенных, но неуспешно выполненных</p:text>
    <p:extLst>
      <p:ext uri="{C676402C-5697-4E1C-873F-D02D1690AC5C}">
        <p15:threadingInfo xmlns:p15="http://schemas.microsoft.com/office/powerpoint/2012/main" timeZoneBias="-720"/>
      </p:ext>
    </p:extLst>
  </p:cm>
</p:cmLst>
</file>

<file path=ppt/comments/comment19.xml><?xml version="1.0" encoding="utf-8"?>
<p:cmLst xmlns:a="http://schemas.openxmlformats.org/drawingml/2006/main" xmlns:r="http://schemas.openxmlformats.org/officeDocument/2006/relationships" xmlns:p="http://schemas.openxmlformats.org/presentationml/2006/main">
  <p:cm authorId="1" dt="2025-03-06T18:42:38.050" idx="42">
    <p:pos x="360" y="1388"/>
    <p:text>( при нажатии - слайд 20) доступ для всех зарегестрированных пользователей предприятия для чтения(работ смежных и  клиентам можно). Загрузка на выбор текстом названий документов, ссылок или файлов документов, удаление возможна только руководству и руководителям отделов по направлению рода деятельности</p:text>
    <p:extLst mod="1">
      <p:ext uri="{C676402C-5697-4E1C-873F-D02D1690AC5C}">
        <p15:threadingInfo xmlns:p15="http://schemas.microsoft.com/office/powerpoint/2012/main" timeZoneBias="-720"/>
      </p:ext>
    </p:extLst>
  </p:cm>
  <p:cm authorId="1" dt="2025-03-06T18:49:34.249" idx="43">
    <p:pos x="432" y="2181"/>
    <p:text>(слайд 18) доступ для всех зарегестрированных пользователей предприятия для чтения, копирование и скриншот запрещен. (клиентам компании и смежн предприятий запрещено). Загрузка ссылок или файлов документов, удаление возможна только руководству и руководителям отделов по направлению рода деятельности</p:text>
    <p:extLst mod="1">
      <p:ext uri="{C676402C-5697-4E1C-873F-D02D1690AC5C}">
        <p15:threadingInfo xmlns:p15="http://schemas.microsoft.com/office/powerpoint/2012/main" timeZoneBias="-720"/>
      </p:ext>
    </p:extLst>
  </p:cm>
  <p:cm authorId="1" dt="2025-03-06T18:50:25.822" idx="44">
    <p:pos x="515" y="2963"/>
    <p:text>при нажатии кнопки открываются сайты своего предприятия (слайд 22) для  доступа работникам предприятия и клиентам. Если пользователь работник предприятия при нажатии на данную кнопку появляются две кнопки "внешний сайт" и "внутренний сайт" для нажатия и перехода на необходимый ему сайт. Если пользователь незарегестрированный или клиент-переход сразу только на внешний сайт предприятия в интернете</p:text>
    <p:extLst mod="1">
      <p:ext uri="{C676402C-5697-4E1C-873F-D02D1690AC5C}">
        <p15:threadingInfo xmlns:p15="http://schemas.microsoft.com/office/powerpoint/2012/main" timeZoneBias="-720"/>
      </p:ext>
    </p:extLst>
  </p:cm>
  <p:cm authorId="1" dt="2025-03-06T18:58:25.522" idx="45">
    <p:pos x="484" y="3919"/>
    <p:text>Создается список названий (текстом)новостных ресурсов, сайтов, книг и тп где пользователь может понять какую и где он сможет искать в интернете необходимую информацию. Возможно выделение и копирование выделенного в названиях текста с сохранением в кэше и возможностью вставить в поисковую строку браузера или иное место. доступ для всех зарегестрированных пользователей и клиентам  предприятия. Создание, правки и удаление возможны только руководству и руководителям отделов по направлению рода деятельности (так можно делать с точки зрения закона???- прошу сообщить мне). Или лучше сделать кнопку окно поиска "Яндекс", и после нажатия страница Яндекс с сохранением списка закрепленных новостных ресурсов на его странице?</p:text>
    <p:extLst mod="1">
      <p:ext uri="{C676402C-5697-4E1C-873F-D02D1690AC5C}">
        <p15:threadingInfo xmlns:p15="http://schemas.microsoft.com/office/powerpoint/2012/main" timeZoneBias="-720"/>
      </p:ext>
    </p:extLst>
  </p:cm>
  <p:cm authorId="1" dt="2025-04-02T19:29:32.117" idx="62">
    <p:pos x="288" y="552"/>
    <p:text>кнопка " вернуться обратно"</p:text>
    <p:extLst mod="1">
      <p:ext uri="{C676402C-5697-4E1C-873F-D02D1690AC5C}">
        <p15:threadingInfo xmlns:p15="http://schemas.microsoft.com/office/powerpoint/2012/main" timeZoneBias="-720"/>
      </p:ext>
    </p:extLst>
  </p:cm>
</p:cmLst>
</file>

<file path=ppt/comments/comment20.xml><?xml version="1.0" encoding="utf-8"?>
<p:cmLst xmlns:a="http://schemas.openxmlformats.org/drawingml/2006/main" xmlns:r="http://schemas.openxmlformats.org/officeDocument/2006/relationships" xmlns:p="http://schemas.openxmlformats.org/presentationml/2006/main">
  <p:cm authorId="1" dt="2025-04-06T15:52:58.868" idx="63">
    <p:pos x="628" y="340"/>
    <p:text>страница с возможностью размещения и удаления информации по документам предприятия руководителям по направлению деятельности. Программист и руководитель может менять наименования кнопок согласно наименованиям подразделений штатной структуры предприятия. При наличии в предприятии систем Гарант или Консультант + подключается поиск инф-ции с набором текста ч/з клавиатуру. Работникам разрешен просмотр, копирование (пересылка) и чтение информации</p:text>
    <p:extLst mod="1">
      <p:ext uri="{C676402C-5697-4E1C-873F-D02D1690AC5C}">
        <p15:threadingInfo xmlns:p15="http://schemas.microsoft.com/office/powerpoint/2012/main" timeZoneBias="-720"/>
      </p:ext>
    </p:extLst>
  </p:cm>
  <p:cm authorId="1" dt="2025-04-06T16:09:15.137" idx="64">
    <p:pos x="1564" y="1287"/>
    <p:text>доступ к изменениям только  руководителям по производству продукции предприятия, чтение всем. При нажатии открывается текст вниз на весь экран или новая страница (или лучше вкладка?) с заголовком вверху "производство" и возможностью на строках написать наименование документа текстом и ниже через значок "скрепки" возможность прикреплять файлы или ссылки списком или файлами (в разных форматах) документов по производству. Остальные кнопки ниже оформляются аналогично вышеописанной для руководителей других направлений с правами.</p:text>
    <p:extLst mod="1">
      <p:ext uri="{C676402C-5697-4E1C-873F-D02D1690AC5C}">
        <p15:threadingInfo xmlns:p15="http://schemas.microsoft.com/office/powerpoint/2012/main" timeZoneBias="-720"/>
      </p:ext>
    </p:extLst>
  </p:cm>
  <p:cm authorId="1" dt="2025-12-05T17:24:05.319" idx="173">
    <p:pos x="3013" y="6798"/>
    <p:text>при нажатии на данную ссылку происходит переход на страницу правовой информационной системе, к которой подключено по договору предприятие. Если не подключено то данный текст пишется серым цветом, без подчеркивания. и при нажатии появляется надпись "данный ресурс в предприятии не подключен"</p:text>
    <p:extLst mod="1">
      <p:ext uri="{C676402C-5697-4E1C-873F-D02D1690AC5C}">
        <p15:threadingInfo xmlns:p15="http://schemas.microsoft.com/office/powerpoint/2012/main" timeZoneBias="-720"/>
      </p:ext>
    </p:extLst>
  </p:cm>
  <p:cm authorId="1" dt="2025-12-05T17:26:57.893" idx="174">
    <p:pos x="1687" y="6429"/>
    <p:text>возможность поиска в наименовании документа по его ключевым словам, датам принятия</p:text>
    <p:extLst>
      <p:ext uri="{C676402C-5697-4E1C-873F-D02D1690AC5C}">
        <p15:threadingInfo xmlns:p15="http://schemas.microsoft.com/office/powerpoint/2012/main" timeZoneBias="-720"/>
      </p:ext>
    </p:extLst>
  </p:cm>
  <p:cm authorId="1" dt="2025-12-05T17:29:52.306" idx="175">
    <p:pos x="3600" y="1334"/>
    <p:text>значок "скрепки" отображаются все прикрепленные файлы документов в форматах (pdf, word, exel и т.п.) аналогично в нижних строках п. 2 данной страницы и далее ниже.</p:text>
    <p:extLst>
      <p:ext uri="{C676402C-5697-4E1C-873F-D02D1690AC5C}">
        <p15:threadingInfo xmlns:p15="http://schemas.microsoft.com/office/powerpoint/2012/main" timeZoneBias="-720"/>
      </p:ext>
    </p:extLst>
  </p:cm>
</p:cmLst>
</file>

<file path=ppt/comments/comment21.xml><?xml version="1.0" encoding="utf-8"?>
<p:cmLst xmlns:a="http://schemas.openxmlformats.org/drawingml/2006/main" xmlns:r="http://schemas.openxmlformats.org/officeDocument/2006/relationships" xmlns:p="http://schemas.openxmlformats.org/presentationml/2006/main">
  <p:cm authorId="1" dt="2025-04-06T15:52:58.868" idx="63">
    <p:pos x="3909" y="6850"/>
    <p:text>права изменения названий подразделений предприятия на странице имеет программист предприятия или руководитель отдела,  имеет возможность загрузить на этой странице необходимый документ предприятия по направлению рода деятельности (возможность закрепления как ссылки с названием так и файлов pdf,  jpg и тд) Также возможно просто текстом написать наименование документа в строке. Просмотр(чтение) возможен только работникам предприятия, копирование, пересылка и сделать скриншот-запрещено всем. (клиентам и смежным компаниям на данную вкладку нет доступа)</p:text>
    <p:extLst mod="1">
      <p:ext uri="{C676402C-5697-4E1C-873F-D02D1690AC5C}">
        <p15:threadingInfo xmlns:p15="http://schemas.microsoft.com/office/powerpoint/2012/main" timeZoneBias="-720"/>
      </p:ext>
    </p:extLst>
  </p:cm>
  <p:cm authorId="1" dt="2025-04-06T16:09:15.137" idx="64">
    <p:pos x="494" y="1194"/>
    <p:text>доступ руководителям по основному профилю деятельности-производству продукции предприятия. При нажатии открывается окно (или лучше вкладка?) с заголовком вверху "производство" , списком названий документов текстом и прикрепленными при необходимости файлами (в разных форматах) документов по производству.                  Остальные кнопки других отделов  ниже оформляются аналогично вышеописанной.</p:text>
    <p:extLst mod="1">
      <p:ext uri="{C676402C-5697-4E1C-873F-D02D1690AC5C}">
        <p15:threadingInfo xmlns:p15="http://schemas.microsoft.com/office/powerpoint/2012/main" timeZoneBias="-720"/>
      </p:ext>
    </p:extLst>
  </p:cm>
</p:cmLst>
</file>

<file path=ppt/comments/comment22.xml><?xml version="1.0" encoding="utf-8"?>
<p:cmLst xmlns:a="http://schemas.openxmlformats.org/drawingml/2006/main" xmlns:r="http://schemas.openxmlformats.org/officeDocument/2006/relationships" xmlns:p="http://schemas.openxmlformats.org/presentationml/2006/main">
  <p:cm authorId="1" dt="2025-04-02T19:13:50.375" idx="60">
    <p:pos x="3558" y="576"/>
    <p:text>на данном слайде (после нажатия на одноименную кнопку на слайде 19  открывается главная страница сайта предприятия в интернете (при отсутствии появляется надпись- "Сайт данного предприятия отсутствует. Если данная информация ошибочна-сообщите пожалуйста в техподдержку". (Или как лучше написать-напиши свою версию)</p:text>
    <p:extLst mod="1">
      <p:ext uri="{C676402C-5697-4E1C-873F-D02D1690AC5C}">
        <p15:threadingInfo xmlns:p15="http://schemas.microsoft.com/office/powerpoint/2012/main" timeZoneBias="-720"/>
      </p:ext>
    </p:extLst>
  </p:cm>
  <p:cm authorId="1" dt="2025-12-05T17:40:52.081" idx="176">
    <p:pos x="3496" y="1379"/>
    <p:text>открывается  закрытый с интернета, внутренний интранэт сайт для работников предприятия только для чтения зарегестрированным работникам предприятия. (копировать текст и делать скриншоты запрещено всем). при его отсутствии после нажатия на кнопку появляется надпись "сайт не создан"</p:text>
    <p:extLst mod="1">
      <p:ext uri="{C676402C-5697-4E1C-873F-D02D1690AC5C}">
        <p15:threadingInfo xmlns:p15="http://schemas.microsoft.com/office/powerpoint/2012/main" timeZoneBias="-720"/>
      </p:ext>
    </p:extLst>
  </p:cm>
</p:cmLst>
</file>

<file path=ppt/comments/comment23.xml><?xml version="1.0" encoding="utf-8"?>
<p:cmLst xmlns:a="http://schemas.openxmlformats.org/drawingml/2006/main" xmlns:r="http://schemas.openxmlformats.org/officeDocument/2006/relationships" xmlns:p="http://schemas.openxmlformats.org/presentationml/2006/main">
  <p:cm authorId="1" dt="2025-04-02T18:55:27.946" idx="58">
    <p:pos x="282" y="1144"/>
    <p:text>при нажатии открывается поисковая строка Яндекс. Можно копировать тексты в интернэте и вставлять в строки названия (без ссылок если запрещено законом)Это не противоречит законодательству?</p:text>
    <p:extLst mod="1">
      <p:ext uri="{C676402C-5697-4E1C-873F-D02D1690AC5C}">
        <p15:threadingInfo xmlns:p15="http://schemas.microsoft.com/office/powerpoint/2012/main" timeZoneBias="-720"/>
      </p:ext>
    </p:extLst>
  </p:cm>
  <p:cm authorId="1" dt="2025-04-02T19:01:35.806" idx="59">
    <p:pos x="298" y="1897"/>
    <p:text>руководители отделов и замы директора по данным направлениям могут размещать и удалять названия (копия полного названия сайта текстом) сайтов  в интернете  (если можно по закону-ссылки из интернета, нажав которые переход на сайт) на источники информации (или только ключевые слова для поиска в интернете, документы или их наименования.( по закону сейчас как можно?)                    для общего доступа всем зарегестриров работникам предприятия и клиентам компании. Разрешена функция копирования текста с данных списков. Каждый источник нумеруется по порядку, начиная с 1 до 50, прокрутка вверх вниз если не входит на страницу</p:text>
    <p:extLst mod="1">
      <p:ext uri="{C676402C-5697-4E1C-873F-D02D1690AC5C}">
        <p15:threadingInfo xmlns:p15="http://schemas.microsoft.com/office/powerpoint/2012/main" timeZoneBias="-720"/>
      </p:ext>
    </p:extLst>
  </p:cm>
  <p:cm authorId="1" dt="2025-12-05T20:07:57.005" idx="177">
    <p:pos x="360" y="2973"/>
    <p:text>аналогично вышеописанной</p:text>
    <p:extLst>
      <p:ext uri="{C676402C-5697-4E1C-873F-D02D1690AC5C}">
        <p15:threadingInfo xmlns:p15="http://schemas.microsoft.com/office/powerpoint/2012/main" timeZoneBias="-720"/>
      </p:ext>
    </p:extLst>
  </p:cm>
</p:cmLst>
</file>

<file path=ppt/comments/comment24.xml><?xml version="1.0" encoding="utf-8"?>
<p:cmLst xmlns:a="http://schemas.openxmlformats.org/drawingml/2006/main" xmlns:r="http://schemas.openxmlformats.org/officeDocument/2006/relationships" xmlns:p="http://schemas.openxmlformats.org/presentationml/2006/main">
  <p:cm authorId="1" dt="2025-04-06T16:39:53.510" idx="65">
    <p:pos x="392" y="6572"/>
    <p:text>сортировка по группам адресатов-на данной вкладке открывается переписка (звонки возможно сделать на сайте или только в приложении?) с коллегами своего отдела (группы). (визуально аналог вацап и минимальный функционал для переписки и обмена файлами</p:text>
    <p:extLst mod="1">
      <p:ext uri="{C676402C-5697-4E1C-873F-D02D1690AC5C}">
        <p15:threadingInfo xmlns:p15="http://schemas.microsoft.com/office/powerpoint/2012/main" timeZoneBias="-720"/>
      </p:ext>
    </p:extLst>
  </p:cm>
  <p:cm authorId="1" dt="2025-04-06T16:43:14.437" idx="66">
    <p:pos x="1563" y="6583"/>
    <p:text>при нажатии открывается все проведенные чаты с коллегами из других отделов. В окне "поиск" ведется поиск (по названию отдела, фамилии,должности работника) после появление в поисковой строке подходящих вариантов он подтверждается нажатием и открывается групповой чат со всеми работниками данного отдела</p:text>
    <p:extLst mod="1">
      <p:ext uri="{C676402C-5697-4E1C-873F-D02D1690AC5C}">
        <p15:threadingInfo xmlns:p15="http://schemas.microsoft.com/office/powerpoint/2012/main" timeZoneBias="-720"/>
      </p:ext>
    </p:extLst>
  </p:cm>
  <p:cm authorId="1" dt="2025-04-06T16:55:19.186" idx="67">
    <p:pos x="2725" y="6572"/>
    <p:text>клиенты компании (зарегестрированные и нет) и работники смежных предприятий (с их стороны в чате отображаются ФИО, должность, компания)  могут в поиске выбрать групповой чат необходимого отдела по его названию или ФИО и должности работника. Переписка в мессенджере  сохраняется</p:text>
    <p:extLst mod="1">
      <p:ext uri="{C676402C-5697-4E1C-873F-D02D1690AC5C}">
        <p15:threadingInfo xmlns:p15="http://schemas.microsoft.com/office/powerpoint/2012/main" timeZoneBias="-720"/>
      </p:ext>
    </p:extLst>
  </p:cm>
  <p:cm authorId="1" dt="2025-12-05T20:19:11.709" idx="178">
    <p:pos x="833" y="31"/>
    <p:text>открытая вкладка выделяется цветом. списком ниже появляется проведенная ранее переписка с  зарегестрированными работниками согласно выбранной нижней вкладке-мой отдел, коллеги или клиенты(с выделением цветом)</p:text>
    <p:extLst mod="1">
      <p:ext uri="{C676402C-5697-4E1C-873F-D02D1690AC5C}">
        <p15:threadingInfo xmlns:p15="http://schemas.microsoft.com/office/powerpoint/2012/main" timeZoneBias="-720"/>
      </p:ext>
    </p:extLst>
  </p:cm>
  <p:cm authorId="1" dt="2025-12-05T20:25:55.732" idx="179">
    <p:pos x="339" y="1684"/>
    <p:text>точка или кружок</p:text>
    <p:extLst mod="1">
      <p:ext uri="{C676402C-5697-4E1C-873F-D02D1690AC5C}">
        <p15:threadingInfo xmlns:p15="http://schemas.microsoft.com/office/powerpoint/2012/main" timeZoneBias="-720"/>
      </p:ext>
    </p:extLst>
  </p:cm>
  <p:cm authorId="1" dt="2025-12-05T20:31:03.726" idx="180">
    <p:pos x="2149" y="1316"/>
    <p:text>текущая дата. отображаются все чаты на указанную дату</p:text>
    <p:extLst mod="1">
      <p:ext uri="{C676402C-5697-4E1C-873F-D02D1690AC5C}">
        <p15:threadingInfo xmlns:p15="http://schemas.microsoft.com/office/powerpoint/2012/main" timeZoneBias="-720"/>
      </p:ext>
    </p:extLst>
  </p:cm>
  <p:cm authorId="1" dt="2025-12-05T20:33:03.503" idx="181">
    <p:pos x="3744" y="1461"/>
    <p:text>время последнего сообщения</p:text>
    <p:extLst>
      <p:ext uri="{C676402C-5697-4E1C-873F-D02D1690AC5C}">
        <p15:threadingInfo xmlns:p15="http://schemas.microsoft.com/office/powerpoint/2012/main" timeZoneBias="-720"/>
      </p:ext>
    </p:extLst>
  </p:cm>
  <p:cm authorId="1" dt="2025-12-05T20:33:53.343" idx="182">
    <p:pos x="3476" y="1734"/>
    <p:text>отчет об отправке- знак галочки</p:text>
    <p:extLst>
      <p:ext uri="{C676402C-5697-4E1C-873F-D02D1690AC5C}">
        <p15:threadingInfo xmlns:p15="http://schemas.microsoft.com/office/powerpoint/2012/main" timeZoneBias="-720"/>
      </p:ext>
    </p:extLst>
  </p:cm>
  <p:cm authorId="1" dt="2025-12-05T20:34:26.319" idx="183">
    <p:pos x="3839" y="1696"/>
    <p:text>отчет о получении адресатом сообщения - знак галочки. При прочтении оба выделяются цветом. Без прочтения -серым</p:text>
    <p:extLst>
      <p:ext uri="{C676402C-5697-4E1C-873F-D02D1690AC5C}">
        <p15:threadingInfo xmlns:p15="http://schemas.microsoft.com/office/powerpoint/2012/main" timeZoneBias="-720"/>
      </p:ext>
    </p:extLst>
  </p:cm>
  <p:cm authorId="1" dt="2025-12-05T20:36:17.125" idx="184">
    <p:pos x="1132" y="1543"/>
    <p:text>строка переписки с адресатом. указана фамилия , инициалы, должность и отдел, несколько первых слов сообщения. При нажатии на строку чата открывается вся переписка, есть функция прикрепления, удаления файлов (включая фото, видео)-как в  вацап</p:text>
    <p:extLst mod="1">
      <p:ext uri="{C676402C-5697-4E1C-873F-D02D1690AC5C}">
        <p15:threadingInfo xmlns:p15="http://schemas.microsoft.com/office/powerpoint/2012/main" timeZoneBias="-720"/>
      </p:ext>
    </p:extLst>
  </p:cm>
  <p:cm authorId="1" dt="2025-12-05T20:48:52.703" idx="185">
    <p:pos x="3482" y="5756"/>
    <p:text>кнопка "звонки"-создать если возможно сделать функцию звонить собеседникам-откроется список совершенных ранее звонков с функцией повторного вызова нужного собеседника из списка звонков</p:text>
    <p:extLst>
      <p:ext uri="{C676402C-5697-4E1C-873F-D02D1690AC5C}">
        <p15:threadingInfo xmlns:p15="http://schemas.microsoft.com/office/powerpoint/2012/main" timeZoneBias="-720"/>
      </p:ext>
    </p:extLst>
  </p:cm>
  <p:cm authorId="1" dt="2025-12-06T14:26:19.141" idx="205">
    <p:pos x="3266" y="1948"/>
    <p:text>значок в строке чата "прикрепить файлы" (заменить на значок скрепки)-возможность прикрепления фото, видео и документов</p:text>
    <p:extLst>
      <p:ext uri="{C676402C-5697-4E1C-873F-D02D1690AC5C}">
        <p15:threadingInfo xmlns:p15="http://schemas.microsoft.com/office/powerpoint/2012/main" timeZoneBias="-720"/>
      </p:ext>
    </p:extLst>
  </p:cm>
  <p:cm authorId="1" dt="2025-12-06T14:49:33.676" idx="206">
    <p:pos x="3960" y="187"/>
    <p:text>меню настроек чатов . изменение размера и типа шрифта, цвет фона страницы и вкладок, доступ к базе контактов коллег по своему и смежному предприятию и зарегестрированным клиентам. Админ отдела IT  делает так, что в список контактов попадают все зарегестрированные работники, этот список доступен всем работникам своего предприятия. Для клиентов и работников смежных предприятий видны официальные контакты канцелярии предприятия (почтовый адрес, e-mail, телефон, факс. Что еще может понадобиться в списке меню, можете предложить</p:text>
    <p:extLst>
      <p:ext uri="{C676402C-5697-4E1C-873F-D02D1690AC5C}">
        <p15:threadingInfo xmlns:p15="http://schemas.microsoft.com/office/powerpoint/2012/main" timeZoneBias="-720"/>
      </p:ext>
    </p:extLst>
  </p:cm>
</p:cmLst>
</file>

<file path=ppt/comments/comment25.xml><?xml version="1.0" encoding="utf-8"?>
<p:cmLst xmlns:a="http://schemas.openxmlformats.org/drawingml/2006/main" xmlns:r="http://schemas.openxmlformats.org/officeDocument/2006/relationships" xmlns:p="http://schemas.openxmlformats.org/presentationml/2006/main">
  <p:cm authorId="1" dt="2025-04-06T16:39:53.510" idx="65">
    <p:pos x="392" y="6572"/>
    <p:text>на данной вкладке возможна переписка (звонки возможно сделать на сайте?) с коллегами по роду деятельности отдела (группы). (визуально аналог вацап и минимальный функционал для переписки</p:text>
    <p:extLst>
      <p:ext uri="{C676402C-5697-4E1C-873F-D02D1690AC5C}">
        <p15:threadingInfo xmlns:p15="http://schemas.microsoft.com/office/powerpoint/2012/main" timeZoneBias="-720"/>
      </p:ext>
    </p:extLst>
  </p:cm>
  <p:cm authorId="1" dt="2025-04-06T16:43:14.437" idx="66">
    <p:pos x="1563" y="6583"/>
    <p:text>при нажатии открывается аналогичное окно мессенджера, в поиске по названию отдела или фамилии и должности его работника после появление в поисковой строке названия отдела подтверждается нажатием и открывается групповой чат со всеми работниками данного отдела. в данном разделе мессенджера отображаются строками чаты отделов коллег, с наименованием чата согласно названию отдела. при нажатии на строку открываются списком чаты с каждым работником с наименованием в заголовке строки переписки его должности. фамилии, инициалов</p:text>
    <p:extLst mod="1">
      <p:ext uri="{C676402C-5697-4E1C-873F-D02D1690AC5C}">
        <p15:threadingInfo xmlns:p15="http://schemas.microsoft.com/office/powerpoint/2012/main" timeZoneBias="-720"/>
      </p:ext>
    </p:extLst>
  </p:cm>
  <p:cm authorId="1" dt="2025-04-06T16:55:19.186" idx="67">
    <p:pos x="2725" y="6572"/>
    <p:text>клиенты (зарегестрированные и нет) компании могут в поиске выбрать групповой чат необходимого отдела по его названию или ФИО и должности работника. Переписка в мессенджере  сохраняется</p:text>
    <p:extLst>
      <p:ext uri="{C676402C-5697-4E1C-873F-D02D1690AC5C}">
        <p15:threadingInfo xmlns:p15="http://schemas.microsoft.com/office/powerpoint/2012/main" timeZoneBias="-720"/>
      </p:ext>
    </p:extLst>
  </p:cm>
  <p:cm authorId="1" dt="2025-04-06T17:26:25.034" idx="68">
    <p:pos x="3610" y="26"/>
    <p:text>меню настроек чатов . изменение размера и типа шрифта, цвет фона страницы и вкладок, доступ к базе контактов коллег по своему и смежному предприятию и зарегестрированным клиентам Что еще может понадобиться, можете предложить</p:text>
    <p:extLst mod="1">
      <p:ext uri="{C676402C-5697-4E1C-873F-D02D1690AC5C}">
        <p15:threadingInfo xmlns:p15="http://schemas.microsoft.com/office/powerpoint/2012/main" timeZoneBias="-720"/>
      </p:ext>
    </p:extLst>
  </p:cm>
  <p:cm authorId="1" dt="2025-04-06T17:26:38.943" idx="69">
    <p:pos x="2725" y="627"/>
    <p:text>поиск чатов по названиям отделов, должности, ФИО</p:text>
    <p:extLst mod="1">
      <p:ext uri="{C676402C-5697-4E1C-873F-D02D1690AC5C}">
        <p15:threadingInfo xmlns:p15="http://schemas.microsoft.com/office/powerpoint/2012/main" timeZoneBias="-720"/>
      </p:ext>
    </p:extLst>
  </p:cm>
  <p:cm authorId="1" dt="2025-04-06T17:29:58.783" idx="70">
    <p:pos x="145" y="123"/>
    <p:text>мессенджер с чатами переписок с коллегами с других отделов, механика действия аналогична предидущей вкладке, но только чаты с коллегами, наименования  согласно названиям отделов в структуре предприятия</p:text>
    <p:extLst mod="1">
      <p:ext uri="{C676402C-5697-4E1C-873F-D02D1690AC5C}">
        <p15:threadingInfo xmlns:p15="http://schemas.microsoft.com/office/powerpoint/2012/main" timeZoneBias="-720"/>
      </p:ext>
    </p:extLst>
  </p:cm>
  <p:cm authorId="1" dt="2025-04-06T17:30:21.461" idx="71">
    <p:pos x="370" y="734"/>
    <p:text>вернуться назад</p:text>
    <p:extLst mod="1">
      <p:ext uri="{C676402C-5697-4E1C-873F-D02D1690AC5C}">
        <p15:threadingInfo xmlns:p15="http://schemas.microsoft.com/office/powerpoint/2012/main" timeZoneBias="-720"/>
      </p:ext>
    </p:extLst>
  </p:cm>
  <p:cm authorId="1" dt="2025-04-06T17:30:56.706" idx="72">
    <p:pos x="3817" y="1450"/>
    <p:text>время отправки или получения последнего сообщения</p:text>
    <p:extLst mod="1">
      <p:ext uri="{C676402C-5697-4E1C-873F-D02D1690AC5C}">
        <p15:threadingInfo xmlns:p15="http://schemas.microsoft.com/office/powerpoint/2012/main" timeZoneBias="-720"/>
      </p:ext>
    </p:extLst>
  </p:cm>
  <p:cm authorId="1" dt="2025-12-05T21:16:32.308" idx="188">
    <p:pos x="1779" y="885"/>
    <p:text>дата переписки в данном чате</p:text>
    <p:extLst mod="1">
      <p:ext uri="{C676402C-5697-4E1C-873F-D02D1690AC5C}">
        <p15:threadingInfo xmlns:p15="http://schemas.microsoft.com/office/powerpoint/2012/main" timeZoneBias="-720"/>
      </p:ext>
    </p:extLst>
  </p:cm>
  <p:cm authorId="1" dt="2025-12-05T21:19:03.447" idx="189">
    <p:pos x="2510" y="1142"/>
    <p:text>наименование чата с данным отделом, где будут отражена переписка со всеми работниками данного отдела</p:text>
    <p:extLst mod="1">
      <p:ext uri="{C676402C-5697-4E1C-873F-D02D1690AC5C}">
        <p15:threadingInfo xmlns:p15="http://schemas.microsoft.com/office/powerpoint/2012/main" timeZoneBias="-720"/>
      </p:ext>
    </p:extLst>
  </p:cm>
  <p:cm authorId="1" dt="2025-12-05T21:33:37.150" idx="191">
    <p:pos x="3919" y="6953"/>
    <p:text>при нажатии всплывающее окно и текстом краткая инструкция о назначении и возможностях данной страницы</p:text>
    <p:extLst>
      <p:ext uri="{C676402C-5697-4E1C-873F-D02D1690AC5C}">
        <p15:threadingInfo xmlns:p15="http://schemas.microsoft.com/office/powerpoint/2012/main" timeZoneBias="-720"/>
      </p:ext>
    </p:extLst>
  </p:cm>
  <p:cm authorId="1" dt="2025-12-06T14:04:33.750" idx="204">
    <p:pos x="3654" y="5651"/>
    <p:text>кнопка "звонки"-создать если возможно сделать функцию звонить собеседникам-откроется список совершенных ранее звонков с функцией повторного вызова нужного собеседника из списка звонков</p:text>
    <p:extLst>
      <p:ext uri="{C676402C-5697-4E1C-873F-D02D1690AC5C}">
        <p15:threadingInfo xmlns:p15="http://schemas.microsoft.com/office/powerpoint/2012/main" timeZoneBias="-720"/>
      </p:ext>
    </p:extLst>
  </p:cm>
</p:cmLst>
</file>

<file path=ppt/comments/comment26.xml><?xml version="1.0" encoding="utf-8"?>
<p:cmLst xmlns:a="http://schemas.openxmlformats.org/drawingml/2006/main" xmlns:r="http://schemas.openxmlformats.org/officeDocument/2006/relationships" xmlns:p="http://schemas.openxmlformats.org/presentationml/2006/main">
  <p:cm authorId="1" dt="2025-04-06T16:39:53.510" idx="65">
    <p:pos x="258" y="6171"/>
    <p:text>на данной вкладке возможна переписка (звонки возможно сделать на сайте?) с коллегами по роду деятельности своего структурного подразделения (отдела или группы). (визуально возможно как вацап или аналог и минимальный функционал для переписки</p:text>
    <p:extLst mod="1">
      <p:ext uri="{C676402C-5697-4E1C-873F-D02D1690AC5C}">
        <p15:threadingInfo xmlns:p15="http://schemas.microsoft.com/office/powerpoint/2012/main" timeZoneBias="-720"/>
      </p:ext>
    </p:extLst>
  </p:cm>
  <p:cm authorId="1" dt="2025-04-06T16:43:14.437" idx="66">
    <p:pos x="1553" y="6172"/>
    <p:text>при нажатии открывается аналогичное окно мессенджера, в поиске по названию отдела или фамилии и должности его работника после появление в поисковой строке названия отдела подтверждается нажатием и открывается групповой чат со всеми работниками данного отдела.</p:text>
    <p:extLst mod="1">
      <p:ext uri="{C676402C-5697-4E1C-873F-D02D1690AC5C}">
        <p15:threadingInfo xmlns:p15="http://schemas.microsoft.com/office/powerpoint/2012/main" timeZoneBias="-720"/>
      </p:ext>
    </p:extLst>
  </p:cm>
  <p:cm authorId="1" dt="2025-04-06T16:55:19.186" idx="67">
    <p:pos x="2724" y="6140"/>
    <p:text>Механика работы и функции вкладки аналогичны вышеописанным предидущим вкладкам. Работник может общаться с работниками смежных предприятий и клиентами (зарегестрированными, и нах-ся в контактах) входя в чаты нажав кнопку "клиенты". Сами клиенты (зарегестрированные и нет) и клиенты (работники) из смежных компаний могут в поиске выбрать групповой чат необходимого отдела по его названию или ФИО и должности работника. Переписка в мессенджере  сохраняется, черновик сообщения (не отправленный тоже)</p:text>
    <p:extLst mod="1">
      <p:ext uri="{C676402C-5697-4E1C-873F-D02D1690AC5C}">
        <p15:threadingInfo xmlns:p15="http://schemas.microsoft.com/office/powerpoint/2012/main" timeZoneBias="-720"/>
      </p:ext>
    </p:extLst>
  </p:cm>
  <p:cm authorId="1" dt="2025-04-06T17:26:25.034" idx="68">
    <p:pos x="3826" y="273"/>
    <p:text>меню настроек-сменить на значек шестеренки</p:text>
    <p:extLst mod="1">
      <p:ext uri="{C676402C-5697-4E1C-873F-D02D1690AC5C}">
        <p15:threadingInfo xmlns:p15="http://schemas.microsoft.com/office/powerpoint/2012/main" timeZoneBias="-720"/>
      </p:ext>
    </p:extLst>
  </p:cm>
  <p:cm authorId="1" dt="2025-04-06T17:26:38.943" idx="69">
    <p:pos x="2539" y="657"/>
    <p:text>поиск чатов по названиям отделов, должности, ФИО, никам согласно  внесенных в контакты клиентов и работников смежных предприятий</p:text>
    <p:extLst mod="1">
      <p:ext uri="{C676402C-5697-4E1C-873F-D02D1690AC5C}">
        <p15:threadingInfo xmlns:p15="http://schemas.microsoft.com/office/powerpoint/2012/main" timeZoneBias="-720"/>
      </p:ext>
    </p:extLst>
  </p:cm>
  <p:cm authorId="1" dt="2025-04-06T17:30:21.461" idx="71">
    <p:pos x="330" y="806"/>
    <p:text>кнопка вернуться назад</p:text>
    <p:extLst mod="1">
      <p:ext uri="{C676402C-5697-4E1C-873F-D02D1690AC5C}">
        <p15:threadingInfo xmlns:p15="http://schemas.microsoft.com/office/powerpoint/2012/main" timeZoneBias="-720"/>
      </p:ext>
    </p:extLst>
  </p:cm>
  <p:cm authorId="1" dt="2025-04-06T17:30:56.706" idx="72">
    <p:pos x="3436" y="1430"/>
    <p:text>время отправки сообщения</p:text>
    <p:extLst>
      <p:ext uri="{C676402C-5697-4E1C-873F-D02D1690AC5C}">
        <p15:threadingInfo xmlns:p15="http://schemas.microsoft.com/office/powerpoint/2012/main" timeZoneBias="-720"/>
      </p:ext>
    </p:extLst>
  </p:cm>
  <p:cm authorId="1" dt="2025-04-06T17:35:49.154" idx="73">
    <p:pos x="2295" y="885"/>
    <p:text>дата переписки появляется  при открытии чата</p:text>
    <p:extLst mod="1">
      <p:ext uri="{C676402C-5697-4E1C-873F-D02D1690AC5C}">
        <p15:threadingInfo xmlns:p15="http://schemas.microsoft.com/office/powerpoint/2012/main" timeZoneBias="-720"/>
      </p:ext>
    </p:extLst>
  </p:cm>
  <p:cm authorId="1" dt="2025-04-23T17:27:00.839" idx="120">
    <p:pos x="2646" y="195"/>
    <p:text>при нажатии переход на слайд 18 (открывается почтовая программа-должна открываться как с компьютера, так и мобильных устройств</p:text>
    <p:extLst mod="1">
      <p:ext uri="{C676402C-5697-4E1C-873F-D02D1690AC5C}">
        <p15:threadingInfo xmlns:p15="http://schemas.microsoft.com/office/powerpoint/2012/main" timeZoneBias="-720"/>
      </p:ext>
    </p:extLst>
  </p:cm>
  <p:cm authorId="1" dt="2025-12-05T21:32:00.600" idx="190">
    <p:pos x="3797" y="6988"/>
    <p:text>при нажатии всплывающее окно и текстом краткая инструкция о назначении и возможностях данной страницы</p:text>
    <p:extLst mod="1">
      <p:ext uri="{C676402C-5697-4E1C-873F-D02D1690AC5C}">
        <p15:threadingInfo xmlns:p15="http://schemas.microsoft.com/office/powerpoint/2012/main" timeZoneBias="-720"/>
      </p:ext>
    </p:extLst>
  </p:cm>
  <p:cm authorId="1" dt="2025-12-06T14:58:26.450" idx="207">
    <p:pos x="1348" y="185"/>
    <p:text>мессенджер с чатами переписок с клиентами и работниками смежных предприятий, механика работы аналогична предидущей вкладке, наименования чатов согласно ФИО, нику или заполненной карточке при регистрации работника со смежного предприятия  согласно названиям отделов в структуре предприятия</p:text>
    <p:extLst>
      <p:ext uri="{C676402C-5697-4E1C-873F-D02D1690AC5C}">
        <p15:threadingInfo xmlns:p15="http://schemas.microsoft.com/office/powerpoint/2012/main" timeZoneBias="-720"/>
      </p:ext>
    </p:extLst>
  </p:cm>
</p:cmLst>
</file>

<file path=ppt/comments/comment27.xml><?xml version="1.0" encoding="utf-8"?>
<p:cmLst xmlns:a="http://schemas.openxmlformats.org/drawingml/2006/main" xmlns:r="http://schemas.openxmlformats.org/officeDocument/2006/relationships" xmlns:p="http://schemas.openxmlformats.org/presentationml/2006/main">
  <p:cm authorId="1" dt="2025-04-06T17:26:25.034" idx="68">
    <p:pos x="3775" y="201"/>
    <p:text>меню настроек-сменить на значек шестеренки. в меню ввести строку "Контакты", отображать эл. адреса всех зарегестрированных работников своего предприятия( видны(доступ) только работникам своего предприятия. Для клиентов и работникам смежных предприятий  отображать эл адреса приемной (Канцелярии) своего Предприятия и смежных предприятий?</p:text>
    <p:extLst mod="1">
      <p:ext uri="{C676402C-5697-4E1C-873F-D02D1690AC5C}">
        <p15:threadingInfo xmlns:p15="http://schemas.microsoft.com/office/powerpoint/2012/main" timeZoneBias="-720"/>
      </p:ext>
    </p:extLst>
  </p:cm>
  <p:cm authorId="1" dt="2025-04-06T17:26:38.943" idx="69">
    <p:pos x="3033" y="822"/>
    <p:text>поиск сообщений в по названиям отделов, должности, ФИО, почтового эл. адреса</p:text>
    <p:extLst mod="1">
      <p:ext uri="{C676402C-5697-4E1C-873F-D02D1690AC5C}">
        <p15:threadingInfo xmlns:p15="http://schemas.microsoft.com/office/powerpoint/2012/main" timeZoneBias="-720"/>
      </p:ext>
    </p:extLst>
  </p:cm>
  <p:cm authorId="1" dt="2025-04-06T17:30:21.461" idx="71">
    <p:pos x="381" y="652"/>
    <p:text>кнопка вернуться назад</p:text>
    <p:extLst mod="1">
      <p:ext uri="{C676402C-5697-4E1C-873F-D02D1690AC5C}">
        <p15:threadingInfo xmlns:p15="http://schemas.microsoft.com/office/powerpoint/2012/main" timeZoneBias="-720"/>
      </p:ext>
    </p:extLst>
  </p:cm>
  <p:cm authorId="1" dt="2025-04-06T17:30:56.706" idx="72">
    <p:pos x="3590" y="1091"/>
    <p:text>время отправки, получения или сохр черновика сообщения</p:text>
    <p:extLst mod="1">
      <p:ext uri="{C676402C-5697-4E1C-873F-D02D1690AC5C}">
        <p15:threadingInfo xmlns:p15="http://schemas.microsoft.com/office/powerpoint/2012/main" timeZoneBias="-720"/>
      </p:ext>
    </p:extLst>
  </p:cm>
  <p:cm authorId="1" dt="2025-04-06T17:35:49.154" idx="73">
    <p:pos x="2068" y="875"/>
    <p:text>дата переписки</p:text>
    <p:extLst mod="1">
      <p:ext uri="{C676402C-5697-4E1C-873F-D02D1690AC5C}">
        <p15:threadingInfo xmlns:p15="http://schemas.microsoft.com/office/powerpoint/2012/main" timeZoneBias="-720"/>
      </p:ext>
    </p:extLst>
  </p:cm>
  <p:cm authorId="1" dt="2025-12-05T21:38:04.747" idx="192">
    <p:pos x="3953" y="7018"/>
    <p:text>при нажатии всплывающее окно и текстом краткая инструкция о назначении и возможностях данной страницы</p:text>
    <p:extLst mod="1">
      <p:ext uri="{C676402C-5697-4E1C-873F-D02D1690AC5C}">
        <p15:threadingInfo xmlns:p15="http://schemas.microsoft.com/office/powerpoint/2012/main" timeZoneBias="-720"/>
      </p:ext>
    </p:extLst>
  </p:cm>
  <p:cm authorId="1" dt="2025-12-06T11:31:45.989" idx="200">
    <p:pos x="1028" y="1080"/>
    <p:text>категория сообщения</p:text>
    <p:extLst>
      <p:ext uri="{C676402C-5697-4E1C-873F-D02D1690AC5C}">
        <p15:threadingInfo xmlns:p15="http://schemas.microsoft.com/office/powerpoint/2012/main" timeZoneBias="-720"/>
      </p:ext>
    </p:extLst>
  </p:cm>
  <p:cm authorId="1" dt="2025-12-06T11:32:11.374" idx="201">
    <p:pos x="1450" y="2355"/>
    <p:text>категория сообщения</p:text>
    <p:extLst>
      <p:ext uri="{C676402C-5697-4E1C-873F-D02D1690AC5C}">
        <p15:threadingInfo xmlns:p15="http://schemas.microsoft.com/office/powerpoint/2012/main" timeZoneBias="-720"/>
      </p:ext>
    </p:extLst>
  </p:cm>
  <p:cm authorId="1" dt="2025-12-06T11:32:16.711" idx="202">
    <p:pos x="1172" y="4495"/>
    <p:text>категория сообщения</p:text>
    <p:extLst>
      <p:ext uri="{C676402C-5697-4E1C-873F-D02D1690AC5C}">
        <p15:threadingInfo xmlns:p15="http://schemas.microsoft.com/office/powerpoint/2012/main" timeZoneBias="-720"/>
      </p:ext>
    </p:extLst>
  </p:cm>
  <p:cm authorId="1" dt="2025-12-06T11:32:50.318" idx="203">
    <p:pos x="3119" y="164"/>
    <p:text>при нажатии вкладка выделяется цветом, и открывается служебный почтовый сервер своего предприятия (настраивает админ ?). Наверное админ из отдела IT при настройке сайта будет связывать переход работникам на почтовый сервер предприятия при нажатии на на даннную вкладку? как лучше сделать, чтобы и с личного адреса своего, другого почт сервера можно было написать ? для клиентов и работников других предприятий нажатие на вкладку дает переход на поисковую строку "Яндекс" где можно ввести свой почтовый сервер и войти через авторизацию  с вводом пароля и пр. Или по другому можно сделать?</p:text>
    <p:extLst>
      <p:ext uri="{C676402C-5697-4E1C-873F-D02D1690AC5C}">
        <p15:threadingInfo xmlns:p15="http://schemas.microsoft.com/office/powerpoint/2012/main" timeZoneBias="-720"/>
      </p:ext>
    </p:extLst>
  </p:cm>
</p:cmLst>
</file>

<file path=ppt/comments/comment28.xml><?xml version="1.0" encoding="utf-8"?>
<p:cmLst xmlns:a="http://schemas.openxmlformats.org/drawingml/2006/main" xmlns:r="http://schemas.openxmlformats.org/officeDocument/2006/relationships" xmlns:p="http://schemas.openxmlformats.org/presentationml/2006/main">
  <p:cm authorId="1" dt="2025-04-06T18:05:20.340" idx="74">
    <p:pos x="966" y="2139"/>
    <p:text>переход на слайд 29</p:text>
    <p:extLst mod="1">
      <p:ext uri="{C676402C-5697-4E1C-873F-D02D1690AC5C}">
        <p15:threadingInfo xmlns:p15="http://schemas.microsoft.com/office/powerpoint/2012/main" timeZoneBias="-720"/>
      </p:ext>
    </p:extLst>
  </p:cm>
  <p:cm authorId="1" dt="2025-04-06T18:05:50.031" idx="75">
    <p:pos x="1121" y="2943"/>
    <p:text>переход на слайд 31</p:text>
    <p:extLst mod="1">
      <p:ext uri="{C676402C-5697-4E1C-873F-D02D1690AC5C}">
        <p15:threadingInfo xmlns:p15="http://schemas.microsoft.com/office/powerpoint/2012/main" timeZoneBias="-720"/>
      </p:ext>
    </p:extLst>
  </p:cm>
  <p:cm authorId="1" dt="2025-04-11T11:53:26.562" idx="86">
    <p:pos x="1244" y="3713"/>
    <p:text>переход на слайд 32</p:text>
    <p:extLst mod="1">
      <p:ext uri="{C676402C-5697-4E1C-873F-D02D1690AC5C}">
        <p15:threadingInfo xmlns:p15="http://schemas.microsoft.com/office/powerpoint/2012/main" timeZoneBias="-720"/>
      </p:ext>
    </p:extLst>
  </p:cm>
  <p:cm authorId="1" dt="2025-04-11T11:55:36.297" idx="87">
    <p:pos x="1337" y="4557"/>
    <p:text>переход на слайд 33</p:text>
    <p:extLst mod="1">
      <p:ext uri="{C676402C-5697-4E1C-873F-D02D1690AC5C}">
        <p15:threadingInfo xmlns:p15="http://schemas.microsoft.com/office/powerpoint/2012/main" timeZoneBias="-720"/>
      </p:ext>
    </p:extLst>
  </p:cm>
  <p:cm authorId="1" dt="2025-12-05T21:38:18.594" idx="193">
    <p:pos x="3554" y="7105"/>
    <p:text>при нажатии всплывающее окно и текстом краткая инструкция о назначении и возможностях данной страницы</p:text>
    <p:extLst mod="1">
      <p:ext uri="{C676402C-5697-4E1C-873F-D02D1690AC5C}">
        <p15:threadingInfo xmlns:p15="http://schemas.microsoft.com/office/powerpoint/2012/main" timeZoneBias="-720"/>
      </p:ext>
    </p:extLst>
  </p:cm>
  <p:cm authorId="1" dt="2025-12-06T15:16:37.837" idx="208">
    <p:pos x="3950" y="7046"/>
    <p:text>данная страница для авторизации(сделать на выбор-почта, телефон, номер ID телефона или компа?) с созданием личного кабинета для работников своего, смежных предприятий и клиентов с созданием логина и пароля при входе на сайт. Если можно сделать проще вход-предложите как лучше сделать по другому.</p:text>
    <p:extLst>
      <p:ext uri="{C676402C-5697-4E1C-873F-D02D1690AC5C}">
        <p15:threadingInfo xmlns:p15="http://schemas.microsoft.com/office/powerpoint/2012/main" timeZoneBias="-720"/>
      </p:ext>
    </p:extLst>
  </p:cm>
</p:cmLst>
</file>

<file path=ppt/comments/comment29.xml><?xml version="1.0" encoding="utf-8"?>
<p:cmLst xmlns:a="http://schemas.openxmlformats.org/drawingml/2006/main" xmlns:r="http://schemas.openxmlformats.org/officeDocument/2006/relationships" xmlns:p="http://schemas.openxmlformats.org/presentationml/2006/main">
  <p:cm authorId="1" dt="2025-04-06T19:10:28.705" idx="79">
    <p:pos x="402" y="2119"/>
    <p:text>при нажатии переход на слайд 30</p:text>
    <p:extLst mod="1">
      <p:ext uri="{C676402C-5697-4E1C-873F-D02D1690AC5C}">
        <p15:threadingInfo xmlns:p15="http://schemas.microsoft.com/office/powerpoint/2012/main" timeZoneBias="-720"/>
      </p:ext>
    </p:extLst>
  </p:cm>
  <p:cm authorId="1" dt="2025-04-11T10:45:26.064" idx="80">
    <p:pos x="2877" y="6811"/>
    <p:text>кнопка "сохранить", - можно другой значок  ( у меня нет нормального в программе)</p:text>
    <p:extLst mod="1">
      <p:ext uri="{C676402C-5697-4E1C-873F-D02D1690AC5C}">
        <p15:threadingInfo xmlns:p15="http://schemas.microsoft.com/office/powerpoint/2012/main" timeZoneBias="-720"/>
      </p:ext>
    </p:extLst>
  </p:cm>
  <p:cm authorId="1" dt="2025-04-11T10:47:44.288" idx="81">
    <p:pos x="617" y="908"/>
    <p:text>кнопка активации корректировки внесенных данных по всем пунктам карточки</p:text>
    <p:extLst mod="1">
      <p:ext uri="{C676402C-5697-4E1C-873F-D02D1690AC5C}">
        <p15:threadingInfo xmlns:p15="http://schemas.microsoft.com/office/powerpoint/2012/main" timeZoneBias="-720"/>
      </p:ext>
    </p:extLst>
  </p:cm>
  <p:cm authorId="1" dt="2025-04-11T11:17:21.889" idx="84">
    <p:pos x="3358" y="897"/>
    <p:text>по желанию участника, фото всех распространенных форматов фото и рисунков</p:text>
    <p:extLst mod="1">
      <p:ext uri="{C676402C-5697-4E1C-873F-D02D1690AC5C}">
        <p15:threadingInfo xmlns:p15="http://schemas.microsoft.com/office/powerpoint/2012/main" timeZoneBias="-720"/>
      </p:ext>
    </p:extLst>
  </p:cm>
  <p:cm authorId="1" dt="2025-04-14T07:09:44.332" idx="100">
    <p:pos x="3394" y="1759"/>
    <p:text>переход на другую карточку регистрации работникам смежной компании и клиентам. с возможностью анонимной регистрации с созданием"ника". Название "Главснаб"связано с внесенным на слайде 2 наименованием предприятия и автоматически отображается в данной строке</p:text>
    <p:extLst mod="1">
      <p:ext uri="{C676402C-5697-4E1C-873F-D02D1690AC5C}">
        <p15:threadingInfo xmlns:p15="http://schemas.microsoft.com/office/powerpoint/2012/main" timeZoneBias="-720"/>
      </p:ext>
    </p:extLst>
  </p:cm>
  <p:cm authorId="1" dt="2025-12-05T21:38:28.395" idx="194">
    <p:pos x="3703" y="7118"/>
    <p:text>при нажатии всплывающее окно и текстом краткая инструкция о назначении и возможностях данной страницы</p:text>
    <p:extLst mod="1">
      <p:ext uri="{C676402C-5697-4E1C-873F-D02D1690AC5C}">
        <p15:threadingInfo xmlns:p15="http://schemas.microsoft.com/office/powerpoint/2012/main" timeZoneBias="-720"/>
      </p:ext>
    </p:extLst>
  </p:cm>
  <p:cm authorId="1" dt="2025-12-06T15:28:46.868" idx="210">
    <p:pos x="2788" y="175"/>
    <p:text>карточка заполнения профиля клиента и работника смежного Предприятия</p:text>
    <p:extLst>
      <p:ext uri="{C676402C-5697-4E1C-873F-D02D1690AC5C}">
        <p15:threadingInfo xmlns:p15="http://schemas.microsoft.com/office/powerpoint/2012/main" timeZoneBias="-720"/>
      </p:ext>
    </p:extLst>
  </p:cm>
  <p:cm authorId="1" dt="2025-12-14T15:21:45.200" idx="241">
    <p:pos x="3944" y="6927"/>
    <p:text>если можно сделать проще и лучше карточку-предлагайте вариант</p:text>
    <p:extLst>
      <p:ext uri="{C676402C-5697-4E1C-873F-D02D1690AC5C}">
        <p15:threadingInfo xmlns:p15="http://schemas.microsoft.com/office/powerpoint/2012/main" timeZoneBias="-720"/>
      </p:ext>
    </p:extLst>
  </p:cm>
</p:cmLst>
</file>

<file path=ppt/comments/comment30.xml><?xml version="1.0" encoding="utf-8"?>
<p:cmLst xmlns:a="http://schemas.openxmlformats.org/drawingml/2006/main" xmlns:r="http://schemas.openxmlformats.org/officeDocument/2006/relationships" xmlns:p="http://schemas.openxmlformats.org/presentationml/2006/main">
  <p:cm authorId="1" dt="2025-04-11T10:52:01.960" idx="82">
    <p:pos x="1653" y="773"/>
    <p:text>кнопка "сохранить"(другой значок), -активна если автор не аноним, начал заполнять карточку после имени или ника</p:text>
    <p:extLst mod="1">
      <p:ext uri="{C676402C-5697-4E1C-873F-D02D1690AC5C}">
        <p15:threadingInfo xmlns:p15="http://schemas.microsoft.com/office/powerpoint/2012/main" timeZoneBias="-720"/>
      </p:ext>
    </p:extLst>
  </p:cm>
  <p:cm authorId="1" dt="2025-04-11T10:52:36.041" idx="83">
    <p:pos x="3116" y="844"/>
    <p:text>фото необязательно при регистрации-по желанию(в сноске)</p:text>
    <p:extLst mod="1">
      <p:ext uri="{C676402C-5697-4E1C-873F-D02D1690AC5C}">
        <p15:threadingInfo xmlns:p15="http://schemas.microsoft.com/office/powerpoint/2012/main" timeZoneBias="-720"/>
      </p:ext>
    </p:extLst>
  </p:cm>
  <p:cm authorId="1" dt="2025-04-11T11:41:51.337" idx="85">
    <p:pos x="2314" y="894"/>
    <p:text>появляется после сохранения</p:text>
    <p:extLst mod="1">
      <p:ext uri="{C676402C-5697-4E1C-873F-D02D1690AC5C}">
        <p15:threadingInfo xmlns:p15="http://schemas.microsoft.com/office/powerpoint/2012/main" timeZoneBias="-720"/>
      </p:ext>
    </p:extLst>
  </p:cm>
  <p:cm authorId="1" dt="2025-12-05T21:38:40.548" idx="195">
    <p:pos x="3960" y="6744"/>
    <p:text>при нажатии всплывающее окно и текстом краткая инструкция о назначении и возможностях данной страницы</p:text>
    <p:extLst mod="1">
      <p:ext uri="{C676402C-5697-4E1C-873F-D02D1690AC5C}">
        <p15:threadingInfo xmlns:p15="http://schemas.microsoft.com/office/powerpoint/2012/main" timeZoneBias="-720"/>
      </p:ext>
    </p:extLst>
  </p:cm>
  <p:cm authorId="1" dt="2025-12-06T15:20:30.317" idx="209">
    <p:pos x="2654" y="6182"/>
    <p:text>При желании анонимности автора нажимается данное поле-кнопка и кнопка "сохранить"(или просто раз на поле, как проще), вносится только созданный им ник. При попытке сохранить  Вопрос-возможно ли без привязки к номеру телефона, эл. почте создать контакт по ID номеру одного устройства или нескольких с внесенныи данными только ника?</p:text>
    <p:extLst>
      <p:ext uri="{C676402C-5697-4E1C-873F-D02D1690AC5C}">
        <p15:threadingInfo xmlns:p15="http://schemas.microsoft.com/office/powerpoint/2012/main" timeZoneBias="-720"/>
      </p:ext>
    </p:extLst>
  </p:cm>
  <p:cm authorId="1" dt="2025-12-06T15:30:04.368" idx="211">
    <p:pos x="3055" y="278"/>
    <p:text>карточка регистрации для работников смежного предприятия и клиентов</p:text>
    <p:extLst>
      <p:ext uri="{C676402C-5697-4E1C-873F-D02D1690AC5C}">
        <p15:threadingInfo xmlns:p15="http://schemas.microsoft.com/office/powerpoint/2012/main" timeZoneBias="-720"/>
      </p:ext>
    </p:extLst>
  </p:cm>
  <p:cm authorId="1" dt="2025-12-06T16:21:34.452" idx="212">
    <p:pos x="3034" y="5565"/>
    <p:text>создается автором карточки, уровень безопасности от среднего до высокого. подсказка при вводе сколько и каких знаков необходимо при создании пароля</p:text>
    <p:extLst>
      <p:ext uri="{C676402C-5697-4E1C-873F-D02D1690AC5C}">
        <p15:threadingInfo xmlns:p15="http://schemas.microsoft.com/office/powerpoint/2012/main" timeZoneBias="-720"/>
      </p:ext>
    </p:extLst>
  </p:cm>
  <p:cm authorId="1" dt="2025-12-06T16:31:41.537" idx="213">
    <p:pos x="3292" y="6130"/>
    <p:text>надпись кнопки неактивна если начаты заполнения карточк. после внесения имени или ника активна</p:text>
    <p:extLst>
      <p:ext uri="{C676402C-5697-4E1C-873F-D02D1690AC5C}">
        <p15:threadingInfo xmlns:p15="http://schemas.microsoft.com/office/powerpoint/2012/main" timeZoneBias="-720"/>
      </p:ext>
    </p:extLst>
  </p:cm>
  <p:cm authorId="1" dt="2025-12-26T13:34:40.513" idx="294">
    <p:pos x="1687" y="2952"/>
    <p:text>"необязательно" в сноске</p:text>
    <p:extLst>
      <p:ext uri="{C676402C-5697-4E1C-873F-D02D1690AC5C}">
        <p15:threadingInfo xmlns:p15="http://schemas.microsoft.com/office/powerpoint/2012/main" timeZoneBias="-720"/>
      </p:ext>
    </p:extLst>
  </p:cm>
</p:cmLst>
</file>

<file path=ppt/comments/comment31.xml><?xml version="1.0" encoding="utf-8"?>
<p:cmLst xmlns:a="http://schemas.openxmlformats.org/drawingml/2006/main" xmlns:r="http://schemas.openxmlformats.org/officeDocument/2006/relationships" xmlns:p="http://schemas.openxmlformats.org/presentationml/2006/main">
  <p:cm authorId="1" dt="2025-04-02T14:28:14.547" idx="46">
    <p:pos x="3343" y="1255"/>
    <p:text>при нажатии открывается страница и  варианты режимов "без звука" , "звук", "вибро" с   отбражением в верхней части экрана соответствующим символом (как в телефоне). В режиме "Звук" дается на выбор несколько типовых коротких мелодий "beep" и тп аналоги.  (Так можно, или как проще?)</p:text>
    <p:extLst mod="1">
      <p:ext uri="{C676402C-5697-4E1C-873F-D02D1690AC5C}">
        <p15:threadingInfo xmlns:p15="http://schemas.microsoft.com/office/powerpoint/2012/main" timeZoneBias="-720"/>
      </p:ext>
    </p:extLst>
  </p:cm>
  <p:cm authorId="1" dt="2025-04-02T14:50:11.847" idx="47">
    <p:pos x="1050" y="2160"/>
    <p:text>в первой версии программы только русский язык, в дальнейшем возможность смены на английский и пр языки</p:text>
    <p:extLst mod="1">
      <p:ext uri="{C676402C-5697-4E1C-873F-D02D1690AC5C}">
        <p15:threadingInfo xmlns:p15="http://schemas.microsoft.com/office/powerpoint/2012/main" timeZoneBias="-720"/>
      </p:ext>
    </p:extLst>
  </p:cm>
  <p:cm authorId="1" dt="2025-04-02T14:53:00.284" idx="48">
    <p:pos x="3641" y="1111"/>
    <p:text>возможность выбора вариантов набора текста (аналогия как клавиатура телефона)</p:text>
    <p:extLst mod="1">
      <p:ext uri="{C676402C-5697-4E1C-873F-D02D1690AC5C}">
        <p15:threadingInfo xmlns:p15="http://schemas.microsoft.com/office/powerpoint/2012/main" timeZoneBias="-720"/>
      </p:ext>
    </p:extLst>
  </p:cm>
  <p:cm authorId="1" dt="2025-04-02T14:55:01.535" idx="50">
    <p:pos x="1054" y="4042"/>
    <p:text>возможность выбора цветов и тонов фона экрана приложения ,кнопок и тп</p:text>
    <p:extLst mod="1">
      <p:ext uri="{C676402C-5697-4E1C-873F-D02D1690AC5C}">
        <p15:threadingInfo xmlns:p15="http://schemas.microsoft.com/office/powerpoint/2012/main" timeZoneBias="-720"/>
      </p:ext>
    </p:extLst>
  </p:cm>
  <p:cm authorId="1" dt="2025-04-02T14:56:37.152" idx="51">
    <p:pos x="1108" y="3117"/>
    <p:text>настройка клавиатуры (размер, шрифты и тп)</p:text>
    <p:extLst mod="1">
      <p:ext uri="{C676402C-5697-4E1C-873F-D02D1690AC5C}">
        <p15:threadingInfo xmlns:p15="http://schemas.microsoft.com/office/powerpoint/2012/main" timeZoneBias="-720"/>
      </p:ext>
    </p:extLst>
  </p:cm>
  <p:cm authorId="1" dt="2025-04-02T15:09:56.769" idx="52">
    <p:pos x="1121" y="4971"/>
    <p:text>при нажатии отображается как на слайде 33</p:text>
    <p:extLst mod="1">
      <p:ext uri="{C676402C-5697-4E1C-873F-D02D1690AC5C}">
        <p15:threadingInfo xmlns:p15="http://schemas.microsoft.com/office/powerpoint/2012/main" timeZoneBias="-720"/>
      </p:ext>
    </p:extLst>
  </p:cm>
  <p:cm authorId="1" dt="2025-04-02T18:48:46.688" idx="56">
    <p:pos x="360" y="594"/>
    <p:text>кнопка "вернуться обратно"</p:text>
    <p:extLst mod="1">
      <p:ext uri="{C676402C-5697-4E1C-873F-D02D1690AC5C}">
        <p15:threadingInfo xmlns:p15="http://schemas.microsoft.com/office/powerpoint/2012/main" timeZoneBias="-720"/>
      </p:ext>
    </p:extLst>
  </p:cm>
  <p:cm authorId="1" dt="2025-12-05T21:38:59.776" idx="196">
    <p:pos x="3816" y="7019"/>
    <p:text>Если есть вариант сделать проще и лучше-предлагайте. при нажатии всплывающее окно и текстом краткая инструкция о назначении и возможностях данной страницы</p:text>
    <p:extLst mod="1">
      <p:ext uri="{C676402C-5697-4E1C-873F-D02D1690AC5C}">
        <p15:threadingInfo xmlns:p15="http://schemas.microsoft.com/office/powerpoint/2012/main" timeZoneBias="-720"/>
      </p:ext>
    </p:extLst>
  </p:cm>
  <p:cm authorId="1" dt="2025-12-06T16:39:48.369" idx="214">
    <p:pos x="3086" y="1430"/>
    <p:text>если будет возможность получать  и совершать звонки</p:text>
    <p:extLst>
      <p:ext uri="{C676402C-5697-4E1C-873F-D02D1690AC5C}">
        <p15:threadingInfo xmlns:p15="http://schemas.microsoft.com/office/powerpoint/2012/main" timeZoneBias="-720"/>
      </p:ext>
    </p:extLst>
  </p:cm>
</p:cmLst>
</file>

<file path=ppt/comments/comment32.xml><?xml version="1.0" encoding="utf-8"?>
<p:cmLst xmlns:a="http://schemas.openxmlformats.org/drawingml/2006/main" xmlns:r="http://schemas.openxmlformats.org/officeDocument/2006/relationships" xmlns:p="http://schemas.openxmlformats.org/presentationml/2006/main">
  <p:cm authorId="1" dt="2025-04-06T18:10:50.854" idx="76">
    <p:pos x="638" y="1368"/>
    <p:text>при нажатии в новой странице списком открываются заголовки всех отделов своего предприятия, при нажатии нужного отдела раскрывается списком ниже все работники отдела с указанием должностей и ФИО</p:text>
    <p:extLst mod="1">
      <p:ext uri="{C676402C-5697-4E1C-873F-D02D1690AC5C}">
        <p15:threadingInfo xmlns:p15="http://schemas.microsoft.com/office/powerpoint/2012/main" timeZoneBias="-720"/>
      </p:ext>
    </p:extLst>
  </p:cm>
  <p:cm authorId="1" dt="2025-04-06T18:16:14.558" idx="77">
    <p:pos x="607" y="2212"/>
    <p:text>при нажатии открываются списком названия всех смежных (будет по договору предприятий) со списком  согласно отделам (аналогично вышеописанному в "мое предприятие")должностей и ФИО их сотрудников которые вели когда либо переписку с предприятием через мессенджер или подавали карточку идеи или дали от своего предприятия карточку контактов своих работников . Для этого при написании сообщения в карточку предложений (слайд 10) и мессенджер клиент смежной компании вносит данные (ФИО, должность и название своего предприятия в раздел личный кабинет "контакты" где заполняет свою карточку для возможности подачи идей и пользования мессенджером. Также есть возможность заполнить карточку анонимно с созданием ника (без фио, должности) привязав к номеру  ID его устройства (так можно?)</p:text>
    <p:extLst mod="1">
      <p:ext uri="{C676402C-5697-4E1C-873F-D02D1690AC5C}">
        <p15:threadingInfo xmlns:p15="http://schemas.microsoft.com/office/powerpoint/2012/main" timeZoneBias="-720"/>
      </p:ext>
    </p:extLst>
  </p:cm>
  <p:cm authorId="1" dt="2025-04-06T19:02:01.077" idx="78">
    <p:pos x="535" y="2983"/>
    <p:text>карточки с ФИО и данными внесенными при подаче идеи (слайд 10) зарегестрированных клиентов (физлиц, самозанятых, ИП, также подавших идеи анонимных пользователей (слайд 10 в базе сохраняются под ником и рядом нумеруются цифрами от 1 и далее в порядке очередности от даты написания (№1"Аноним ник " и тд) К каждому контакту привязываются все поданные им карточки идей. Просмотр данных контакта и карточек идей разрешен всем (кроме идей под грифом "секретно")</p:text>
    <p:extLst mod="1">
      <p:ext uri="{C676402C-5697-4E1C-873F-D02D1690AC5C}">
        <p15:threadingInfo xmlns:p15="http://schemas.microsoft.com/office/powerpoint/2012/main" timeZoneBias="-720"/>
      </p:ext>
    </p:extLst>
  </p:cm>
  <p:cm authorId="1" dt="2025-12-05T21:39:10.959" idx="197">
    <p:pos x="3939" y="6975"/>
    <p:text>при нажатии всплывающее окно и текстом краткая инструкция о назначении и возможностях данной страницы</p:text>
    <p:extLst mod="1">
      <p:ext uri="{C676402C-5697-4E1C-873F-D02D1690AC5C}">
        <p15:threadingInfo xmlns:p15="http://schemas.microsoft.com/office/powerpoint/2012/main" timeZoneBias="-720"/>
      </p:ext>
    </p:extLst>
  </p:cm>
</p:cmLst>
</file>

<file path=ppt/comments/comment33.xml><?xml version="1.0" encoding="utf-8"?>
<p:cmLst xmlns:a="http://schemas.openxmlformats.org/drawingml/2006/main" xmlns:r="http://schemas.openxmlformats.org/officeDocument/2006/relationships" xmlns:p="http://schemas.openxmlformats.org/presentationml/2006/main">
  <p:cm authorId="1" dt="2025-04-02T18:45:44.028" idx="53">
    <p:pos x="633" y="1535"/>
    <p:text>Вопрос(ваше мнение?)-сообщения от пользователя поступают разработчику сайта и админу предприятия верно? При этом им необходимо видеть зарегестрированных пользователей , кто пишет</p:text>
    <p:extLst mod="1">
      <p:ext uri="{C676402C-5697-4E1C-873F-D02D1690AC5C}">
        <p15:threadingInfo xmlns:p15="http://schemas.microsoft.com/office/powerpoint/2012/main" timeZoneBias="-720"/>
      </p:ext>
    </p:extLst>
  </p:cm>
  <p:cm authorId="1" dt="2025-04-02T18:47:19.810" idx="54">
    <p:pos x="745" y="2677"/>
    <p:text>при нажатии появляется история всей переписки пользователя с техподдержкой (с датами)</p:text>
    <p:extLst>
      <p:ext uri="{C676402C-5697-4E1C-873F-D02D1690AC5C}">
        <p15:threadingInfo xmlns:p15="http://schemas.microsoft.com/office/powerpoint/2012/main" timeZoneBias="-720"/>
      </p:ext>
    </p:extLst>
  </p:cm>
  <p:cm authorId="1" dt="2025-04-02T18:48:14.221" idx="55">
    <p:pos x="421" y="532"/>
    <p:text>кнопка "вернуться обратно"</p:text>
    <p:extLst mod="1">
      <p:ext uri="{C676402C-5697-4E1C-873F-D02D1690AC5C}">
        <p15:threadingInfo xmlns:p15="http://schemas.microsoft.com/office/powerpoint/2012/main" timeZoneBias="-720"/>
      </p:ext>
    </p:extLst>
  </p:cm>
  <p:cm authorId="1" dt="2025-12-05T21:39:25.619" idx="198">
    <p:pos x="4172" y="6879"/>
    <p:text>при нажатии всплывающее окно и текстом краткая инструкция о назначении и возможностях данной страницы</p:text>
    <p:extLst>
      <p:ext uri="{C676402C-5697-4E1C-873F-D02D1690AC5C}">
        <p15:threadingInfo xmlns:p15="http://schemas.microsoft.com/office/powerpoint/2012/main" timeZoneBias="-720"/>
      </p:ext>
    </p:extLst>
  </p:cm>
  <p:cm authorId="1" dt="2025-12-06T16:43:11.669" idx="215">
    <p:pos x="2973" y="2860"/>
    <p:text>или лучше слово "сообщений"?</p:text>
    <p:extLst>
      <p:ext uri="{C676402C-5697-4E1C-873F-D02D1690AC5C}">
        <p15:threadingInfo xmlns:p15="http://schemas.microsoft.com/office/powerpoint/2012/main" timeZoneBias="-720"/>
      </p:ext>
    </p:extLst>
  </p:cm>
  <p:cm authorId="1" dt="2025-12-06T16:44:05.996" idx="216">
    <p:pos x="3547" y="2029"/>
    <p:text>значок-подсказа(всплывает окно при наведении мышки -"прикрепить файлы" (на выбор доступ к фото-с галереи или камеры, скриншот, фото, видео или документв</p:text>
    <p:extLst>
      <p:ext uri="{C676402C-5697-4E1C-873F-D02D1690AC5C}">
        <p15:threadingInfo xmlns:p15="http://schemas.microsoft.com/office/powerpoint/2012/main" timeZoneBias="-720"/>
      </p:ext>
    </p:extLst>
  </p:cm>
</p:cmLst>
</file>

<file path=ppt/comments/comment34.xml><?xml version="1.0" encoding="utf-8"?>
<p:cmLst xmlns:a="http://schemas.openxmlformats.org/drawingml/2006/main" xmlns:r="http://schemas.openxmlformats.org/officeDocument/2006/relationships" xmlns:p="http://schemas.openxmlformats.org/presentationml/2006/main">
  <p:cm authorId="1" dt="2025-04-02T19:29:32.117" idx="62">
    <p:pos x="288" y="511"/>
    <p:text>кнопка " вернуться обратно"</p:text>
    <p:extLst mod="1">
      <p:ext uri="{C676402C-5697-4E1C-873F-D02D1690AC5C}">
        <p15:threadingInfo xmlns:p15="http://schemas.microsoft.com/office/powerpoint/2012/main" timeZoneBias="-720"/>
      </p:ext>
    </p:extLst>
  </p:cm>
  <p:cm authorId="1" dt="2025-04-12T15:32:08.960" idx="90">
    <p:pos x="513" y="4672"/>
    <p:text>при нажатии открывается список заголовков полученных карточек идей от клиентов своего предприятия (слайд 37 на вкладку "клиенты")</p:text>
    <p:extLst mod="1">
      <p:ext uri="{C676402C-5697-4E1C-873F-D02D1690AC5C}">
        <p15:threadingInfo xmlns:p15="http://schemas.microsoft.com/office/powerpoint/2012/main" timeZoneBias="-720"/>
      </p:ext>
    </p:extLst>
  </p:cm>
  <p:cm authorId="1" dt="2025-12-05T21:39:49.601" idx="199">
    <p:pos x="3915" y="6812"/>
    <p:text>страница, где все идеи (всех статусов от "на рассмотрении до архив") можно просмотреть нажав кнопки-строки "нашего предприятия", "смежных предприятий" и "клиентов предприятия". при нажатии на данный значок  всплывающее окно и текстом краткая инструкция о назначении и возможностях данной страницы</p:text>
    <p:extLst mod="1">
      <p:ext uri="{C676402C-5697-4E1C-873F-D02D1690AC5C}">
        <p15:threadingInfo xmlns:p15="http://schemas.microsoft.com/office/powerpoint/2012/main" timeZoneBias="-720"/>
      </p:ext>
    </p:extLst>
  </p:cm>
  <p:cm authorId="1" dt="2025-12-13T11:09:25.127" idx="237">
    <p:pos x="524" y="3250"/>
    <p:text>при нажатии открывается список заголовков полученных карточек идей от работников смежного предприятия (слайд 35 на вкладку "клиенты")</p:text>
    <p:extLst>
      <p:ext uri="{C676402C-5697-4E1C-873F-D02D1690AC5C}">
        <p15:threadingInfo xmlns:p15="http://schemas.microsoft.com/office/powerpoint/2012/main" timeZoneBias="-720"/>
      </p:ext>
    </p:extLst>
  </p:cm>
  <p:cm authorId="1" dt="2025-12-14T16:46:55.684" idx="242">
    <p:pos x="3075" y="1604"/>
    <p:text>аналогично вышеописанному (как слайд 14, только "смежные предприятия", без "нашего и клиентов"</p:text>
    <p:extLst>
      <p:ext uri="{C676402C-5697-4E1C-873F-D02D1690AC5C}">
        <p15:threadingInfo xmlns:p15="http://schemas.microsoft.com/office/powerpoint/2012/main" timeZoneBias="-720"/>
      </p:ext>
    </p:extLst>
  </p:cm>
</p:cmLst>
</file>

<file path=ppt/comments/comment35.xml><?xml version="1.0" encoding="utf-8"?>
<p:cmLst xmlns:a="http://schemas.openxmlformats.org/drawingml/2006/main" xmlns:r="http://schemas.openxmlformats.org/officeDocument/2006/relationships" xmlns:p="http://schemas.openxmlformats.org/presentationml/2006/main">
  <p:cm authorId="1" dt="2025-02-26T17:09:41.678" idx="17">
    <p:pos x="319" y="217"/>
    <p:text>данная страница (после нажатия на кнопку "проблема-предложение" слайда 2 открывается на вкладке "ЧАТ" (кнопка и слово чат при этом выделяется иным цветом (более темным или светлым-как лучше смотрится?))</p:text>
    <p:extLst mod="1">
      <p:ext uri="{C676402C-5697-4E1C-873F-D02D1690AC5C}">
        <p15:threadingInfo xmlns:p15="http://schemas.microsoft.com/office/powerpoint/2012/main" timeZoneBias="-720"/>
      </p:ext>
    </p:extLst>
  </p:cm>
  <p:cm authorId="1" dt="2025-02-26T17:16:35.779" idx="18">
    <p:pos x="195" y="1101"/>
    <p:text>пишется дата, время согласно локации предприятия</p:text>
    <p:extLst mod="1">
      <p:ext uri="{C676402C-5697-4E1C-873F-D02D1690AC5C}">
        <p15:threadingInfo xmlns:p15="http://schemas.microsoft.com/office/powerpoint/2012/main" timeZoneBias="-720"/>
      </p:ext>
    </p:extLst>
  </p:cm>
  <p:cm authorId="1" dt="2025-03-02T15:57:44.293" idx="28">
    <p:pos x="10" y="10"/>
    <p:text>карточка полученная от клиента компании или работника смежного предприятия</p:text>
    <p:extLst mod="1">
      <p:ext uri="{C676402C-5697-4E1C-873F-D02D1690AC5C}">
        <p15:threadingInfo xmlns:p15="http://schemas.microsoft.com/office/powerpoint/2012/main" timeZoneBias="-720"/>
      </p:ext>
    </p:extLst>
  </p:cm>
  <p:cm authorId="1" dt="2025-04-12T15:58:34.236" idx="93">
    <p:pos x="1738" y="525"/>
    <p:text>на данной вкладке спискои отображены идеи поданные от работников смежного предприятия. цвета, статус, заполнение, согласование анадлгично как и предидущие страницы своего предприятия</p:text>
    <p:extLst mod="1">
      <p:ext uri="{C676402C-5697-4E1C-873F-D02D1690AC5C}">
        <p15:threadingInfo xmlns:p15="http://schemas.microsoft.com/office/powerpoint/2012/main" timeZoneBias="-720"/>
      </p:ext>
    </p:extLst>
  </p:cm>
  <p:cm authorId="1" dt="2025-12-13T11:53:25.354" idx="238">
    <p:pos x="2119" y="1522"/>
    <p:text>при нажатии открываетсяна весь экран ниже все поступившие предложения("принятые и отказано" ниже исчезают, можно прокрутить вверх-вниз</p:text>
    <p:extLst>
      <p:ext uri="{C676402C-5697-4E1C-873F-D02D1690AC5C}">
        <p15:threadingInfo xmlns:p15="http://schemas.microsoft.com/office/powerpoint/2012/main" timeZoneBias="-720"/>
      </p:ext>
    </p:extLst>
  </p:cm>
  <p:cm authorId="1" dt="2025-12-14T16:49:15.502" idx="243">
    <p:pos x="2468" y="2674"/>
    <p:text>при нажатии отображаются все исполняемые, в работе, незавершенные идеи идеи  сотображением статуса в строке-кнопке- "в работе"</p:text>
    <p:extLst>
      <p:ext uri="{C676402C-5697-4E1C-873F-D02D1690AC5C}">
        <p15:threadingInfo xmlns:p15="http://schemas.microsoft.com/office/powerpoint/2012/main" timeZoneBias="-720"/>
      </p:ext>
    </p:extLst>
  </p:cm>
  <p:cm authorId="1" dt="2025-12-14T16:58:44.651" idx="244">
    <p:pos x="2253" y="4340"/>
    <p:text>при нажатии списком открываются исполненные и получившие отказ карточки идей. успешно выполненные строки-кнопки и их карточка синего цвета, неуспешно-статус "не выполнено-желтым цветом" кнопка и карточка, при отказе, непринятии-красным</p:text>
    <p:extLst>
      <p:ext uri="{C676402C-5697-4E1C-873F-D02D1690AC5C}">
        <p15:threadingInfo xmlns:p15="http://schemas.microsoft.com/office/powerpoint/2012/main" timeZoneBias="-720"/>
      </p:ext>
    </p:extLst>
  </p:cm>
</p:cmLst>
</file>

<file path=ppt/comments/comment36.xml><?xml version="1.0" encoding="utf-8"?>
<p:cmLst xmlns:a="http://schemas.openxmlformats.org/drawingml/2006/main" xmlns:r="http://schemas.openxmlformats.org/officeDocument/2006/relationships" xmlns:p="http://schemas.openxmlformats.org/presentationml/2006/main">
  <p:cm authorId="1" dt="2025-04-19T14:52:20.548" idx="108">
    <p:pos x="3707" y="1842"/>
    <p:text>значок скрепки-при нажатии отображаются все  прикрепленные к данной строке файлы ( с указ долж и ФИО того кто приложил)</p:text>
    <p:extLst mod="1">
      <p:ext uri="{C676402C-5697-4E1C-873F-D02D1690AC5C}">
        <p15:threadingInfo xmlns:p15="http://schemas.microsoft.com/office/powerpoint/2012/main" timeZoneBias="-720"/>
      </p:ext>
    </p:extLst>
  </p:cm>
  <p:cm authorId="1" dt="2025-12-05T14:52:55.047" idx="147">
    <p:pos x="2695" y="1265"/>
    <p:text>данная надпись на желтом фоне если подано анонимно. Если публично надписей нет</p:text>
    <p:extLst>
      <p:ext uri="{C676402C-5697-4E1C-873F-D02D1690AC5C}">
        <p15:threadingInfo xmlns:p15="http://schemas.microsoft.com/office/powerpoint/2012/main" timeZoneBias="-720"/>
      </p:ext>
    </p:extLst>
  </p:cm>
  <p:cm authorId="1" dt="2025-12-05T14:54:35.086" idx="148">
    <p:pos x="833" y="915"/>
    <p:text>дата и время подачи идеи в данной карточке</p:text>
    <p:extLst>
      <p:ext uri="{C676402C-5697-4E1C-873F-D02D1690AC5C}">
        <p15:threadingInfo xmlns:p15="http://schemas.microsoft.com/office/powerpoint/2012/main" timeZoneBias="-720"/>
      </p:ext>
    </p:extLst>
  </p:cm>
  <p:cm authorId="1" dt="2025-12-05T14:59:54.357" idx="149">
    <p:pos x="3199" y="4917"/>
    <p:text>в карточках со статусом "Согласовано" появляется дата, время, должность и ФИО руководителя, согласовавшего карточку идеи. В карточках статуса "Обсуждаемые" этой строки нет. в карточках с отказавшим статусом  на вкладке "АРХИВ" на месте "согласовано" надпись "Отказ", дата, время ,должность ФИО отказавшего руководителя отдела или руководства выше по должности</p:text>
    <p:extLst mod="1">
      <p:ext uri="{C676402C-5697-4E1C-873F-D02D1690AC5C}">
        <p15:threadingInfo xmlns:p15="http://schemas.microsoft.com/office/powerpoint/2012/main" timeZoneBias="-720"/>
      </p:ext>
    </p:extLst>
  </p:cm>
  <p:cm authorId="1" dt="2025-12-05T15:08:10.890" idx="150">
    <p:pos x="1307" y="4248"/>
    <p:text>ссылка-при нажатии открывается страница или всплывающее окно со всеми комментариями коллег</p:text>
    <p:extLst mod="1">
      <p:ext uri="{C676402C-5697-4E1C-873F-D02D1690AC5C}">
        <p15:threadingInfo xmlns:p15="http://schemas.microsoft.com/office/powerpoint/2012/main" timeZoneBias="-720"/>
      </p:ext>
    </p:extLst>
  </p:cm>
  <p:cm authorId="1" dt="2025-12-05T15:09:04.315" idx="151">
    <p:pos x="1749" y="4320"/>
    <p:text>отображается комментарий того, кто открыл данную карточку. если его не было то надпись- "вашего комментария не было"</p:text>
    <p:extLst>
      <p:ext uri="{C676402C-5697-4E1C-873F-D02D1690AC5C}">
        <p15:threadingInfo xmlns:p15="http://schemas.microsoft.com/office/powerpoint/2012/main" timeZoneBias="-720"/>
      </p:ext>
    </p:extLst>
  </p:cm>
  <p:cm authorId="1" dt="2025-12-05T15:10:48.533" idx="152">
    <p:pos x="3656" y="122"/>
    <p:text>значок техподдержки (сам значок любой, тот что лучше соответствует по смыслу техподдержки. можно написать о проблеме</p:text>
    <p:extLst>
      <p:ext uri="{C676402C-5697-4E1C-873F-D02D1690AC5C}">
        <p15:threadingInfo xmlns:p15="http://schemas.microsoft.com/office/powerpoint/2012/main" timeZoneBias="-720"/>
      </p:ext>
    </p:extLst>
  </p:cm>
  <p:cm authorId="1" dt="2025-12-05T15:41:22.888" idx="153">
    <p:pos x="504" y="5419"/>
    <p:text>статистика мнений при голосовании идеи.</p:text>
    <p:extLst mod="1">
      <p:ext uri="{C676402C-5697-4E1C-873F-D02D1690AC5C}">
        <p15:threadingInfo xmlns:p15="http://schemas.microsoft.com/office/powerpoint/2012/main" timeZoneBias="-720"/>
      </p:ext>
    </p:extLst>
  </p:cm>
  <p:cm authorId="1" dt="2025-12-05T15:42:53.410" idx="154">
    <p:pos x="678" y="6098"/>
    <p:text>отображается смайлом улыбки статистика кто за идею</p:text>
    <p:extLst>
      <p:ext uri="{C676402C-5697-4E1C-873F-D02D1690AC5C}">
        <p15:threadingInfo xmlns:p15="http://schemas.microsoft.com/office/powerpoint/2012/main" timeZoneBias="-720"/>
      </p:ext>
    </p:extLst>
  </p:cm>
  <p:cm authorId="1" dt="2025-12-05T15:47:06.409" idx="155">
    <p:pos x="1234" y="5687"/>
    <p:text>суммарное количество тех кто за идею</p:text>
    <p:extLst>
      <p:ext uri="{C676402C-5697-4E1C-873F-D02D1690AC5C}">
        <p15:threadingInfo xmlns:p15="http://schemas.microsoft.com/office/powerpoint/2012/main" timeZoneBias="-720"/>
      </p:ext>
    </p:extLst>
  </p:cm>
  <p:cm authorId="1" dt="2025-12-05T15:47:41.539" idx="156">
    <p:pos x="1748" y="6133"/>
    <p:text>отображается смайлом недовольства-губы вниз, статистика кто против идеи</p:text>
    <p:extLst>
      <p:ext uri="{C676402C-5697-4E1C-873F-D02D1690AC5C}">
        <p15:threadingInfo xmlns:p15="http://schemas.microsoft.com/office/powerpoint/2012/main" timeZoneBias="-720"/>
      </p:ext>
    </p:extLst>
  </p:cm>
  <p:cm authorId="1" dt="2025-12-05T15:48:38.319" idx="157">
    <p:pos x="2016" y="5708"/>
    <p:text>суммарное количество тех кто против идеи</p:text>
    <p:extLst>
      <p:ext uri="{C676402C-5697-4E1C-873F-D02D1690AC5C}">
        <p15:threadingInfo xmlns:p15="http://schemas.microsoft.com/office/powerpoint/2012/main" timeZoneBias="-720"/>
      </p:ext>
    </p:extLst>
  </p:cm>
  <p:cm authorId="1" dt="2025-12-05T15:49:13.846" idx="158">
    <p:pos x="2892" y="5676"/>
    <p:text>суммарное количество тех кто нажал смайл "воздержался"</p:text>
    <p:extLst>
      <p:ext uri="{C676402C-5697-4E1C-873F-D02D1690AC5C}">
        <p15:threadingInfo xmlns:p15="http://schemas.microsoft.com/office/powerpoint/2012/main" timeZoneBias="-720"/>
      </p:ext>
    </p:extLst>
  </p:cm>
  <p:cm authorId="1" dt="2025-12-05T15:49:21.814" idx="159">
    <p:pos x="2572" y="6048"/>
    <p:text>смайл с прямыми губами- "воздержался"</p:text>
    <p:extLst>
      <p:ext uri="{C676402C-5697-4E1C-873F-D02D1690AC5C}">
        <p15:threadingInfo xmlns:p15="http://schemas.microsoft.com/office/powerpoint/2012/main" timeZoneBias="-720"/>
      </p:ext>
    </p:extLst>
  </p:cm>
  <p:cm authorId="1" dt="2025-12-05T15:54:08.329" idx="160">
    <p:pos x="3313" y="1864"/>
    <p:text>при нажатии открывается поле с общим текстом от всех кто вносил в данную строку свой текст с отображением должности и ФИО того кто писал</p:text>
    <p:extLst>
      <p:ext uri="{C676402C-5697-4E1C-873F-D02D1690AC5C}">
        <p15:threadingInfo xmlns:p15="http://schemas.microsoft.com/office/powerpoint/2012/main" timeZoneBias="-720"/>
      </p:ext>
    </p:extLst>
  </p:cm>
  <p:cm authorId="1" dt="2025-12-05T16:01:26.015" idx="163">
    <p:pos x="3225" y="2856"/>
    <p:text>аналогично описанному в строке выше</p:text>
    <p:extLst>
      <p:ext uri="{C676402C-5697-4E1C-873F-D02D1690AC5C}">
        <p15:threadingInfo xmlns:p15="http://schemas.microsoft.com/office/powerpoint/2012/main" timeZoneBias="-720"/>
      </p:ext>
    </p:extLst>
  </p:cm>
  <p:cm authorId="1" dt="2025-12-05T16:01:34.469" idx="164">
    <p:pos x="3606" y="2781"/>
    <p:text>аналогично описанному в строке выше</p:text>
    <p:extLst>
      <p:ext uri="{C676402C-5697-4E1C-873F-D02D1690AC5C}">
        <p15:threadingInfo xmlns:p15="http://schemas.microsoft.com/office/powerpoint/2012/main" timeZoneBias="-720"/>
      </p:ext>
    </p:extLst>
  </p:cm>
  <p:cm authorId="1" dt="2025-12-05T16:01:42.048" idx="165">
    <p:pos x="3211" y="3234"/>
    <p:text>аналогично описанному в строке выше</p:text>
    <p:extLst>
      <p:ext uri="{C676402C-5697-4E1C-873F-D02D1690AC5C}">
        <p15:threadingInfo xmlns:p15="http://schemas.microsoft.com/office/powerpoint/2012/main" timeZoneBias="-720"/>
      </p:ext>
    </p:extLst>
  </p:cm>
  <p:cm authorId="1" dt="2025-12-05T16:01:48.960" idx="166">
    <p:pos x="3214" y="3738"/>
    <p:text>аналогично описанному в строке выше</p:text>
    <p:extLst>
      <p:ext uri="{C676402C-5697-4E1C-873F-D02D1690AC5C}">
        <p15:threadingInfo xmlns:p15="http://schemas.microsoft.com/office/powerpoint/2012/main" timeZoneBias="-720"/>
      </p:ext>
    </p:extLst>
  </p:cm>
  <p:cm authorId="1" dt="2025-12-05T16:01:58.245" idx="167">
    <p:pos x="3691" y="3216"/>
    <p:text>аналогично описанному в строке выше</p:text>
    <p:extLst>
      <p:ext uri="{C676402C-5697-4E1C-873F-D02D1690AC5C}">
        <p15:threadingInfo xmlns:p15="http://schemas.microsoft.com/office/powerpoint/2012/main" timeZoneBias="-720"/>
      </p:ext>
    </p:extLst>
  </p:cm>
  <p:cm authorId="1" dt="2025-12-05T16:02:06.625" idx="168">
    <p:pos x="3714" y="3696"/>
    <p:text>аналогично описанному в строке выше</p:text>
    <p:extLst>
      <p:ext uri="{C676402C-5697-4E1C-873F-D02D1690AC5C}">
        <p15:threadingInfo xmlns:p15="http://schemas.microsoft.com/office/powerpoint/2012/main" timeZoneBias="-720"/>
      </p:ext>
    </p:extLst>
  </p:cm>
  <p:cm authorId="1" dt="2025-12-05T16:05:05.999" idx="169">
    <p:pos x="3374" y="6427"/>
    <p:text>при нажатии отправка карточки коллеге (в мессенджер или почту)</p:text>
    <p:extLst>
      <p:ext uri="{C676402C-5697-4E1C-873F-D02D1690AC5C}">
        <p15:threadingInfo xmlns:p15="http://schemas.microsoft.com/office/powerpoint/2012/main" timeZoneBias="-720"/>
      </p:ext>
    </p:extLst>
  </p:cm>
  <p:cm authorId="1" dt="2025-12-05T16:19:46.782" idx="170">
    <p:pos x="1656" y="432"/>
    <p:text>аналогично как в "обсуждаемых и согласованных" отображаются все карточки в данном статусе</p:text>
    <p:extLst>
      <p:ext uri="{C676402C-5697-4E1C-873F-D02D1690AC5C}">
        <p15:threadingInfo xmlns:p15="http://schemas.microsoft.com/office/powerpoint/2012/main" timeZoneBias="-720"/>
      </p:ext>
    </p:extLst>
  </p:cm>
  <p:cm authorId="1" dt="2025-12-05T16:21:27.051" idx="172">
    <p:pos x="633" y="169"/>
    <p:text>кнопку "вернуться" на предидущую страницу</p:text>
    <p:extLst>
      <p:ext uri="{C676402C-5697-4E1C-873F-D02D1690AC5C}">
        <p15:threadingInfo xmlns:p15="http://schemas.microsoft.com/office/powerpoint/2012/main" timeZoneBias="-720"/>
      </p:ext>
    </p:extLst>
  </p:cm>
  <p:cm authorId="1" dt="2025-12-06T17:39:10.823" idx="218">
    <p:pos x="3333" y="5226"/>
    <p:text>строка-переход, отображается у руководителя автора- отдела для последующего заполнения карточки-отчета-слайд 16</p:text>
    <p:extLst>
      <p:ext uri="{C676402C-5697-4E1C-873F-D02D1690AC5C}">
        <p15:threadingInfo xmlns:p15="http://schemas.microsoft.com/office/powerpoint/2012/main" timeZoneBias="-720"/>
      </p:ext>
    </p:extLst>
  </p:cm>
  <p:cm authorId="1" dt="2025-12-10T16:51:27.450" idx="224">
    <p:pos x="206" y="3981"/>
    <p:text>при нажатии на ссылку открывается страница с возм возврата назад (или сделать кнопку с открытием плав окна-как лучше?) открывается список лиц, согласовавших карточку идеи в работу, в реализацию</p:text>
    <p:extLst>
      <p:ext uri="{C676402C-5697-4E1C-873F-D02D1690AC5C}">
        <p15:threadingInfo xmlns:p15="http://schemas.microsoft.com/office/powerpoint/2012/main" timeZoneBias="-720"/>
      </p:ext>
    </p:extLst>
  </p:cm>
  <p:cm authorId="1" dt="2025-12-13T09:46:28.223" idx="235">
    <p:pos x="2829" y="4649"/>
    <p:text>отобразятся предложения вносивших  предложения корректировки (из предидущего слайда с желтой кнопки "предложить корректировку исполняемого". после открытия поля вносим в него текст, -выйдя с поля (стрелкой назад лучше или как?) тест сохраняется</p:text>
    <p:extLst>
      <p:ext uri="{C676402C-5697-4E1C-873F-D02D1690AC5C}">
        <p15:threadingInfo xmlns:p15="http://schemas.microsoft.com/office/powerpoint/2012/main" timeZoneBias="-720"/>
      </p:ext>
    </p:extLst>
  </p:cm>
</p:cmLst>
</file>

<file path=ppt/comments/comment37.xml><?xml version="1.0" encoding="utf-8"?>
<p:cmLst xmlns:a="http://schemas.openxmlformats.org/drawingml/2006/main" xmlns:r="http://schemas.openxmlformats.org/officeDocument/2006/relationships" xmlns:p="http://schemas.openxmlformats.org/presentationml/2006/main">
  <p:cm authorId="1" dt="2025-02-26T17:09:41.678" idx="17">
    <p:pos x="319" y="217"/>
    <p:text>данная страница (после нажатия на кнопку "проблема-предложение" слайда 2 открывается на вкладке "ЧАТ" (кнопка и слово чат при этом выделяется иным цветом (более темным или светлым-как лучше смотрится?))</p:text>
    <p:extLst mod="1">
      <p:ext uri="{C676402C-5697-4E1C-873F-D02D1690AC5C}">
        <p15:threadingInfo xmlns:p15="http://schemas.microsoft.com/office/powerpoint/2012/main" timeZoneBias="-720"/>
      </p:ext>
    </p:extLst>
  </p:cm>
  <p:cm authorId="1" dt="2025-02-26T17:16:35.779" idx="18">
    <p:pos x="195" y="1101"/>
    <p:text>пишется дата, время согласно локации предприятия</p:text>
    <p:extLst mod="1">
      <p:ext uri="{C676402C-5697-4E1C-873F-D02D1690AC5C}">
        <p15:threadingInfo xmlns:p15="http://schemas.microsoft.com/office/powerpoint/2012/main" timeZoneBias="-720"/>
      </p:ext>
    </p:extLst>
  </p:cm>
  <p:cm authorId="1" dt="2025-03-02T15:57:44.293" idx="28">
    <p:pos x="10" y="10"/>
    <p:text>карточка полученная от клиента компании или работника смежного предприятия</p:text>
    <p:extLst mod="1">
      <p:ext uri="{C676402C-5697-4E1C-873F-D02D1690AC5C}">
        <p15:threadingInfo xmlns:p15="http://schemas.microsoft.com/office/powerpoint/2012/main" timeZoneBias="-720"/>
      </p:ext>
    </p:extLst>
  </p:cm>
  <p:cm authorId="1" dt="2025-04-12T15:58:34.236" idx="93">
    <p:pos x="1738" y="525"/>
    <p:text>на данной вкладке спискои отображены идеи поданные от работников смежного предприятия. цвета, статус, заполнение, согласование аналогично как и предидущих слайдах по своему предприятию</p:text>
    <p:extLst mod="1">
      <p:ext uri="{C676402C-5697-4E1C-873F-D02D1690AC5C}">
        <p15:threadingInfo xmlns:p15="http://schemas.microsoft.com/office/powerpoint/2012/main" timeZoneBias="-720"/>
      </p:ext>
    </p:extLst>
  </p:cm>
  <p:cm authorId="1" dt="2025-12-14T17:12:53.875" idx="245">
    <p:pos x="4144" y="7253"/>
    <p:text>вкладка аналогична по связям и пр механике работы с вкладкой Предприятия</p:text>
    <p:extLst>
      <p:ext uri="{C676402C-5697-4E1C-873F-D02D1690AC5C}">
        <p15:threadingInfo xmlns:p15="http://schemas.microsoft.com/office/powerpoint/2012/main" timeZoneBias="-720"/>
      </p:ext>
    </p:extLst>
  </p:cm>
</p:cmLst>
</file>

<file path=ppt/comments/comment38.xml><?xml version="1.0" encoding="utf-8"?>
<p:cmLst xmlns:a="http://schemas.openxmlformats.org/drawingml/2006/main" xmlns:r="http://schemas.openxmlformats.org/officeDocument/2006/relationships" xmlns:p="http://schemas.openxmlformats.org/presentationml/2006/main">
  <p:cm authorId="1" dt="2025-04-19T14:52:20.548" idx="108">
    <p:pos x="3717" y="1914"/>
    <p:text>значок скрепки-при нажатии отображаются все  прикрепленные к данной строке файлы ( с указ долж и ФИО того кто приложил)</p:text>
    <p:extLst mod="1">
      <p:ext uri="{C676402C-5697-4E1C-873F-D02D1690AC5C}">
        <p15:threadingInfo xmlns:p15="http://schemas.microsoft.com/office/powerpoint/2012/main" timeZoneBias="-720"/>
      </p:ext>
    </p:extLst>
  </p:cm>
  <p:cm authorId="1" dt="2025-12-05T14:52:55.047" idx="147">
    <p:pos x="3004" y="1111"/>
    <p:text>данная надпись на желтом фоне если подано анонимно. Если публично ничего нет</p:text>
    <p:extLst mod="1">
      <p:ext uri="{C676402C-5697-4E1C-873F-D02D1690AC5C}">
        <p15:threadingInfo xmlns:p15="http://schemas.microsoft.com/office/powerpoint/2012/main" timeZoneBias="-720"/>
      </p:ext>
    </p:extLst>
  </p:cm>
  <p:cm authorId="1" dt="2025-12-05T14:54:35.086" idx="148">
    <p:pos x="802" y="915"/>
    <p:text>дата и время подачи идеи в данной карточке</p:text>
    <p:extLst mod="1">
      <p:ext uri="{C676402C-5697-4E1C-873F-D02D1690AC5C}">
        <p15:threadingInfo xmlns:p15="http://schemas.microsoft.com/office/powerpoint/2012/main" timeZoneBias="-720"/>
      </p:ext>
    </p:extLst>
  </p:cm>
  <p:cm authorId="1" dt="2025-12-05T14:59:54.357" idx="149">
    <p:pos x="3199" y="4917"/>
    <p:text>Отображается время, дата последнего согласовавшего руководителя, его долж и отдел ,ФИО. В карточках со статусом "Согласовано" или "отказ" появляется дата, время, должность и ФИО руководителя, согласовавшего или нет карточку идеи. В карточках статуса "Обсуждаемые" этой строки нет. в карточках с отказавшим статусом  на вкладке "АРХИВ" на месте "согласовано" надпись "Отказ", дата, время ,должность ФИО и тд отказавшего руководителя отдела или руководства выше по должности, текст с  указанием причины отказа согласования</p:text>
    <p:extLst mod="1">
      <p:ext uri="{C676402C-5697-4E1C-873F-D02D1690AC5C}">
        <p15:threadingInfo xmlns:p15="http://schemas.microsoft.com/office/powerpoint/2012/main" timeZoneBias="-720"/>
      </p:ext>
    </p:extLst>
  </p:cm>
  <p:cm authorId="1" dt="2025-12-05T15:08:10.890" idx="150">
    <p:pos x="1307" y="4248"/>
    <p:text>ссылка-при нажатии открывается страница или всплывающее окно со всеми комментариями коллег за всю историю до завершения идеи</p:text>
    <p:extLst mod="1">
      <p:ext uri="{C676402C-5697-4E1C-873F-D02D1690AC5C}">
        <p15:threadingInfo xmlns:p15="http://schemas.microsoft.com/office/powerpoint/2012/main" timeZoneBias="-720"/>
      </p:ext>
    </p:extLst>
  </p:cm>
  <p:cm authorId="1" dt="2025-12-05T15:09:04.315" idx="151">
    <p:pos x="1749" y="4320"/>
    <p:text>отображаются все комментарии того, кто открыл данную карточку. если его не было то всплывающая надпись- "вашего комментария не было"</p:text>
    <p:extLst mod="1">
      <p:ext uri="{C676402C-5697-4E1C-873F-D02D1690AC5C}">
        <p15:threadingInfo xmlns:p15="http://schemas.microsoft.com/office/powerpoint/2012/main" timeZoneBias="-720"/>
      </p:ext>
    </p:extLst>
  </p:cm>
  <p:cm authorId="1" dt="2025-12-05T15:10:48.533" idx="152">
    <p:pos x="3656" y="122"/>
    <p:text>значок меню или техподдержки (сам значок любой, тот что лучше соответствует по смыслу техподдержки. можно написать о проблеме</p:text>
    <p:extLst mod="1">
      <p:ext uri="{C676402C-5697-4E1C-873F-D02D1690AC5C}">
        <p15:threadingInfo xmlns:p15="http://schemas.microsoft.com/office/powerpoint/2012/main" timeZoneBias="-720"/>
      </p:ext>
    </p:extLst>
  </p:cm>
  <p:cm authorId="1" dt="2025-12-05T15:41:22.888" idx="153">
    <p:pos x="586" y="5254"/>
    <p:text>статистика мнений при голосовании идеи.</p:text>
    <p:extLst mod="1">
      <p:ext uri="{C676402C-5697-4E1C-873F-D02D1690AC5C}">
        <p15:threadingInfo xmlns:p15="http://schemas.microsoft.com/office/powerpoint/2012/main" timeZoneBias="-720"/>
      </p:ext>
    </p:extLst>
  </p:cm>
  <p:cm authorId="1" dt="2025-12-05T15:42:53.410" idx="154">
    <p:pos x="555" y="6119"/>
    <p:text>отображается смайлом улыбки статистика кто за идею</p:text>
    <p:extLst mod="1">
      <p:ext uri="{C676402C-5697-4E1C-873F-D02D1690AC5C}">
        <p15:threadingInfo xmlns:p15="http://schemas.microsoft.com/office/powerpoint/2012/main" timeZoneBias="-720"/>
      </p:ext>
    </p:extLst>
  </p:cm>
  <p:cm authorId="1" dt="2025-12-05T15:47:06.409" idx="155">
    <p:pos x="1039" y="5831"/>
    <p:text>суммарное количество тех кто за идею</p:text>
    <p:extLst mod="1">
      <p:ext uri="{C676402C-5697-4E1C-873F-D02D1690AC5C}">
        <p15:threadingInfo xmlns:p15="http://schemas.microsoft.com/office/powerpoint/2012/main" timeZoneBias="-720"/>
      </p:ext>
    </p:extLst>
  </p:cm>
  <p:cm authorId="1" dt="2025-12-05T15:47:41.539" idx="156">
    <p:pos x="1450" y="6082"/>
    <p:text>отображается смайлом недовольства-губы вниз, статистика кто против идеи</p:text>
    <p:extLst mod="1">
      <p:ext uri="{C676402C-5697-4E1C-873F-D02D1690AC5C}">
        <p15:threadingInfo xmlns:p15="http://schemas.microsoft.com/office/powerpoint/2012/main" timeZoneBias="-720"/>
      </p:ext>
    </p:extLst>
  </p:cm>
  <p:cm authorId="1" dt="2025-12-05T15:48:38.319" idx="157">
    <p:pos x="1769" y="5821"/>
    <p:text>суммарное количество тех кто против идеи</p:text>
    <p:extLst mod="1">
      <p:ext uri="{C676402C-5697-4E1C-873F-D02D1690AC5C}">
        <p15:threadingInfo xmlns:p15="http://schemas.microsoft.com/office/powerpoint/2012/main" timeZoneBias="-720"/>
      </p:ext>
    </p:extLst>
  </p:cm>
  <p:cm authorId="1" dt="2025-12-05T15:49:13.846" idx="158">
    <p:pos x="2625" y="5841"/>
    <p:text>суммарное количество тех кто нажал смайл "воздержался"</p:text>
    <p:extLst mod="1">
      <p:ext uri="{C676402C-5697-4E1C-873F-D02D1690AC5C}">
        <p15:threadingInfo xmlns:p15="http://schemas.microsoft.com/office/powerpoint/2012/main" timeZoneBias="-720"/>
      </p:ext>
    </p:extLst>
  </p:cm>
  <p:cm authorId="1" dt="2025-12-05T15:49:21.814" idx="159">
    <p:pos x="2335" y="6058"/>
    <p:text>смайл с прямыми губами- "воздержался"</p:text>
    <p:extLst mod="1">
      <p:ext uri="{C676402C-5697-4E1C-873F-D02D1690AC5C}">
        <p15:threadingInfo xmlns:p15="http://schemas.microsoft.com/office/powerpoint/2012/main" timeZoneBias="-720"/>
      </p:ext>
    </p:extLst>
  </p:cm>
  <p:cm authorId="1" dt="2025-12-05T15:54:08.329" idx="160">
    <p:pos x="3334" y="1946"/>
    <p:text>при нажатии открывается поле с общим текстом от всех кто вносил в данную строку свой текст с отображением должности и ФИО того кто писал</p:text>
    <p:extLst mod="1">
      <p:ext uri="{C676402C-5697-4E1C-873F-D02D1690AC5C}">
        <p15:threadingInfo xmlns:p15="http://schemas.microsoft.com/office/powerpoint/2012/main" timeZoneBias="-720"/>
      </p:ext>
    </p:extLst>
  </p:cm>
  <p:cm authorId="1" dt="2025-12-05T16:01:26.015" idx="163">
    <p:pos x="3225" y="2753"/>
    <p:text>аналогично описанному в строке выше</p:text>
    <p:extLst mod="1">
      <p:ext uri="{C676402C-5697-4E1C-873F-D02D1690AC5C}">
        <p15:threadingInfo xmlns:p15="http://schemas.microsoft.com/office/powerpoint/2012/main" timeZoneBias="-720"/>
      </p:ext>
    </p:extLst>
  </p:cm>
  <p:cm authorId="1" dt="2025-12-05T16:01:34.469" idx="164">
    <p:pos x="3637" y="2688"/>
    <p:text>аналогично описанному в строке выше</p:text>
    <p:extLst mod="1">
      <p:ext uri="{C676402C-5697-4E1C-873F-D02D1690AC5C}">
        <p15:threadingInfo xmlns:p15="http://schemas.microsoft.com/office/powerpoint/2012/main" timeZoneBias="-720"/>
      </p:ext>
    </p:extLst>
  </p:cm>
  <p:cm authorId="1" dt="2025-12-05T16:01:42.048" idx="165">
    <p:pos x="3211" y="3234"/>
    <p:text>аналогично описанному в строке выше</p:text>
    <p:extLst>
      <p:ext uri="{C676402C-5697-4E1C-873F-D02D1690AC5C}">
        <p15:threadingInfo xmlns:p15="http://schemas.microsoft.com/office/powerpoint/2012/main" timeZoneBias="-720"/>
      </p:ext>
    </p:extLst>
  </p:cm>
  <p:cm authorId="1" dt="2025-12-05T16:01:48.960" idx="166">
    <p:pos x="3214" y="3738"/>
    <p:text>аналогично описанному в строке выше</p:text>
    <p:extLst>
      <p:ext uri="{C676402C-5697-4E1C-873F-D02D1690AC5C}">
        <p15:threadingInfo xmlns:p15="http://schemas.microsoft.com/office/powerpoint/2012/main" timeZoneBias="-720"/>
      </p:ext>
    </p:extLst>
  </p:cm>
  <p:cm authorId="1" dt="2025-12-05T16:01:58.245" idx="167">
    <p:pos x="3691" y="3216"/>
    <p:text>аналогично описанному в строке выше</p:text>
    <p:extLst>
      <p:ext uri="{C676402C-5697-4E1C-873F-D02D1690AC5C}">
        <p15:threadingInfo xmlns:p15="http://schemas.microsoft.com/office/powerpoint/2012/main" timeZoneBias="-720"/>
      </p:ext>
    </p:extLst>
  </p:cm>
  <p:cm authorId="1" dt="2025-12-05T16:02:06.625" idx="168">
    <p:pos x="3714" y="3696"/>
    <p:text>аналогично описанному в строке выше</p:text>
    <p:extLst>
      <p:ext uri="{C676402C-5697-4E1C-873F-D02D1690AC5C}">
        <p15:threadingInfo xmlns:p15="http://schemas.microsoft.com/office/powerpoint/2012/main" timeZoneBias="-720"/>
      </p:ext>
    </p:extLst>
  </p:cm>
  <p:cm authorId="1" dt="2025-12-05T16:05:05.999" idx="169">
    <p:pos x="3374" y="6427"/>
    <p:text>при нажатии отправка карточки через поисковую строку только  коллеге своего предприятия (в мессенджер или почту)</p:text>
    <p:extLst mod="1">
      <p:ext uri="{C676402C-5697-4E1C-873F-D02D1690AC5C}">
        <p15:threadingInfo xmlns:p15="http://schemas.microsoft.com/office/powerpoint/2012/main" timeZoneBias="-720"/>
      </p:ext>
    </p:extLst>
  </p:cm>
  <p:cm authorId="1" dt="2025-12-05T16:19:46.782" idx="170">
    <p:pos x="2098" y="401"/>
    <p:text>аналогично как в "обсуждаемых и согласованных" отображаются все карточки в данном статусе</p:text>
    <p:extLst mod="1">
      <p:ext uri="{C676402C-5697-4E1C-873F-D02D1690AC5C}">
        <p15:threadingInfo xmlns:p15="http://schemas.microsoft.com/office/powerpoint/2012/main" timeZoneBias="-720"/>
      </p:ext>
    </p:extLst>
  </p:cm>
  <p:cm authorId="1" dt="2025-12-05T16:21:27.051" idx="172">
    <p:pos x="479" y="66"/>
    <p:text>кнопку "вернуться" на предидущую страницу</p:text>
    <p:extLst mod="1">
      <p:ext uri="{C676402C-5697-4E1C-873F-D02D1690AC5C}">
        <p15:threadingInfo xmlns:p15="http://schemas.microsoft.com/office/powerpoint/2012/main" timeZoneBias="-720"/>
      </p:ext>
    </p:extLst>
  </p:cm>
  <p:cm authorId="1" dt="2025-12-10T16:51:27.450" idx="224">
    <p:pos x="1276" y="3899"/>
    <p:text>при нажатии на ссылку открывается страница с возм возврата назад (или сделать кнопку с открытием страницы или окна-как лучше?) открывается список лиц с датой согласования или отказа и статусом(согласовал или отказал), согласовавших карточку идеи в работу, в реализацию</p:text>
    <p:extLst>
      <p:ext uri="{C676402C-5697-4E1C-873F-D02D1690AC5C}">
        <p15:threadingInfo xmlns:p15="http://schemas.microsoft.com/office/powerpoint/2012/main" timeZoneBias="-720"/>
      </p:ext>
    </p:extLst>
  </p:cm>
  <p:cm authorId="1" dt="2025-12-13T09:46:28.223" idx="235">
    <p:pos x="2829" y="4649"/>
    <p:text>отобразятся предложения вносивших  предложения корректировки (из  слайда №14 с желтой кнопки "предложить корректировку исполняемого". после открытия поля или страницы вносим в него текст, -выйдя с поля (стрелкой назад лучше или как?) текст сохраняется</p:text>
    <p:extLst>
      <p:ext uri="{C676402C-5697-4E1C-873F-D02D1690AC5C}">
        <p15:threadingInfo xmlns:p15="http://schemas.microsoft.com/office/powerpoint/2012/main" timeZoneBias="-720"/>
      </p:ext>
    </p:extLst>
  </p:cm>
</p:cmLst>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5-12-02T05:55:08.972"/>
    </inkml:context>
    <inkml:brush xml:id="br0">
      <inkml:brushProperty name="width" value="0.1" units="cm"/>
      <inkml:brushProperty name="height" value="0.1" units="cm"/>
      <inkml:brushProperty name="fitToCurve" value="1"/>
    </inkml:brush>
  </inkml:definitions>
  <inkml:traceGroup>
    <inkml:annotationXML>
      <emma:emma xmlns:emma="http://www.w3.org/2003/04/emma" version="1.0">
        <emma:interpretation id="{B3318180-ADB6-4BCB-809D-C3BE176213E8}" emma:medium="tactile" emma:mode="ink">
          <msink:context xmlns:msink="http://schemas.microsoft.com/ink/2010/main" type="writingRegion" rotatedBoundingBox="7393,25898 7408,25898 7408,25913 7393,25913"/>
        </emma:interpretation>
      </emma:emma>
    </inkml:annotationXML>
    <inkml:traceGroup>
      <inkml:annotationXML>
        <emma:emma xmlns:emma="http://www.w3.org/2003/04/emma" version="1.0">
          <emma:interpretation id="{5F816818-B420-4442-ACB6-B340F560B911}" emma:medium="tactile" emma:mode="ink">
            <msink:context xmlns:msink="http://schemas.microsoft.com/ink/2010/main" type="paragraph" rotatedBoundingBox="7393,25898 7408,25898 7408,25913 7393,25913" alignmentLevel="1"/>
          </emma:interpretation>
        </emma:emma>
      </inkml:annotationXML>
      <inkml:traceGroup>
        <inkml:annotationXML>
          <emma:emma xmlns:emma="http://www.w3.org/2003/04/emma" version="1.0">
            <emma:interpretation id="{050310CC-27C8-489B-9006-419D459C6B92}" emma:medium="tactile" emma:mode="ink">
              <msink:context xmlns:msink="http://schemas.microsoft.com/ink/2010/main" type="line" rotatedBoundingBox="7393,25898 7408,25898 7408,25913 7393,25913"/>
            </emma:interpretation>
          </emma:emma>
        </inkml:annotationXML>
        <inkml:traceGroup>
          <inkml:annotationXML>
            <emma:emma xmlns:emma="http://www.w3.org/2003/04/emma" version="1.0">
              <emma:interpretation id="{4E82BE53-9739-4574-80DC-C67A5AFF0E66}" emma:medium="tactile" emma:mode="ink">
                <msink:context xmlns:msink="http://schemas.microsoft.com/ink/2010/main" type="inkWord" rotatedBoundingBox="7393,25898 7408,25898 7408,25913 7393,25913"/>
              </emma:interpretation>
              <emma:one-of disjunction-type="recognition" id="oneOf0">
                <emma:interpretation id="interp0" emma:lang="" emma:confidence="0">
                  <emma:literal>.</emma:literal>
                </emma:interpretation>
                <emma:interpretation id="interp1" emma:lang="" emma:confidence="0">
                  <emma:literal>:</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1</emma:literal>
                </emma:interpretation>
              </emma:one-of>
            </emma:emma>
          </inkml:annotationXML>
          <inkml:trace contextRef="#ctx0" brushRef="#br0">0 0 0</inkml:trace>
        </inkml:traceGroup>
      </inkml:traceGroup>
    </inkml:traceGroup>
  </inkml:traceGroup>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9" name="Rectangle 8"/>
          <p:cNvSpPr/>
          <p:nvPr/>
        </p:nvSpPr>
        <p:spPr>
          <a:xfrm>
            <a:off x="0" y="1"/>
            <a:ext cx="6858000" cy="8128002"/>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3572" y="1"/>
            <a:ext cx="6854429" cy="8128002"/>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57175" y="8818021"/>
            <a:ext cx="4371975" cy="2600960"/>
          </a:xfrm>
        </p:spPr>
        <p:txBody>
          <a:bodyPr anchor="ctr">
            <a:normAutofit/>
          </a:bodyPr>
          <a:lstStyle>
            <a:lvl1pPr algn="r">
              <a:defRPr sz="3300" spc="150" baseline="0"/>
            </a:lvl1pPr>
          </a:lstStyle>
          <a:p>
            <a:r>
              <a:rPr lang="ru-RU" smtClean="0"/>
              <a:t>Образец заголовка</a:t>
            </a:r>
            <a:endParaRPr lang="en-US" dirty="0"/>
          </a:p>
        </p:txBody>
      </p:sp>
      <p:sp>
        <p:nvSpPr>
          <p:cNvPr id="3" name="Subtitle 2"/>
          <p:cNvSpPr>
            <a:spLocks noGrp="1"/>
          </p:cNvSpPr>
          <p:nvPr>
            <p:ph type="subTitle" idx="1"/>
          </p:nvPr>
        </p:nvSpPr>
        <p:spPr>
          <a:xfrm>
            <a:off x="4843463" y="8818021"/>
            <a:ext cx="1800225" cy="2600960"/>
          </a:xfrm>
        </p:spPr>
        <p:txBody>
          <a:bodyPr lIns="91440" rIns="91440" anchor="ctr">
            <a:normAutofit/>
          </a:bodyPr>
          <a:lstStyle>
            <a:lvl1pPr marL="0" indent="0" algn="l">
              <a:lnSpc>
                <a:spcPct val="100000"/>
              </a:lnSpc>
              <a:spcBef>
                <a:spcPts val="0"/>
              </a:spcBef>
              <a:buNone/>
              <a:defRPr sz="1200">
                <a:solidFill>
                  <a:schemeClr val="tx1">
                    <a:lumMod val="95000"/>
                    <a:lumOff val="5000"/>
                  </a:schemeClr>
                </a:solidFill>
              </a:defRPr>
            </a:lvl1pPr>
            <a:lvl2pPr marL="342900" indent="0" algn="ctr">
              <a:buNone/>
              <a:defRPr sz="1200"/>
            </a:lvl2pPr>
            <a:lvl3pPr marL="685800" indent="0" algn="ctr">
              <a:buNone/>
              <a:defRPr sz="12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lvl1pPr algn="l">
              <a:defRPr/>
            </a:lvl1pPr>
          </a:lstStyle>
          <a:p>
            <a:fld id="{E612DF64-DEB3-4927-9689-E98197DC827B}"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61457-D93A-4687-9F41-354BCD35AD93}" type="slidenum">
              <a:rPr lang="en-US" smtClean="0"/>
              <a:t>‹#›</a:t>
            </a:fld>
            <a:endParaRPr lang="en-US"/>
          </a:p>
        </p:txBody>
      </p:sp>
      <p:cxnSp>
        <p:nvCxnSpPr>
          <p:cNvPr id="8" name="Straight Connector 7"/>
          <p:cNvCxnSpPr/>
          <p:nvPr/>
        </p:nvCxnSpPr>
        <p:spPr>
          <a:xfrm flipV="1">
            <a:off x="4717599" y="9358411"/>
            <a:ext cx="0" cy="16256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6759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E612DF64-DEB3-4927-9689-E98197DC827B}"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61457-D93A-4687-9F41-354BCD35AD93}" type="slidenum">
              <a:rPr lang="en-US" smtClean="0"/>
              <a:t>‹#›</a:t>
            </a:fld>
            <a:endParaRPr lang="en-US"/>
          </a:p>
        </p:txBody>
      </p:sp>
    </p:spTree>
    <p:extLst>
      <p:ext uri="{BB962C8B-B14F-4D97-AF65-F5344CB8AC3E}">
        <p14:creationId xmlns:p14="http://schemas.microsoft.com/office/powerpoint/2010/main" val="285710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9" name="Rectangle 8"/>
          <p:cNvSpPr/>
          <p:nvPr/>
        </p:nvSpPr>
        <p:spPr>
          <a:xfrm>
            <a:off x="0" y="1"/>
            <a:ext cx="6858000" cy="8128002"/>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3572" y="1"/>
            <a:ext cx="6854429" cy="8128002"/>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57175" y="8818021"/>
            <a:ext cx="4371975" cy="2600960"/>
          </a:xfrm>
        </p:spPr>
        <p:txBody>
          <a:bodyPr anchor="ctr">
            <a:normAutofit/>
          </a:bodyPr>
          <a:lstStyle>
            <a:lvl1pPr algn="r">
              <a:defRPr sz="3300" b="0" spc="150" baseline="0"/>
            </a:lvl1pPr>
          </a:lstStyle>
          <a:p>
            <a:r>
              <a:rPr lang="ru-RU" smtClean="0"/>
              <a:t>Образец заголовка</a:t>
            </a:r>
            <a:endParaRPr lang="en-US" dirty="0"/>
          </a:p>
        </p:txBody>
      </p:sp>
      <p:sp>
        <p:nvSpPr>
          <p:cNvPr id="3" name="Text Placeholder 2"/>
          <p:cNvSpPr>
            <a:spLocks noGrp="1"/>
          </p:cNvSpPr>
          <p:nvPr>
            <p:ph type="body" idx="1"/>
          </p:nvPr>
        </p:nvSpPr>
        <p:spPr>
          <a:xfrm>
            <a:off x="4843463" y="8818021"/>
            <a:ext cx="1800225" cy="2600960"/>
          </a:xfrm>
        </p:spPr>
        <p:txBody>
          <a:bodyPr lIns="91440" rIns="91440" anchor="ctr">
            <a:normAutofit/>
          </a:bodyPr>
          <a:lstStyle>
            <a:lvl1pPr marL="0" indent="0">
              <a:lnSpc>
                <a:spcPct val="100000"/>
              </a:lnSpc>
              <a:spcBef>
                <a:spcPts val="0"/>
              </a:spcBef>
              <a:buNone/>
              <a:defRPr sz="1200">
                <a:solidFill>
                  <a:schemeClr val="tx1">
                    <a:lumMod val="95000"/>
                    <a:lumOff val="5000"/>
                  </a:schemeClr>
                </a:solidFill>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E612DF64-DEB3-4927-9689-E98197DC827B}"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61457-D93A-4687-9F41-354BCD35AD93}" type="slidenum">
              <a:rPr lang="en-US" smtClean="0"/>
              <a:t>‹#›</a:t>
            </a:fld>
            <a:endParaRPr lang="en-US"/>
          </a:p>
        </p:txBody>
      </p:sp>
      <p:cxnSp>
        <p:nvCxnSpPr>
          <p:cNvPr id="8" name="Straight Connector 7"/>
          <p:cNvCxnSpPr/>
          <p:nvPr/>
        </p:nvCxnSpPr>
        <p:spPr>
          <a:xfrm flipV="1">
            <a:off x="4717599" y="9358411"/>
            <a:ext cx="0" cy="16256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0654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a:xfrm>
            <a:off x="576072" y="1040384"/>
            <a:ext cx="5467541" cy="2665984"/>
          </a:xfrm>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576072" y="4064000"/>
            <a:ext cx="2674620" cy="715264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3368993" y="4064000"/>
            <a:ext cx="2674620" cy="715264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E612DF64-DEB3-4927-9689-E98197DC827B}"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E61457-D93A-4687-9F41-354BCD35AD93}" type="slidenum">
              <a:rPr lang="en-US" smtClean="0"/>
              <a:t>‹#›</a:t>
            </a:fld>
            <a:endParaRPr lang="en-US"/>
          </a:p>
        </p:txBody>
      </p:sp>
    </p:spTree>
    <p:extLst>
      <p:ext uri="{BB962C8B-B14F-4D97-AF65-F5344CB8AC3E}">
        <p14:creationId xmlns:p14="http://schemas.microsoft.com/office/powerpoint/2010/main" val="3323065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a:xfrm>
            <a:off x="576072" y="1040384"/>
            <a:ext cx="5467541" cy="2665984"/>
          </a:xfrm>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576072" y="3874908"/>
            <a:ext cx="2674620" cy="1463040"/>
          </a:xfrm>
        </p:spPr>
        <p:txBody>
          <a:bodyPr lIns="137160" rIns="137160" anchor="ctr">
            <a:normAutofit/>
          </a:bodyPr>
          <a:lstStyle>
            <a:lvl1pPr marL="0" indent="0">
              <a:spcBef>
                <a:spcPts val="0"/>
              </a:spcBef>
              <a:spcAft>
                <a:spcPts val="0"/>
              </a:spcAft>
              <a:buNone/>
              <a:defRPr sz="1650" b="0" cap="none" baseline="0">
                <a:solidFill>
                  <a:schemeClr val="accent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smtClean="0"/>
              <a:t>Образец текста</a:t>
            </a:r>
          </a:p>
        </p:txBody>
      </p:sp>
      <p:sp>
        <p:nvSpPr>
          <p:cNvPr id="4" name="Content Placeholder 3"/>
          <p:cNvSpPr>
            <a:spLocks noGrp="1"/>
          </p:cNvSpPr>
          <p:nvPr>
            <p:ph sz="half" idx="2"/>
          </p:nvPr>
        </p:nvSpPr>
        <p:spPr>
          <a:xfrm>
            <a:off x="576072" y="5276068"/>
            <a:ext cx="2674620" cy="5940572"/>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3368993" y="3874908"/>
            <a:ext cx="2674620" cy="1463040"/>
          </a:xfrm>
        </p:spPr>
        <p:txBody>
          <a:bodyPr lIns="137160" rIns="137160" anchor="ctr">
            <a:normAutofit/>
          </a:bodyPr>
          <a:lstStyle>
            <a:lvl1pPr marL="0" indent="0">
              <a:spcBef>
                <a:spcPts val="0"/>
              </a:spcBef>
              <a:spcAft>
                <a:spcPts val="0"/>
              </a:spcAft>
              <a:buNone/>
              <a:defRPr lang="en-US" sz="1650" b="0" kern="1200" cap="none" baseline="0" dirty="0">
                <a:solidFill>
                  <a:schemeClr val="accent1"/>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ru-RU" smtClean="0"/>
              <a:t>Образец текста</a:t>
            </a:r>
          </a:p>
        </p:txBody>
      </p:sp>
      <p:sp>
        <p:nvSpPr>
          <p:cNvPr id="6" name="Content Placeholder 5"/>
          <p:cNvSpPr>
            <a:spLocks noGrp="1"/>
          </p:cNvSpPr>
          <p:nvPr>
            <p:ph sz="quarter" idx="4"/>
          </p:nvPr>
        </p:nvSpPr>
        <p:spPr>
          <a:xfrm>
            <a:off x="3368993" y="5276068"/>
            <a:ext cx="2674620" cy="5940572"/>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E612DF64-DEB3-4927-9689-E98197DC827B}" type="datetimeFigureOut">
              <a:rPr lang="en-US" smtClean="0"/>
              <a:t>12/29/2025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E61457-D93A-4687-9F41-354BCD35AD93}" type="slidenum">
              <a:rPr lang="en-US" smtClean="0"/>
              <a:t>‹#›</a:t>
            </a:fld>
            <a:endParaRPr lang="en-US"/>
          </a:p>
        </p:txBody>
      </p:sp>
    </p:spTree>
    <p:extLst>
      <p:ext uri="{BB962C8B-B14F-4D97-AF65-F5344CB8AC3E}">
        <p14:creationId xmlns:p14="http://schemas.microsoft.com/office/powerpoint/2010/main" val="2080614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E612DF64-DEB3-4927-9689-E98197DC827B}" type="datetimeFigureOut">
              <a:rPr lang="en-US" smtClean="0"/>
              <a:t>12/29/2025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E61457-D93A-4687-9F41-354BCD35AD93}" type="slidenum">
              <a:rPr lang="en-US" smtClean="0"/>
              <a:t>‹#›</a:t>
            </a:fld>
            <a:endParaRPr lang="en-US"/>
          </a:p>
        </p:txBody>
      </p:sp>
    </p:spTree>
    <p:extLst>
      <p:ext uri="{BB962C8B-B14F-4D97-AF65-F5344CB8AC3E}">
        <p14:creationId xmlns:p14="http://schemas.microsoft.com/office/powerpoint/2010/main" val="3686448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12DF64-DEB3-4927-9689-E98197DC827B}" type="datetimeFigureOut">
              <a:rPr lang="en-US" smtClean="0"/>
              <a:t>12/29/2025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E61457-D93A-4687-9F41-354BCD35AD93}" type="slidenum">
              <a:rPr lang="en-US" smtClean="0"/>
              <a:t>‹#›</a:t>
            </a:fld>
            <a:endParaRPr lang="en-US"/>
          </a:p>
        </p:txBody>
      </p:sp>
    </p:spTree>
    <p:extLst>
      <p:ext uri="{BB962C8B-B14F-4D97-AF65-F5344CB8AC3E}">
        <p14:creationId xmlns:p14="http://schemas.microsoft.com/office/powerpoint/2010/main" val="3023295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8" name="Title 7"/>
          <p:cNvSpPr>
            <a:spLocks noGrp="1"/>
          </p:cNvSpPr>
          <p:nvPr>
            <p:ph type="title"/>
          </p:nvPr>
        </p:nvSpPr>
        <p:spPr>
          <a:xfrm>
            <a:off x="576072" y="838238"/>
            <a:ext cx="2468880" cy="3088640"/>
          </a:xfrm>
        </p:spPr>
        <p:txBody>
          <a:bodyPr>
            <a:noAutofit/>
          </a:bodyPr>
          <a:lstStyle>
            <a:lvl1pPr>
              <a:lnSpc>
                <a:spcPct val="80000"/>
              </a:lnSpc>
              <a:defRPr sz="2700"/>
            </a:lvl1pPr>
          </a:lstStyle>
          <a:p>
            <a:r>
              <a:rPr lang="ru-RU" smtClean="0"/>
              <a:t>Образец заголовка</a:t>
            </a:r>
            <a:endParaRPr lang="en-US" dirty="0"/>
          </a:p>
        </p:txBody>
      </p:sp>
      <p:sp>
        <p:nvSpPr>
          <p:cNvPr id="3" name="Content Placeholder 2"/>
          <p:cNvSpPr>
            <a:spLocks noGrp="1"/>
          </p:cNvSpPr>
          <p:nvPr>
            <p:ph idx="1"/>
          </p:nvPr>
        </p:nvSpPr>
        <p:spPr>
          <a:xfrm>
            <a:off x="3214687" y="1463040"/>
            <a:ext cx="3194114" cy="9217152"/>
          </a:xfrm>
        </p:spPr>
        <p:txBody>
          <a:bodyPr>
            <a:normAutofit/>
          </a:bodyPr>
          <a:lstStyle>
            <a:lvl1pPr>
              <a:defRPr sz="1500"/>
            </a:lvl1pPr>
            <a:lvl2pPr>
              <a:defRPr sz="1200"/>
            </a:lvl2pPr>
            <a:lvl3pPr>
              <a:defRPr sz="900"/>
            </a:lvl3pPr>
            <a:lvl4pPr>
              <a:defRPr sz="900"/>
            </a:lvl4pPr>
            <a:lvl5pPr>
              <a:defRPr sz="900"/>
            </a:lvl5pPr>
            <a:lvl6pPr>
              <a:defRPr sz="900"/>
            </a:lvl6pPr>
            <a:lvl7pPr>
              <a:defRPr sz="900"/>
            </a:lvl7pPr>
            <a:lvl8pPr>
              <a:defRPr sz="900"/>
            </a:lvl8pPr>
            <a:lvl9pPr>
              <a:defRPr sz="9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576072" y="4013344"/>
            <a:ext cx="2468880" cy="6688523"/>
          </a:xfrm>
        </p:spPr>
        <p:txBody>
          <a:bodyPr lIns="91440" rIns="91440">
            <a:normAutofit/>
          </a:bodyPr>
          <a:lstStyle>
            <a:lvl1pPr marL="0" indent="0">
              <a:lnSpc>
                <a:spcPct val="108000"/>
              </a:lnSpc>
              <a:spcBef>
                <a:spcPts val="450"/>
              </a:spcBef>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ru-RU" smtClean="0"/>
              <a:t>Образец текста</a:t>
            </a:r>
          </a:p>
        </p:txBody>
      </p:sp>
      <p:sp>
        <p:nvSpPr>
          <p:cNvPr id="5" name="Date Placeholder 4"/>
          <p:cNvSpPr>
            <a:spLocks noGrp="1"/>
          </p:cNvSpPr>
          <p:nvPr>
            <p:ph type="dt" sz="half" idx="10"/>
          </p:nvPr>
        </p:nvSpPr>
        <p:spPr/>
        <p:txBody>
          <a:bodyPr/>
          <a:lstStyle/>
          <a:p>
            <a:fld id="{E612DF64-DEB3-4927-9689-E98197DC827B}"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E61457-D93A-4687-9F41-354BCD35AD93}" type="slidenum">
              <a:rPr lang="en-US" smtClean="0"/>
              <a:t>‹#›</a:t>
            </a:fld>
            <a:endParaRPr lang="en-US"/>
          </a:p>
        </p:txBody>
      </p:sp>
    </p:spTree>
    <p:extLst>
      <p:ext uri="{BB962C8B-B14F-4D97-AF65-F5344CB8AC3E}">
        <p14:creationId xmlns:p14="http://schemas.microsoft.com/office/powerpoint/2010/main" val="1015549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7175" y="8818023"/>
            <a:ext cx="4371975" cy="2600960"/>
          </a:xfrm>
        </p:spPr>
        <p:txBody>
          <a:bodyPr anchor="ctr">
            <a:normAutofit/>
          </a:bodyPr>
          <a:lstStyle>
            <a:lvl1pPr algn="r">
              <a:defRPr sz="3300" spc="150" baseline="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0" y="-2"/>
            <a:ext cx="6856286" cy="8128000"/>
          </a:xfrm>
          <a:solidFill>
            <a:schemeClr val="accent1">
              <a:lumMod val="60000"/>
              <a:lumOff val="40000"/>
            </a:schemeClr>
          </a:solidFill>
        </p:spPr>
        <p:txBody>
          <a:bodyPr lIns="457200" tIns="365760" anchor="t"/>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ru-RU" smtClean="0"/>
              <a:t>Вставка рисунка</a:t>
            </a:r>
            <a:endParaRPr lang="en-US" dirty="0"/>
          </a:p>
        </p:txBody>
      </p:sp>
      <p:sp>
        <p:nvSpPr>
          <p:cNvPr id="4" name="Text Placeholder 3"/>
          <p:cNvSpPr>
            <a:spLocks noGrp="1"/>
          </p:cNvSpPr>
          <p:nvPr>
            <p:ph type="body" sz="half" idx="2"/>
          </p:nvPr>
        </p:nvSpPr>
        <p:spPr>
          <a:xfrm>
            <a:off x="4843463" y="8818023"/>
            <a:ext cx="1800225" cy="2600960"/>
          </a:xfrm>
        </p:spPr>
        <p:txBody>
          <a:bodyPr lIns="91440" rIns="91440" anchor="ctr">
            <a:normAutofit/>
          </a:bodyPr>
          <a:lstStyle>
            <a:lvl1pPr marL="0" indent="0">
              <a:lnSpc>
                <a:spcPct val="100000"/>
              </a:lnSpc>
              <a:spcBef>
                <a:spcPts val="0"/>
              </a:spcBef>
              <a:buNone/>
              <a:defRPr sz="1200">
                <a:solidFill>
                  <a:schemeClr val="tx1">
                    <a:lumMod val="95000"/>
                    <a:lumOff val="5000"/>
                  </a:schemeClr>
                </a:solidFill>
              </a:defRPr>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ru-RU" smtClean="0"/>
              <a:t>Образец текста</a:t>
            </a:r>
          </a:p>
        </p:txBody>
      </p:sp>
      <p:sp>
        <p:nvSpPr>
          <p:cNvPr id="5" name="Date Placeholder 4"/>
          <p:cNvSpPr>
            <a:spLocks noGrp="1"/>
          </p:cNvSpPr>
          <p:nvPr>
            <p:ph type="dt" sz="half" idx="10"/>
          </p:nvPr>
        </p:nvSpPr>
        <p:spPr/>
        <p:txBody>
          <a:bodyPr/>
          <a:lstStyle/>
          <a:p>
            <a:fld id="{E612DF64-DEB3-4927-9689-E98197DC827B}"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E61457-D93A-4687-9F41-354BCD35AD93}" type="slidenum">
              <a:rPr lang="en-US" smtClean="0"/>
              <a:t>‹#›</a:t>
            </a:fld>
            <a:endParaRPr lang="en-US"/>
          </a:p>
        </p:txBody>
      </p:sp>
      <p:cxnSp>
        <p:nvCxnSpPr>
          <p:cNvPr id="8" name="Straight Connector 7"/>
          <p:cNvCxnSpPr/>
          <p:nvPr/>
        </p:nvCxnSpPr>
        <p:spPr>
          <a:xfrm flipV="1">
            <a:off x="4717599" y="9358411"/>
            <a:ext cx="0" cy="1625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7335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E612DF64-DEB3-4927-9689-E98197DC827B}"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61457-D93A-4687-9F41-354BCD35AD93}" type="slidenum">
              <a:rPr lang="en-US" smtClean="0"/>
              <a:t>‹#›</a:t>
            </a:fld>
            <a:endParaRPr lang="en-US"/>
          </a:p>
        </p:txBody>
      </p:sp>
    </p:spTree>
    <p:extLst>
      <p:ext uri="{BB962C8B-B14F-4D97-AF65-F5344CB8AC3E}">
        <p14:creationId xmlns:p14="http://schemas.microsoft.com/office/powerpoint/2010/main" val="657466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8" y="1354667"/>
            <a:ext cx="1478756" cy="9618133"/>
          </a:xfrm>
        </p:spPr>
        <p:txBody>
          <a:bodyPr vert="eaVert" lIns="45720" tIns="91440" rIns="45720" bIns="91440"/>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557214" y="1354667"/>
            <a:ext cx="4264819" cy="9618133"/>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E612DF64-DEB3-4927-9689-E98197DC827B}"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61457-D93A-4687-9F41-354BCD35AD93}" type="slidenum">
              <a:rPr lang="en-US" smtClean="0"/>
              <a:t>‹#›</a:t>
            </a:fld>
            <a:endParaRPr lang="en-US"/>
          </a:p>
        </p:txBody>
      </p:sp>
      <p:cxnSp>
        <p:nvCxnSpPr>
          <p:cNvPr id="7" name="Straight Connector 6"/>
          <p:cNvCxnSpPr/>
          <p:nvPr/>
        </p:nvCxnSpPr>
        <p:spPr>
          <a:xfrm rot="5400000" flipV="1">
            <a:off x="5657850" y="660981"/>
            <a:ext cx="0" cy="51435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933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72" y="1040384"/>
            <a:ext cx="5467541" cy="2665984"/>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576073" y="4064000"/>
            <a:ext cx="5467541" cy="7152640"/>
          </a:xfrm>
          <a:prstGeom prst="rect">
            <a:avLst/>
          </a:prstGeom>
        </p:spPr>
        <p:txBody>
          <a:bodyPr vert="horz" lIns="45720" tIns="45720" rIns="4572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576073" y="11503474"/>
            <a:ext cx="1211705" cy="487680"/>
          </a:xfrm>
          <a:prstGeom prst="rect">
            <a:avLst/>
          </a:prstGeom>
        </p:spPr>
        <p:txBody>
          <a:bodyPr vert="horz" lIns="91440" tIns="45720" rIns="91440" bIns="45720" rtlCol="0" anchor="ctr"/>
          <a:lstStyle>
            <a:lvl1pPr algn="l">
              <a:defRPr sz="750">
                <a:solidFill>
                  <a:schemeClr val="tx1">
                    <a:lumMod val="95000"/>
                    <a:lumOff val="5000"/>
                  </a:schemeClr>
                </a:solidFill>
                <a:latin typeface="+mj-lt"/>
              </a:defRPr>
            </a:lvl1pPr>
          </a:lstStyle>
          <a:p>
            <a:fld id="{E612DF64-DEB3-4927-9689-E98197DC827B}" type="datetimeFigureOut">
              <a:rPr lang="en-US" smtClean="0"/>
              <a:t>12/29/2025</a:t>
            </a:fld>
            <a:endParaRPr lang="en-US"/>
          </a:p>
        </p:txBody>
      </p:sp>
      <p:sp>
        <p:nvSpPr>
          <p:cNvPr id="5" name="Footer Placeholder 4"/>
          <p:cNvSpPr>
            <a:spLocks noGrp="1"/>
          </p:cNvSpPr>
          <p:nvPr>
            <p:ph type="ftr" sz="quarter" idx="3"/>
          </p:nvPr>
        </p:nvSpPr>
        <p:spPr>
          <a:xfrm>
            <a:off x="2724150" y="11503474"/>
            <a:ext cx="3319571" cy="487680"/>
          </a:xfrm>
          <a:prstGeom prst="rect">
            <a:avLst/>
          </a:prstGeom>
        </p:spPr>
        <p:txBody>
          <a:bodyPr vert="horz" lIns="91440" tIns="45720" rIns="91440" bIns="45720" rtlCol="0" anchor="ctr"/>
          <a:lstStyle>
            <a:lvl1pPr algn="r">
              <a:defRPr sz="75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6096000" y="11503474"/>
            <a:ext cx="547688" cy="487680"/>
          </a:xfrm>
          <a:prstGeom prst="rect">
            <a:avLst/>
          </a:prstGeom>
        </p:spPr>
        <p:txBody>
          <a:bodyPr vert="horz" lIns="91440" tIns="45720" rIns="91440" bIns="45720" rtlCol="0" anchor="ctr"/>
          <a:lstStyle>
            <a:lvl1pPr algn="l">
              <a:defRPr sz="750">
                <a:solidFill>
                  <a:schemeClr val="tx1">
                    <a:lumMod val="95000"/>
                    <a:lumOff val="5000"/>
                  </a:schemeClr>
                </a:solidFill>
                <a:latin typeface="+mj-lt"/>
              </a:defRPr>
            </a:lvl1pPr>
          </a:lstStyle>
          <a:p>
            <a:fld id="{4DE61457-D93A-4687-9F41-354BCD35AD93}" type="slidenum">
              <a:rPr lang="en-US" smtClean="0"/>
              <a:t>‹#›</a:t>
            </a:fld>
            <a:endParaRPr lang="en-US"/>
          </a:p>
        </p:txBody>
      </p:sp>
      <p:cxnSp>
        <p:nvCxnSpPr>
          <p:cNvPr id="7" name="Straight Connector 6"/>
          <p:cNvCxnSpPr/>
          <p:nvPr/>
        </p:nvCxnSpPr>
        <p:spPr>
          <a:xfrm flipV="1">
            <a:off x="428625" y="1469020"/>
            <a:ext cx="0" cy="1625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03413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80000"/>
        </a:lnSpc>
        <a:spcBef>
          <a:spcPct val="0"/>
        </a:spcBef>
        <a:buNone/>
        <a:defRPr sz="3300" kern="1200" cap="all" spc="75" baseline="0">
          <a:solidFill>
            <a:schemeClr val="tx1">
              <a:lumMod val="95000"/>
              <a:lumOff val="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Tw Cen MT" panose="020B0602020104020603" pitchFamily="34" charset="0"/>
        <a:buChar char=" "/>
        <a:defRPr sz="1500" kern="1200">
          <a:solidFill>
            <a:schemeClr val="tx1"/>
          </a:solidFill>
          <a:latin typeface="+mn-lt"/>
          <a:ea typeface="+mn-ea"/>
          <a:cs typeface="+mn-cs"/>
        </a:defRPr>
      </a:lvl1pPr>
      <a:lvl2pPr marL="198882" indent="-102870" algn="l" defTabSz="685800" rtl="0" eaLnBrk="1" latinLnBrk="0" hangingPunct="1">
        <a:lnSpc>
          <a:spcPct val="90000"/>
        </a:lnSpc>
        <a:spcBef>
          <a:spcPts val="150"/>
        </a:spcBef>
        <a:spcAft>
          <a:spcPts val="300"/>
        </a:spcAft>
        <a:buClr>
          <a:schemeClr val="accent1"/>
        </a:buClr>
        <a:buFont typeface="Wingdings 3" pitchFamily="18" charset="2"/>
        <a:buChar char=""/>
        <a:defRPr sz="1200" kern="1200">
          <a:solidFill>
            <a:schemeClr val="tx1"/>
          </a:solidFill>
          <a:latin typeface="+mn-lt"/>
          <a:ea typeface="+mn-ea"/>
          <a:cs typeface="+mn-cs"/>
        </a:defRPr>
      </a:lvl2pPr>
      <a:lvl3pPr marL="336042" indent="-102870" algn="l" defTabSz="685800" rtl="0" eaLnBrk="1" latinLnBrk="0" hangingPunct="1">
        <a:lnSpc>
          <a:spcPct val="90000"/>
        </a:lnSpc>
        <a:spcBef>
          <a:spcPts val="150"/>
        </a:spcBef>
        <a:spcAft>
          <a:spcPts val="300"/>
        </a:spcAft>
        <a:buClr>
          <a:schemeClr val="accent1"/>
        </a:buClr>
        <a:buFont typeface="Wingdings 3" pitchFamily="18" charset="2"/>
        <a:buChar char=""/>
        <a:defRPr sz="900" kern="1200">
          <a:solidFill>
            <a:schemeClr val="tx1"/>
          </a:solidFill>
          <a:latin typeface="+mn-lt"/>
          <a:ea typeface="+mn-ea"/>
          <a:cs typeface="+mn-cs"/>
        </a:defRPr>
      </a:lvl3pPr>
      <a:lvl4pPr marL="445770" indent="-102870" algn="l" defTabSz="685800" rtl="0" eaLnBrk="1" latinLnBrk="0" hangingPunct="1">
        <a:lnSpc>
          <a:spcPct val="90000"/>
        </a:lnSpc>
        <a:spcBef>
          <a:spcPts val="150"/>
        </a:spcBef>
        <a:spcAft>
          <a:spcPts val="300"/>
        </a:spcAft>
        <a:buClr>
          <a:schemeClr val="accent1"/>
        </a:buClr>
        <a:buFont typeface="Wingdings 3" pitchFamily="18" charset="2"/>
        <a:buChar char=""/>
        <a:defRPr sz="900" kern="1200">
          <a:solidFill>
            <a:schemeClr val="tx1"/>
          </a:solidFill>
          <a:latin typeface="+mn-lt"/>
          <a:ea typeface="+mn-ea"/>
          <a:cs typeface="+mn-cs"/>
        </a:defRPr>
      </a:lvl4pPr>
      <a:lvl5pPr marL="582930" indent="-102870" algn="l" defTabSz="685800" rtl="0" eaLnBrk="1" latinLnBrk="0" hangingPunct="1">
        <a:lnSpc>
          <a:spcPct val="90000"/>
        </a:lnSpc>
        <a:spcBef>
          <a:spcPts val="150"/>
        </a:spcBef>
        <a:spcAft>
          <a:spcPts val="300"/>
        </a:spcAft>
        <a:buClr>
          <a:schemeClr val="accent1"/>
        </a:buClr>
        <a:buFont typeface="Wingdings 3" pitchFamily="18" charset="2"/>
        <a:buChar char=""/>
        <a:defRPr sz="900" kern="1200">
          <a:solidFill>
            <a:schemeClr val="tx1"/>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1"/>
        </a:buClr>
        <a:buFont typeface="Wingdings 3" pitchFamily="18" charset="2"/>
        <a:buChar char=""/>
        <a:defRPr sz="900" kern="1200">
          <a:solidFill>
            <a:schemeClr val="tx1"/>
          </a:solidFill>
          <a:latin typeface="+mn-lt"/>
          <a:ea typeface="+mn-ea"/>
          <a:cs typeface="+mn-cs"/>
        </a:defRPr>
      </a:lvl6pPr>
      <a:lvl7pPr marL="795528" indent="-102870" algn="l" defTabSz="685800" rtl="0" eaLnBrk="1" latinLnBrk="0" hangingPunct="1">
        <a:lnSpc>
          <a:spcPct val="90000"/>
        </a:lnSpc>
        <a:spcBef>
          <a:spcPts val="150"/>
        </a:spcBef>
        <a:spcAft>
          <a:spcPts val="300"/>
        </a:spcAft>
        <a:buClr>
          <a:schemeClr val="accent1"/>
        </a:buClr>
        <a:buFont typeface="Wingdings 3" pitchFamily="18" charset="2"/>
        <a:buChar char=""/>
        <a:defRPr sz="900" kern="1200">
          <a:solidFill>
            <a:schemeClr val="tx1"/>
          </a:solidFill>
          <a:latin typeface="+mn-lt"/>
          <a:ea typeface="+mn-ea"/>
          <a:cs typeface="+mn-cs"/>
        </a:defRPr>
      </a:lvl7pPr>
      <a:lvl8pPr marL="912114" indent="-102870" algn="l" defTabSz="685800" rtl="0" eaLnBrk="1" latinLnBrk="0" hangingPunct="1">
        <a:lnSpc>
          <a:spcPct val="90000"/>
        </a:lnSpc>
        <a:spcBef>
          <a:spcPts val="150"/>
        </a:spcBef>
        <a:spcAft>
          <a:spcPts val="300"/>
        </a:spcAft>
        <a:buClr>
          <a:schemeClr val="accent1"/>
        </a:buClr>
        <a:buFont typeface="Wingdings 3" pitchFamily="18" charset="2"/>
        <a:buChar char=""/>
        <a:defRPr sz="900" kern="1200">
          <a:solidFill>
            <a:schemeClr val="tx1"/>
          </a:solidFill>
          <a:latin typeface="+mn-lt"/>
          <a:ea typeface="+mn-ea"/>
          <a:cs typeface="+mn-cs"/>
        </a:defRPr>
      </a:lvl8pPr>
      <a:lvl9pPr marL="1021842" indent="-102870" algn="l" defTabSz="685800" rtl="0" eaLnBrk="1" latinLnBrk="0" hangingPunct="1">
        <a:lnSpc>
          <a:spcPct val="90000"/>
        </a:lnSpc>
        <a:spcBef>
          <a:spcPts val="150"/>
        </a:spcBef>
        <a:spcAft>
          <a:spcPts val="300"/>
        </a:spcAft>
        <a:buClr>
          <a:schemeClr val="accent1"/>
        </a:buClr>
        <a:buFont typeface="Wingdings 3" pitchFamily="18" charset="2"/>
        <a:buChar char=""/>
        <a:defRPr sz="9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hyperlink" Target="http://www.sipri.ru/" TargetMode="Externa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sipri.ru/" TargetMode="External"/><Relationship Id="rId1" Type="http://schemas.openxmlformats.org/officeDocument/2006/relationships/slideLayout" Target="../slideLayouts/slideLayout7.xml"/><Relationship Id="rId4" Type="http://schemas.openxmlformats.org/officeDocument/2006/relationships/comments" Target="../comments/comment2.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omments" Target="../comments/comment4.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7.xml"/><Relationship Id="rId5" Type="http://schemas.openxmlformats.org/officeDocument/2006/relationships/comments" Target="../comments/comment7.xml"/><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omments" Target="../comments/comment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omments" Target="../comments/comment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omments" Target="../comments/comment11.xm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comments" Target="../comments/comment12.xml"/></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13.xml"/><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omments" Target="../comments/comment14.xm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comments" Target="../comments/comment15.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comments" Target="../comments/comment16.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comments" Target="../comments/comment17.xm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comments" Target="../comments/comment18.xml"/></Relationships>
</file>

<file path=ppt/slides/_rels/slide19.xml.rels><?xml version="1.0" encoding="UTF-8" standalone="yes"?>
<Relationships xmlns="http://schemas.openxmlformats.org/package/2006/relationships"><Relationship Id="rId2" Type="http://schemas.openxmlformats.org/officeDocument/2006/relationships/comments" Target="../comments/comment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comments" Target="../comments/comment20.xml"/></Relationships>
</file>

<file path=ppt/slides/_rels/slide21.xml.rels><?xml version="1.0" encoding="UTF-8" standalone="yes"?>
<Relationships xmlns="http://schemas.openxmlformats.org/package/2006/relationships"><Relationship Id="rId3" Type="http://schemas.openxmlformats.org/officeDocument/2006/relationships/comments" Target="../comments/comment21.xml"/><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comments" Target="../comments/comment22.xml"/><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comments" Target="../comments/comment23.xml"/><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comments" Target="../comments/comment24.xml"/></Relationships>
</file>

<file path=ppt/slides/_rels/slide25.xml.rels><?xml version="1.0" encoding="UTF-8" standalone="yes"?>
<Relationships xmlns="http://schemas.openxmlformats.org/package/2006/relationships"><Relationship Id="rId3" Type="http://schemas.openxmlformats.org/officeDocument/2006/relationships/comments" Target="../comments/comment25.xml"/><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comments" Target="../comments/comment26.xml"/><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comments" Target="../comments/comment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comments" Target="../comments/comment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comments" Target="../comments/comment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comments" Target="../comments/comment30.xml"/><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comments" Target="../comments/comment31.xml"/><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comments" Target="../comments/comment32.xml"/><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comments" Target="../comments/comment33.xml"/><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comments" Target="../comments/comment34.xml"/><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comments" Target="../comments/comment35.xml"/><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comments" Target="../comments/comment36.xml"/></Relationships>
</file>

<file path=ppt/slides/_rels/slide37.xml.rels><?xml version="1.0" encoding="UTF-8" standalone="yes"?>
<Relationships xmlns="http://schemas.openxmlformats.org/package/2006/relationships"><Relationship Id="rId3" Type="http://schemas.openxmlformats.org/officeDocument/2006/relationships/comments" Target="../comments/comment37.xml"/><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comments" Target="../comments/comment38.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2" Type="http://schemas.openxmlformats.org/officeDocument/2006/relationships/hyperlink" Target="mailto:voldmist@mail.ru"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035668-1830-8FFC-4A2F-82748EF62D48}"/>
              </a:ext>
            </a:extLst>
          </p:cNvPr>
          <p:cNvSpPr>
            <a:spLocks noGrp="1"/>
          </p:cNvSpPr>
          <p:nvPr>
            <p:ph type="title"/>
          </p:nvPr>
        </p:nvSpPr>
        <p:spPr>
          <a:xfrm>
            <a:off x="187778" y="146957"/>
            <a:ext cx="6564085" cy="11821885"/>
          </a:xfrm>
          <a:solidFill>
            <a:schemeClr val="accent4">
              <a:lumMod val="40000"/>
              <a:lumOff val="60000"/>
            </a:schemeClr>
          </a:solidFill>
          <a:ln>
            <a:solidFill>
              <a:schemeClr val="tx1"/>
            </a:solidFill>
          </a:ln>
        </p:spPr>
        <p:txBody>
          <a:bodyPr/>
          <a:lstStyle/>
          <a:p>
            <a:pPr algn="ctr"/>
            <a:r>
              <a:rPr lang="ru-RU" dirty="0" smtClean="0"/>
              <a:t/>
            </a:r>
            <a:br>
              <a:rPr lang="ru-RU" dirty="0" smtClean="0"/>
            </a:br>
            <a:r>
              <a:rPr lang="ru-RU" dirty="0"/>
              <a:t/>
            </a:r>
            <a:br>
              <a:rPr lang="ru-RU" dirty="0"/>
            </a:br>
            <a:r>
              <a:rPr lang="ru-RU" dirty="0" smtClean="0"/>
              <a:t/>
            </a:r>
            <a:br>
              <a:rPr lang="ru-RU" dirty="0" smtClean="0"/>
            </a:br>
            <a:r>
              <a:rPr lang="ru-RU" dirty="0"/>
              <a:t/>
            </a:r>
            <a:br>
              <a:rPr lang="ru-RU" dirty="0"/>
            </a:br>
            <a:r>
              <a:rPr lang="ru-RU" dirty="0" smtClean="0"/>
              <a:t/>
            </a:r>
            <a:br>
              <a:rPr lang="ru-RU" dirty="0" smtClean="0"/>
            </a:br>
            <a:r>
              <a:rPr lang="ru-RU" dirty="0"/>
              <a:t/>
            </a:r>
            <a:br>
              <a:rPr lang="ru-RU" dirty="0"/>
            </a:br>
            <a:r>
              <a:rPr lang="en-US" dirty="0" smtClean="0">
                <a:hlinkClick r:id="rId2"/>
              </a:rPr>
              <a:t>www.sipri.ru</a:t>
            </a:r>
            <a:r>
              <a:rPr lang="en-US" dirty="0" smtClean="0"/>
              <a:t>  </a:t>
            </a:r>
            <a:r>
              <a:rPr lang="ru-RU" sz="3200" dirty="0" smtClean="0"/>
              <a:t>СИПРИ</a:t>
            </a:r>
            <a:br>
              <a:rPr lang="ru-RU" sz="3200" dirty="0" smtClean="0"/>
            </a:br>
            <a:r>
              <a:rPr lang="ru-RU" sz="3200" dirty="0" smtClean="0"/>
              <a:t>система предложений, идей</a:t>
            </a:r>
            <a:br>
              <a:rPr lang="ru-RU" sz="3200" dirty="0" smtClean="0"/>
            </a:br>
            <a:r>
              <a:rPr lang="ru-RU" sz="3200" dirty="0"/>
              <a:t/>
            </a:r>
            <a:br>
              <a:rPr lang="ru-RU" sz="3200" dirty="0"/>
            </a:br>
            <a:endParaRPr lang="en-US" sz="3200" dirty="0"/>
          </a:p>
        </p:txBody>
      </p:sp>
      <p:sp>
        <p:nvSpPr>
          <p:cNvPr id="8" name="Прямоугольник 7"/>
          <p:cNvSpPr/>
          <p:nvPr/>
        </p:nvSpPr>
        <p:spPr>
          <a:xfrm>
            <a:off x="2628900" y="7935686"/>
            <a:ext cx="1681843" cy="5388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Скругленный прямоугольник 2"/>
          <p:cNvSpPr/>
          <p:nvPr/>
        </p:nvSpPr>
        <p:spPr>
          <a:xfrm>
            <a:off x="1469571" y="8082643"/>
            <a:ext cx="4441372" cy="1861457"/>
          </a:xfrm>
          <a:prstGeom prst="round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a:solidFill>
                  <a:schemeClr val="tx1">
                    <a:lumMod val="75000"/>
                    <a:lumOff val="25000"/>
                  </a:schemeClr>
                </a:solidFill>
              </a:rPr>
              <a:t>в</a:t>
            </a:r>
            <a:r>
              <a:rPr lang="ru-RU" sz="2400" b="1" dirty="0" smtClean="0">
                <a:solidFill>
                  <a:schemeClr val="tx1">
                    <a:lumMod val="75000"/>
                    <a:lumOff val="25000"/>
                  </a:schemeClr>
                </a:solidFill>
              </a:rPr>
              <a:t>ход, авторизация   </a:t>
            </a:r>
            <a:endParaRPr lang="ru-RU" sz="2400" b="1" dirty="0">
              <a:solidFill>
                <a:schemeClr val="tx1">
                  <a:lumMod val="75000"/>
                  <a:lumOff val="25000"/>
                </a:schemeClr>
              </a:solidFill>
            </a:endParaRPr>
          </a:p>
        </p:txBody>
      </p:sp>
      <p:sp>
        <p:nvSpPr>
          <p:cNvPr id="4" name="Двойные круглые скобки 3"/>
          <p:cNvSpPr/>
          <p:nvPr/>
        </p:nvSpPr>
        <p:spPr>
          <a:xfrm>
            <a:off x="4959803" y="8474529"/>
            <a:ext cx="914400" cy="914400"/>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Tree>
    <p:extLst>
      <p:ext uri="{BB962C8B-B14F-4D97-AF65-F5344CB8AC3E}">
        <p14:creationId xmlns:p14="http://schemas.microsoft.com/office/powerpoint/2010/main" val="9918098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BD6EA3B4-B999-F8D1-9D97-558433D3F617}"/>
              </a:ext>
            </a:extLst>
          </p:cNvPr>
          <p:cNvSpPr/>
          <p:nvPr/>
        </p:nvSpPr>
        <p:spPr>
          <a:xfrm>
            <a:off x="293913" y="245491"/>
            <a:ext cx="6189091" cy="1173968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Таблица 3"/>
          <p:cNvGraphicFramePr>
            <a:graphicFrameLocks noGrp="1"/>
          </p:cNvGraphicFramePr>
          <p:nvPr>
            <p:extLst>
              <p:ext uri="{D42A27DB-BD31-4B8C-83A1-F6EECF244321}">
                <p14:modId xmlns:p14="http://schemas.microsoft.com/office/powerpoint/2010/main" val="1421288026"/>
              </p:ext>
            </p:extLst>
          </p:nvPr>
        </p:nvGraphicFramePr>
        <p:xfrm>
          <a:off x="498301" y="340659"/>
          <a:ext cx="5780313" cy="11576652"/>
        </p:xfrm>
        <a:graphic>
          <a:graphicData uri="http://schemas.openxmlformats.org/drawingml/2006/table">
            <a:tbl>
              <a:tblPr firstRow="1" bandRow="1">
                <a:tableStyleId>{5C22544A-7EE6-4342-B048-85BDC9FD1C3A}</a:tableStyleId>
              </a:tblPr>
              <a:tblGrid>
                <a:gridCol w="5780313">
                  <a:extLst>
                    <a:ext uri="{9D8B030D-6E8A-4147-A177-3AD203B41FA5}">
                      <a16:colId xmlns:a16="http://schemas.microsoft.com/office/drawing/2014/main" val="2996593537"/>
                    </a:ext>
                  </a:extLst>
                </a:gridCol>
              </a:tblGrid>
              <a:tr h="2317398">
                <a:tc>
                  <a:txBody>
                    <a:bodyPr/>
                    <a:lstStyle/>
                    <a:p>
                      <a:pPr algn="ctr"/>
                      <a:r>
                        <a:rPr lang="en-US" sz="1800" dirty="0" smtClean="0">
                          <a:solidFill>
                            <a:schemeClr val="tx1"/>
                          </a:solidFill>
                          <a:hlinkClick r:id="rId2"/>
                        </a:rPr>
                        <a:t>www.Sipri.ru</a:t>
                      </a:r>
                      <a:r>
                        <a:rPr lang="en-US" sz="1800" dirty="0" smtClean="0">
                          <a:solidFill>
                            <a:schemeClr val="tx1"/>
                          </a:solidFill>
                        </a:rPr>
                        <a:t> </a:t>
                      </a:r>
                      <a:r>
                        <a:rPr lang="ru-RU" sz="1800" dirty="0" smtClean="0">
                          <a:solidFill>
                            <a:schemeClr val="tx1"/>
                          </a:solidFill>
                        </a:rPr>
                        <a:t>СИПРИ</a:t>
                      </a:r>
                    </a:p>
                    <a:p>
                      <a:pPr algn="ctr"/>
                      <a:endParaRPr lang="ru-RU" dirty="0" smtClean="0"/>
                    </a:p>
                    <a:p>
                      <a:pPr algn="ctr"/>
                      <a:r>
                        <a:rPr lang="ru-RU" dirty="0" smtClean="0"/>
                        <a:t> </a:t>
                      </a:r>
                      <a:r>
                        <a:rPr lang="ru-RU" sz="2000" i="1" u="sng" dirty="0" err="1" smtClean="0">
                          <a:solidFill>
                            <a:schemeClr val="tx1"/>
                          </a:solidFill>
                        </a:rPr>
                        <a:t>Главснаб</a:t>
                      </a:r>
                      <a:endParaRPr lang="ru-RU" sz="2000" i="1" u="sng" baseline="0" dirty="0" smtClean="0">
                        <a:solidFill>
                          <a:schemeClr val="tx1"/>
                        </a:solidFill>
                      </a:endParaRPr>
                    </a:p>
                    <a:p>
                      <a:endParaRPr lang="ru-RU" baseline="0" dirty="0" smtClean="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smtClean="0">
                          <a:ln>
                            <a:noFill/>
                          </a:ln>
                          <a:solidFill>
                            <a:prstClr val="black"/>
                          </a:solidFill>
                          <a:effectLst/>
                          <a:uLnTx/>
                          <a:uFillTx/>
                          <a:latin typeface="+mn-lt"/>
                          <a:ea typeface="+mn-ea"/>
                          <a:cs typeface="+mn-cs"/>
                        </a:rPr>
                        <a:t>поиск</a:t>
                      </a:r>
                      <a:r>
                        <a:rPr kumimoji="0" lang="ru-RU" sz="1350" b="1" i="0" u="none" strike="noStrike" kern="1200" cap="none" spc="0" normalizeH="0" baseline="0" noProof="0" dirty="0" smtClean="0">
                          <a:ln>
                            <a:noFill/>
                          </a:ln>
                          <a:solidFill>
                            <a:prstClr val="black"/>
                          </a:solidFill>
                          <a:effectLst/>
                          <a:uLnTx/>
                          <a:uFillTx/>
                          <a:latin typeface="+mn-lt"/>
                          <a:ea typeface="+mn-ea"/>
                          <a:cs typeface="+mn-cs"/>
                        </a:rPr>
                        <a:t> </a:t>
                      </a: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ru-RU" sz="2400" b="1" i="0" u="none" strike="noStrike" kern="1200" cap="none" spc="0" normalizeH="0" baseline="0" noProof="0" dirty="0" smtClean="0">
                        <a:ln>
                          <a:noFill/>
                        </a:ln>
                        <a:solidFill>
                          <a:prstClr val="black"/>
                        </a:solidFill>
                        <a:effectLst/>
                        <a:uLnTx/>
                        <a:uFillTx/>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mn-lt"/>
                          <a:ea typeface="+mn-ea"/>
                          <a:cs typeface="+mn-cs"/>
                        </a:rPr>
                        <a:t>Наименование компании, предприятия </a:t>
                      </a:r>
                    </a:p>
                    <a:p>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1010143900"/>
                  </a:ext>
                </a:extLst>
              </a:tr>
              <a:tr h="116919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800" b="1" i="0" u="none" strike="noStrike" kern="1200" cap="none" spc="0" normalizeH="0" baseline="0" noProof="0" dirty="0" smtClean="0">
                          <a:ln>
                            <a:noFill/>
                          </a:ln>
                          <a:solidFill>
                            <a:prstClr val="black"/>
                          </a:solidFill>
                          <a:effectLst/>
                          <a:uLnTx/>
                          <a:uFillTx/>
                          <a:latin typeface="+mn-lt"/>
                          <a:ea typeface="+mn-ea"/>
                          <a:cs typeface="+mn-cs"/>
                        </a:rPr>
                        <a:t>правила участия</a:t>
                      </a:r>
                      <a:endParaRPr kumimoji="0" lang="en-US" sz="2800" b="1" i="0" u="none" strike="noStrike" kern="1200" cap="none" spc="0" normalizeH="0" baseline="0" noProof="0" dirty="0" smtClean="0">
                        <a:ln>
                          <a:noFill/>
                        </a:ln>
                        <a:solidFill>
                          <a:prstClr val="black"/>
                        </a:solidFill>
                        <a:effectLst/>
                        <a:uLnTx/>
                        <a:uFillTx/>
                        <a:latin typeface="+mn-lt"/>
                        <a:ea typeface="+mn-ea"/>
                        <a:cs typeface="+mn-cs"/>
                      </a:endParaRPr>
                    </a:p>
                    <a:p>
                      <a:pPr algn="ctr"/>
                      <a:endParaRPr lang="ru-RU" dirty="0" smtClean="0"/>
                    </a:p>
                    <a:p>
                      <a:pPr algn="ctr"/>
                      <a:endParaRPr lang="ru-RU" dirty="0" smtClean="0"/>
                    </a:p>
                    <a:p>
                      <a:pPr algn="ctr"/>
                      <a:endParaRPr lang="ru-RU" dirty="0" smtClean="0"/>
                    </a:p>
                    <a:p>
                      <a:pPr algn="ctr"/>
                      <a:endParaRPr lang="ru-RU" dirty="0" smtClean="0"/>
                    </a:p>
                    <a:p>
                      <a:pPr algn="l"/>
                      <a:endParaRPr lang="ru-RU" sz="2000" b="1" dirty="0"/>
                    </a:p>
                  </a:txBody>
                  <a:tcPr>
                    <a:solidFill>
                      <a:schemeClr val="accent1">
                        <a:lumMod val="60000"/>
                        <a:lumOff val="40000"/>
                      </a:schemeClr>
                    </a:solidFill>
                  </a:tcPr>
                </a:tc>
                <a:extLst>
                  <a:ext uri="{0D108BD9-81ED-4DB2-BD59-A6C34878D82A}">
                    <a16:rowId xmlns:a16="http://schemas.microsoft.com/office/drawing/2014/main" val="1679355659"/>
                  </a:ext>
                </a:extLst>
              </a:tr>
              <a:tr h="1303084">
                <a:tc>
                  <a:txBody>
                    <a:bodyPr/>
                    <a:lstStyle/>
                    <a:p>
                      <a:pPr marL="0" indent="0" algn="ctr"/>
                      <a:r>
                        <a:rPr lang="ru-RU" sz="2800" b="1" dirty="0" smtClean="0"/>
                        <a:t>проблема -</a:t>
                      </a:r>
                    </a:p>
                    <a:p>
                      <a:pPr algn="ctr"/>
                      <a:r>
                        <a:rPr lang="ru-RU" sz="2800" b="1" dirty="0" smtClean="0"/>
                        <a:t>               -  предложение</a:t>
                      </a:r>
                      <a:endParaRPr lang="en-US" sz="2800" b="1" dirty="0" smtClean="0"/>
                    </a:p>
                    <a:p>
                      <a:pPr algn="ctr"/>
                      <a:endParaRPr lang="ru-RU" sz="2800" dirty="0"/>
                    </a:p>
                  </a:txBody>
                  <a:tcPr>
                    <a:solidFill>
                      <a:schemeClr val="accent1">
                        <a:lumMod val="60000"/>
                        <a:lumOff val="40000"/>
                      </a:schemeClr>
                    </a:solidFill>
                  </a:tcPr>
                </a:tc>
                <a:extLst>
                  <a:ext uri="{0D108BD9-81ED-4DB2-BD59-A6C34878D82A}">
                    <a16:rowId xmlns:a16="http://schemas.microsoft.com/office/drawing/2014/main" val="2438587463"/>
                  </a:ext>
                </a:extLst>
              </a:tr>
              <a:tr h="1577472">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ru-RU" sz="2800" b="1" dirty="0" smtClean="0"/>
                        <a:t>база предложений</a:t>
                      </a:r>
                      <a:endParaRPr lang="en-US" sz="2800" b="1" dirty="0" smtClean="0"/>
                    </a:p>
                    <a:p>
                      <a:pPr algn="ctr"/>
                      <a:endParaRPr lang="ru-RU" sz="2800" dirty="0"/>
                    </a:p>
                  </a:txBody>
                  <a:tcPr>
                    <a:solidFill>
                      <a:schemeClr val="accent1">
                        <a:lumMod val="60000"/>
                        <a:lumOff val="40000"/>
                      </a:schemeClr>
                    </a:solidFill>
                  </a:tcPr>
                </a:tc>
                <a:extLst>
                  <a:ext uri="{0D108BD9-81ED-4DB2-BD59-A6C34878D82A}">
                    <a16:rowId xmlns:a16="http://schemas.microsoft.com/office/drawing/2014/main" val="408398280"/>
                  </a:ext>
                </a:extLst>
              </a:tr>
              <a:tr h="1577472">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ru-RU" sz="2800" b="1" dirty="0" smtClean="0"/>
                        <a:t>библиотека знаний</a:t>
                      </a:r>
                      <a:endParaRPr lang="en-US" sz="2800" b="1" dirty="0" smtClean="0"/>
                    </a:p>
                    <a:p>
                      <a:pPr algn="ctr"/>
                      <a:endParaRPr lang="ru-RU" sz="2800" dirty="0"/>
                    </a:p>
                  </a:txBody>
                  <a:tcPr>
                    <a:solidFill>
                      <a:schemeClr val="accent1">
                        <a:lumMod val="60000"/>
                        <a:lumOff val="40000"/>
                      </a:schemeClr>
                    </a:solidFill>
                  </a:tcPr>
                </a:tc>
                <a:extLst>
                  <a:ext uri="{0D108BD9-81ED-4DB2-BD59-A6C34878D82A}">
                    <a16:rowId xmlns:a16="http://schemas.microsoft.com/office/drawing/2014/main" val="2287232421"/>
                  </a:ext>
                </a:extLst>
              </a:tr>
              <a:tr h="1577472">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ru-RU" sz="2800" b="1" dirty="0" smtClean="0"/>
                        <a:t>мессенджер, почта</a:t>
                      </a:r>
                      <a:endParaRPr lang="en-US" sz="2800" b="1" dirty="0" smtClean="0"/>
                    </a:p>
                    <a:p>
                      <a:pPr algn="ctr"/>
                      <a:endParaRPr lang="ru-RU" sz="2800" dirty="0"/>
                    </a:p>
                  </a:txBody>
                  <a:tcPr>
                    <a:solidFill>
                      <a:schemeClr val="accent1">
                        <a:lumMod val="60000"/>
                        <a:lumOff val="40000"/>
                      </a:schemeClr>
                    </a:solidFill>
                  </a:tcPr>
                </a:tc>
                <a:extLst>
                  <a:ext uri="{0D108BD9-81ED-4DB2-BD59-A6C34878D82A}">
                    <a16:rowId xmlns:a16="http://schemas.microsoft.com/office/drawing/2014/main" val="589791730"/>
                  </a:ext>
                </a:extLst>
              </a:tr>
              <a:tr h="1434036">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ru-RU" sz="2800" b="1" dirty="0" smtClean="0"/>
                        <a:t>вход, авторизация</a:t>
                      </a:r>
                    </a:p>
                    <a:p>
                      <a:pPr marL="0" marR="0" indent="0" algn="ctr" defTabSz="685800" rtl="0" eaLnBrk="1" fontAlgn="auto" latinLnBrk="0" hangingPunct="1">
                        <a:lnSpc>
                          <a:spcPct val="100000"/>
                        </a:lnSpc>
                        <a:spcBef>
                          <a:spcPts val="0"/>
                        </a:spcBef>
                        <a:spcAft>
                          <a:spcPts val="0"/>
                        </a:spcAft>
                        <a:buClrTx/>
                        <a:buSzTx/>
                        <a:buFontTx/>
                        <a:buNone/>
                        <a:tabLst/>
                        <a:defRPr/>
                      </a:pPr>
                      <a:r>
                        <a:rPr lang="ru-RU" sz="2800" b="1" dirty="0" smtClean="0"/>
                        <a:t>личный кабинет, помощь</a:t>
                      </a:r>
                      <a:endParaRPr lang="en-US" sz="2800" b="1" dirty="0" smtClean="0"/>
                    </a:p>
                    <a:p>
                      <a:pPr algn="ctr"/>
                      <a:endParaRPr lang="ru-RU" sz="2800" dirty="0"/>
                    </a:p>
                  </a:txBody>
                  <a:tcPr>
                    <a:solidFill>
                      <a:schemeClr val="accent1">
                        <a:lumMod val="60000"/>
                        <a:lumOff val="40000"/>
                      </a:schemeClr>
                    </a:solidFill>
                  </a:tcPr>
                </a:tc>
                <a:extLst>
                  <a:ext uri="{0D108BD9-81ED-4DB2-BD59-A6C34878D82A}">
                    <a16:rowId xmlns:a16="http://schemas.microsoft.com/office/drawing/2014/main" val="1254752744"/>
                  </a:ext>
                </a:extLst>
              </a:tr>
            </a:tbl>
          </a:graphicData>
        </a:graphic>
      </p:graphicFrame>
      <p:sp>
        <p:nvSpPr>
          <p:cNvPr id="5" name="Прямоугольник 4"/>
          <p:cNvSpPr/>
          <p:nvPr/>
        </p:nvSpPr>
        <p:spPr>
          <a:xfrm>
            <a:off x="1408525" y="1270747"/>
            <a:ext cx="4425042" cy="5061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3"/>
          <a:stretch>
            <a:fillRect/>
          </a:stretch>
        </p:blipFill>
        <p:spPr>
          <a:xfrm>
            <a:off x="5833567" y="11412827"/>
            <a:ext cx="445047" cy="426757"/>
          </a:xfrm>
          <a:prstGeom prst="rect">
            <a:avLst/>
          </a:prstGeom>
        </p:spPr>
      </p:pic>
    </p:spTree>
    <p:extLst>
      <p:ext uri="{BB962C8B-B14F-4D97-AF65-F5344CB8AC3E}">
        <p14:creationId xmlns:p14="http://schemas.microsoft.com/office/powerpoint/2010/main" val="305186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51063" y="424542"/>
            <a:ext cx="6270173" cy="11234057"/>
          </a:xfrm>
          <a:prstGeom prst="rect">
            <a:avLst/>
          </a:prstGeom>
          <a:solidFill>
            <a:schemeClr val="tx2">
              <a:lumMod val="40000"/>
              <a:lumOff val="60000"/>
            </a:schemeClr>
          </a:solidFill>
        </p:spPr>
        <p:style>
          <a:lnRef idx="2">
            <a:schemeClr val="dk1"/>
          </a:lnRef>
          <a:fillRef idx="1">
            <a:schemeClr val="lt1"/>
          </a:fillRef>
          <a:effectRef idx="0">
            <a:schemeClr val="dk1"/>
          </a:effectRef>
          <a:fontRef idx="minor">
            <a:schemeClr val="dk1"/>
          </a:fontRef>
        </p:style>
        <p:txBody>
          <a:bodyPr rtlCol="0" anchor="t"/>
          <a:lstStyle/>
          <a:p>
            <a:pPr algn="ctr"/>
            <a:r>
              <a:rPr lang="ru-RU" sz="3600" i="1" dirty="0" smtClean="0">
                <a:ln w="0"/>
                <a:solidFill>
                  <a:schemeClr val="tx1"/>
                </a:solidFill>
                <a:effectLst>
                  <a:outerShdw blurRad="38100" dist="19050" dir="2700000" algn="tl" rotWithShape="0">
                    <a:schemeClr val="dk1">
                      <a:alpha val="40000"/>
                    </a:schemeClr>
                  </a:outerShdw>
                </a:effectLst>
              </a:rPr>
              <a:t>Правила участия</a:t>
            </a:r>
          </a:p>
          <a:p>
            <a:pPr algn="ctr"/>
            <a:endParaRPr lang="ru-RU" sz="3600" i="1" dirty="0">
              <a:ln w="0"/>
              <a:solidFill>
                <a:schemeClr val="tx1"/>
              </a:solidFill>
              <a:effectLst>
                <a:outerShdw blurRad="38100" dist="19050" dir="2700000" algn="tl" rotWithShape="0">
                  <a:schemeClr val="dk1">
                    <a:alpha val="40000"/>
                  </a:schemeClr>
                </a:outerShdw>
              </a:effectLst>
            </a:endParaRPr>
          </a:p>
        </p:txBody>
      </p:sp>
      <p:graphicFrame>
        <p:nvGraphicFramePr>
          <p:cNvPr id="3" name="Таблица 2"/>
          <p:cNvGraphicFramePr>
            <a:graphicFrameLocks noGrp="1"/>
          </p:cNvGraphicFramePr>
          <p:nvPr>
            <p:extLst>
              <p:ext uri="{D42A27DB-BD31-4B8C-83A1-F6EECF244321}">
                <p14:modId xmlns:p14="http://schemas.microsoft.com/office/powerpoint/2010/main" val="2965413341"/>
              </p:ext>
            </p:extLst>
          </p:nvPr>
        </p:nvGraphicFramePr>
        <p:xfrm>
          <a:off x="783771" y="1665514"/>
          <a:ext cx="5404758" cy="2449285"/>
        </p:xfrm>
        <a:graphic>
          <a:graphicData uri="http://schemas.openxmlformats.org/drawingml/2006/table">
            <a:tbl>
              <a:tblPr firstRow="1" bandRow="1">
                <a:tableStyleId>{5C22544A-7EE6-4342-B048-85BDC9FD1C3A}</a:tableStyleId>
              </a:tblPr>
              <a:tblGrid>
                <a:gridCol w="5404758">
                  <a:extLst>
                    <a:ext uri="{9D8B030D-6E8A-4147-A177-3AD203B41FA5}">
                      <a16:colId xmlns:a16="http://schemas.microsoft.com/office/drawing/2014/main" val="363479488"/>
                    </a:ext>
                  </a:extLst>
                </a:gridCol>
              </a:tblGrid>
              <a:tr h="2449285">
                <a:tc>
                  <a:txBody>
                    <a:bodyPr/>
                    <a:lstStyle/>
                    <a:p>
                      <a:r>
                        <a:rPr lang="ru-RU" sz="2000" dirty="0" smtClean="0">
                          <a:solidFill>
                            <a:schemeClr val="tx1"/>
                          </a:solidFill>
                        </a:rPr>
                        <a:t>Правила для участников</a:t>
                      </a: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r>
                        <a:rPr lang="ru-RU" sz="2000" dirty="0" smtClean="0">
                          <a:solidFill>
                            <a:schemeClr val="tx1"/>
                          </a:solidFill>
                        </a:rPr>
                        <a:t>шаблон</a:t>
                      </a:r>
                    </a:p>
                  </a:txBody>
                  <a:tcPr>
                    <a:solidFill>
                      <a:schemeClr val="accent1">
                        <a:lumMod val="60000"/>
                        <a:lumOff val="40000"/>
                      </a:schemeClr>
                    </a:solidFill>
                  </a:tcPr>
                </a:tc>
                <a:extLst>
                  <a:ext uri="{0D108BD9-81ED-4DB2-BD59-A6C34878D82A}">
                    <a16:rowId xmlns:a16="http://schemas.microsoft.com/office/drawing/2014/main" val="2540622153"/>
                  </a:ext>
                </a:extLst>
              </a:tr>
            </a:tbl>
          </a:graphicData>
        </a:graphic>
      </p:graphicFrame>
      <p:graphicFrame>
        <p:nvGraphicFramePr>
          <p:cNvPr id="4" name="Таблица 3"/>
          <p:cNvGraphicFramePr>
            <a:graphicFrameLocks noGrp="1"/>
          </p:cNvGraphicFramePr>
          <p:nvPr>
            <p:extLst>
              <p:ext uri="{D42A27DB-BD31-4B8C-83A1-F6EECF244321}">
                <p14:modId xmlns:p14="http://schemas.microsoft.com/office/powerpoint/2010/main" val="153039208"/>
              </p:ext>
            </p:extLst>
          </p:nvPr>
        </p:nvGraphicFramePr>
        <p:xfrm>
          <a:off x="783770" y="5029906"/>
          <a:ext cx="5404758" cy="1485900"/>
        </p:xfrm>
        <a:graphic>
          <a:graphicData uri="http://schemas.openxmlformats.org/drawingml/2006/table">
            <a:tbl>
              <a:tblPr firstRow="1" bandRow="1">
                <a:tableStyleId>{5C22544A-7EE6-4342-B048-85BDC9FD1C3A}</a:tableStyleId>
              </a:tblPr>
              <a:tblGrid>
                <a:gridCol w="5404758">
                  <a:extLst>
                    <a:ext uri="{9D8B030D-6E8A-4147-A177-3AD203B41FA5}">
                      <a16:colId xmlns:a16="http://schemas.microsoft.com/office/drawing/2014/main" val="614803865"/>
                    </a:ext>
                  </a:extLst>
                </a:gridCol>
              </a:tblGrid>
              <a:tr h="1485900">
                <a:tc>
                  <a:txBody>
                    <a:bodyPr/>
                    <a:lstStyle/>
                    <a:p>
                      <a:r>
                        <a:rPr lang="ru-RU" sz="2000" dirty="0" err="1" smtClean="0">
                          <a:solidFill>
                            <a:schemeClr val="tx1"/>
                          </a:solidFill>
                        </a:rPr>
                        <a:t>Видео</a:t>
                      </a:r>
                      <a:r>
                        <a:rPr lang="ru-RU" sz="2000" baseline="0" dirty="0" err="1" smtClean="0">
                          <a:solidFill>
                            <a:schemeClr val="tx1"/>
                          </a:solidFill>
                        </a:rPr>
                        <a:t>инструкция</a:t>
                      </a:r>
                      <a:r>
                        <a:rPr lang="ru-RU" sz="2000" baseline="0" dirty="0" smtClean="0">
                          <a:solidFill>
                            <a:schemeClr val="tx1"/>
                          </a:solidFill>
                        </a:rPr>
                        <a:t> по СИПРИ</a:t>
                      </a:r>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1648948038"/>
                  </a:ext>
                </a:extLst>
              </a:tr>
            </a:tbl>
          </a:graphicData>
        </a:graphic>
      </p:graphicFrame>
      <p:sp>
        <p:nvSpPr>
          <p:cNvPr id="5" name="Управляющая кнопка: далее 4">
            <a:hlinkClick r:id="" action="ppaction://hlinkshowjump?jump=nextslide" highlightClick="1"/>
          </p:cNvPr>
          <p:cNvSpPr/>
          <p:nvPr/>
        </p:nvSpPr>
        <p:spPr>
          <a:xfrm>
            <a:off x="1208314" y="5535384"/>
            <a:ext cx="669471" cy="506186"/>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ая выноска 5"/>
          <p:cNvSpPr/>
          <p:nvPr/>
        </p:nvSpPr>
        <p:spPr>
          <a:xfrm>
            <a:off x="1208314" y="2212520"/>
            <a:ext cx="669471" cy="481694"/>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Стрелка влево 6"/>
          <p:cNvSpPr/>
          <p:nvPr/>
        </p:nvSpPr>
        <p:spPr>
          <a:xfrm>
            <a:off x="555171" y="681747"/>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8" name="Таблица 7"/>
          <p:cNvGraphicFramePr>
            <a:graphicFrameLocks noGrp="1"/>
          </p:cNvGraphicFramePr>
          <p:nvPr>
            <p:extLst>
              <p:ext uri="{D42A27DB-BD31-4B8C-83A1-F6EECF244321}">
                <p14:modId xmlns:p14="http://schemas.microsoft.com/office/powerpoint/2010/main" val="372937349"/>
              </p:ext>
            </p:extLst>
          </p:nvPr>
        </p:nvGraphicFramePr>
        <p:xfrm>
          <a:off x="783770" y="6923639"/>
          <a:ext cx="5404758" cy="1615440"/>
        </p:xfrm>
        <a:graphic>
          <a:graphicData uri="http://schemas.openxmlformats.org/drawingml/2006/table">
            <a:tbl>
              <a:tblPr firstRow="1" bandRow="1">
                <a:tableStyleId>{5C22544A-7EE6-4342-B048-85BDC9FD1C3A}</a:tableStyleId>
              </a:tblPr>
              <a:tblGrid>
                <a:gridCol w="5404758">
                  <a:extLst>
                    <a:ext uri="{9D8B030D-6E8A-4147-A177-3AD203B41FA5}">
                      <a16:colId xmlns:a16="http://schemas.microsoft.com/office/drawing/2014/main" val="363479488"/>
                    </a:ext>
                  </a:extLst>
                </a:gridCol>
              </a:tblGrid>
              <a:tr h="1453242">
                <a:tc>
                  <a:txBody>
                    <a:bodyPr/>
                    <a:lstStyle/>
                    <a:p>
                      <a:r>
                        <a:rPr lang="ru-RU" sz="2000" dirty="0" smtClean="0">
                          <a:solidFill>
                            <a:schemeClr val="tx1"/>
                          </a:solidFill>
                        </a:rPr>
                        <a:t>Регистрация</a:t>
                      </a:r>
                      <a:r>
                        <a:rPr lang="ru-RU" sz="2000" baseline="0" dirty="0" smtClean="0">
                          <a:solidFill>
                            <a:schemeClr val="tx1"/>
                          </a:solidFill>
                        </a:rPr>
                        <a:t> сотрудников других компаний, (фирм, предприятий) и клиентов (пользователей продукции или услуг вашей компании)</a:t>
                      </a:r>
                      <a:endParaRPr lang="ru-RU" sz="2000" dirty="0" smtClean="0">
                        <a:solidFill>
                          <a:schemeClr val="tx1"/>
                        </a:solidFill>
                      </a:endParaRPr>
                    </a:p>
                    <a:p>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2540622153"/>
                  </a:ext>
                </a:extLst>
              </a:tr>
            </a:tbl>
          </a:graphicData>
        </a:graphic>
      </p:graphicFrame>
      <p:pic>
        <p:nvPicPr>
          <p:cNvPr id="9" name="Рисунок 8"/>
          <p:cNvPicPr>
            <a:picLocks noChangeAspect="1"/>
          </p:cNvPicPr>
          <p:nvPr/>
        </p:nvPicPr>
        <p:blipFill>
          <a:blip r:embed="rId2"/>
          <a:stretch>
            <a:fillRect/>
          </a:stretch>
        </p:blipFill>
        <p:spPr>
          <a:xfrm>
            <a:off x="6188529" y="11231842"/>
            <a:ext cx="445047" cy="426757"/>
          </a:xfrm>
          <a:prstGeom prst="rect">
            <a:avLst/>
          </a:prstGeom>
        </p:spPr>
      </p:pic>
      <p:sp>
        <p:nvSpPr>
          <p:cNvPr id="10" name="Прямоугольная выноска 9"/>
          <p:cNvSpPr/>
          <p:nvPr/>
        </p:nvSpPr>
        <p:spPr>
          <a:xfrm>
            <a:off x="1208314" y="3318054"/>
            <a:ext cx="669471" cy="481694"/>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469638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51063" y="424542"/>
            <a:ext cx="6270173" cy="11234057"/>
          </a:xfrm>
          <a:prstGeom prst="rect">
            <a:avLst/>
          </a:prstGeom>
          <a:solidFill>
            <a:schemeClr val="tx2">
              <a:lumMod val="40000"/>
              <a:lumOff val="60000"/>
            </a:schemeClr>
          </a:solidFill>
        </p:spPr>
        <p:style>
          <a:lnRef idx="2">
            <a:schemeClr val="dk1"/>
          </a:lnRef>
          <a:fillRef idx="1">
            <a:schemeClr val="lt1"/>
          </a:fillRef>
          <a:effectRef idx="0">
            <a:schemeClr val="dk1"/>
          </a:effectRef>
          <a:fontRef idx="minor">
            <a:schemeClr val="dk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600" b="0" i="1" u="none" strike="noStrike" kern="1200" cap="none" spc="0" normalizeH="0" baseline="0" noProof="0" dirty="0" smtClean="0">
                <a:ln w="0"/>
                <a:solidFill>
                  <a:prstClr val="black"/>
                </a:solidFill>
                <a:effectLst>
                  <a:outerShdw blurRad="38100" dist="19050" dir="2700000" algn="tl" rotWithShape="0">
                    <a:prstClr val="black">
                      <a:alpha val="40000"/>
                    </a:prstClr>
                  </a:outerShdw>
                </a:effectLst>
                <a:uLnTx/>
                <a:uFillTx/>
                <a:latin typeface="Calibri" panose="020F0502020204030204" pitchFamily="34" charset="0"/>
                <a:ea typeface="+mn-ea"/>
                <a:cs typeface="+mn-cs"/>
              </a:rPr>
              <a:t>Правила для участников</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3600" b="0" i="1"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panose="020F0502020204030204" pitchFamily="34" charset="0"/>
              <a:ea typeface="+mn-ea"/>
              <a:cs typeface="+mn-cs"/>
            </a:endParaRPr>
          </a:p>
        </p:txBody>
      </p:sp>
      <p:graphicFrame>
        <p:nvGraphicFramePr>
          <p:cNvPr id="3" name="Таблица 2"/>
          <p:cNvGraphicFramePr>
            <a:graphicFrameLocks noGrp="1"/>
          </p:cNvGraphicFramePr>
          <p:nvPr>
            <p:extLst>
              <p:ext uri="{D42A27DB-BD31-4B8C-83A1-F6EECF244321}">
                <p14:modId xmlns:p14="http://schemas.microsoft.com/office/powerpoint/2010/main" val="3973725808"/>
              </p:ext>
            </p:extLst>
          </p:nvPr>
        </p:nvGraphicFramePr>
        <p:xfrm>
          <a:off x="783771" y="1419472"/>
          <a:ext cx="5404758" cy="9961541"/>
        </p:xfrm>
        <a:graphic>
          <a:graphicData uri="http://schemas.openxmlformats.org/drawingml/2006/table">
            <a:tbl>
              <a:tblPr firstRow="1" bandRow="1">
                <a:tableStyleId>{5C22544A-7EE6-4342-B048-85BDC9FD1C3A}</a:tableStyleId>
              </a:tblPr>
              <a:tblGrid>
                <a:gridCol w="5404758">
                  <a:extLst>
                    <a:ext uri="{9D8B030D-6E8A-4147-A177-3AD203B41FA5}">
                      <a16:colId xmlns:a16="http://schemas.microsoft.com/office/drawing/2014/main" val="363479488"/>
                    </a:ext>
                  </a:extLst>
                </a:gridCol>
              </a:tblGrid>
              <a:tr h="9961541">
                <a:tc>
                  <a:txBody>
                    <a:bodyPr/>
                    <a:lstStyle/>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r>
                        <a:rPr lang="ru-RU" sz="2000" dirty="0" smtClean="0">
                          <a:solidFill>
                            <a:schemeClr val="tx1"/>
                          </a:solidFill>
                        </a:rPr>
                        <a:t>    Шаблон правил 1</a:t>
                      </a: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r>
                        <a:rPr lang="ru-RU" sz="2000" dirty="0" smtClean="0">
                          <a:solidFill>
                            <a:schemeClr val="tx1"/>
                          </a:solidFill>
                        </a:rPr>
                        <a:t>  Шаблон правил 2</a:t>
                      </a: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endParaRPr lang="ru-RU" sz="2000" dirty="0" smtClean="0">
                        <a:solidFill>
                          <a:schemeClr val="tx1"/>
                        </a:solidFill>
                      </a:endParaRPr>
                    </a:p>
                    <a:p>
                      <a:r>
                        <a:rPr lang="ru-RU" sz="2000" dirty="0" smtClean="0">
                          <a:solidFill>
                            <a:schemeClr val="tx1"/>
                          </a:solidFill>
                        </a:rPr>
                        <a:t>  Шаблон правил 3</a:t>
                      </a:r>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2540622153"/>
                  </a:ext>
                </a:extLst>
              </a:tr>
            </a:tbl>
          </a:graphicData>
        </a:graphic>
      </p:graphicFrame>
      <p:sp>
        <p:nvSpPr>
          <p:cNvPr id="7" name="Стрелка влево 6"/>
          <p:cNvSpPr/>
          <p:nvPr/>
        </p:nvSpPr>
        <p:spPr>
          <a:xfrm>
            <a:off x="555171" y="681747"/>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pic>
        <p:nvPicPr>
          <p:cNvPr id="9" name="Рисунок 8"/>
          <p:cNvPicPr>
            <a:picLocks noChangeAspect="1"/>
          </p:cNvPicPr>
          <p:nvPr/>
        </p:nvPicPr>
        <p:blipFill>
          <a:blip r:embed="rId2"/>
          <a:stretch>
            <a:fillRect/>
          </a:stretch>
        </p:blipFill>
        <p:spPr>
          <a:xfrm>
            <a:off x="6188529" y="11231842"/>
            <a:ext cx="445047" cy="426757"/>
          </a:xfrm>
          <a:prstGeom prst="rect">
            <a:avLst/>
          </a:prstGeom>
        </p:spPr>
      </p:pic>
      <p:sp>
        <p:nvSpPr>
          <p:cNvPr id="10" name="Прямоугольная выноска 9"/>
          <p:cNvSpPr/>
          <p:nvPr/>
        </p:nvSpPr>
        <p:spPr>
          <a:xfrm>
            <a:off x="1043473" y="1725182"/>
            <a:ext cx="4834812" cy="1197979"/>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685800"/>
            <a:r>
              <a:rPr lang="ru-RU" sz="2000" b="1">
                <a:solidFill>
                  <a:prstClr val="black"/>
                </a:solidFill>
              </a:rPr>
              <a:t>1. Правила для участников своего предприятия</a:t>
            </a:r>
            <a:endParaRPr lang="ru-RU" sz="2000" b="1" dirty="0">
              <a:solidFill>
                <a:prstClr val="black"/>
              </a:solidFill>
            </a:endParaRPr>
          </a:p>
        </p:txBody>
      </p:sp>
      <p:pic>
        <p:nvPicPr>
          <p:cNvPr id="11" name="Рисунок 10"/>
          <p:cNvPicPr>
            <a:picLocks noChangeAspect="1"/>
          </p:cNvPicPr>
          <p:nvPr/>
        </p:nvPicPr>
        <p:blipFill>
          <a:blip r:embed="rId3"/>
          <a:stretch>
            <a:fillRect/>
          </a:stretch>
        </p:blipFill>
        <p:spPr>
          <a:xfrm>
            <a:off x="974650" y="7874037"/>
            <a:ext cx="4972458" cy="1768864"/>
          </a:xfrm>
          <a:prstGeom prst="rect">
            <a:avLst/>
          </a:prstGeom>
        </p:spPr>
      </p:pic>
      <p:pic>
        <p:nvPicPr>
          <p:cNvPr id="12" name="Рисунок 11"/>
          <p:cNvPicPr>
            <a:picLocks noChangeAspect="1"/>
          </p:cNvPicPr>
          <p:nvPr/>
        </p:nvPicPr>
        <p:blipFill>
          <a:blip r:embed="rId3"/>
          <a:stretch>
            <a:fillRect/>
          </a:stretch>
        </p:blipFill>
        <p:spPr>
          <a:xfrm>
            <a:off x="942975" y="4596045"/>
            <a:ext cx="4865915" cy="1265874"/>
          </a:xfrm>
          <a:prstGeom prst="rect">
            <a:avLst/>
          </a:prstGeom>
        </p:spPr>
      </p:pic>
      <p:sp>
        <p:nvSpPr>
          <p:cNvPr id="16" name="5-конечная звезда 15"/>
          <p:cNvSpPr/>
          <p:nvPr/>
        </p:nvSpPr>
        <p:spPr>
          <a:xfrm>
            <a:off x="1121161" y="3743634"/>
            <a:ext cx="657806" cy="522514"/>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7" name="Рисунок 16"/>
          <p:cNvPicPr>
            <a:picLocks noChangeAspect="1"/>
          </p:cNvPicPr>
          <p:nvPr/>
        </p:nvPicPr>
        <p:blipFill>
          <a:blip r:embed="rId4"/>
          <a:stretch>
            <a:fillRect/>
          </a:stretch>
        </p:blipFill>
        <p:spPr>
          <a:xfrm>
            <a:off x="942975" y="6542118"/>
            <a:ext cx="725487" cy="579170"/>
          </a:xfrm>
          <a:prstGeom prst="rect">
            <a:avLst/>
          </a:prstGeom>
        </p:spPr>
      </p:pic>
      <p:pic>
        <p:nvPicPr>
          <p:cNvPr id="18" name="Рисунок 17"/>
          <p:cNvPicPr>
            <a:picLocks noChangeAspect="1"/>
          </p:cNvPicPr>
          <p:nvPr/>
        </p:nvPicPr>
        <p:blipFill>
          <a:blip r:embed="rId5"/>
          <a:stretch>
            <a:fillRect/>
          </a:stretch>
        </p:blipFill>
        <p:spPr>
          <a:xfrm>
            <a:off x="1121161" y="10122485"/>
            <a:ext cx="725487" cy="585267"/>
          </a:xfrm>
          <a:prstGeom prst="rect">
            <a:avLst/>
          </a:prstGeom>
        </p:spPr>
      </p:pic>
      <p:sp>
        <p:nvSpPr>
          <p:cNvPr id="19" name="Прямоугольник 18"/>
          <p:cNvSpPr/>
          <p:nvPr/>
        </p:nvSpPr>
        <p:spPr>
          <a:xfrm>
            <a:off x="1483906" y="4824136"/>
            <a:ext cx="3429000" cy="707886"/>
          </a:xfrm>
          <a:prstGeom prst="rect">
            <a:avLst/>
          </a:prstGeom>
        </p:spPr>
        <p:txBody>
          <a:bodyPr>
            <a:spAutoFit/>
          </a:bodyPr>
          <a:lstStyle/>
          <a:p>
            <a:r>
              <a:rPr lang="ru-RU" sz="2000" b="1" dirty="0"/>
              <a:t>2. Правила для участников смежных предприятий</a:t>
            </a:r>
          </a:p>
        </p:txBody>
      </p:sp>
      <p:sp>
        <p:nvSpPr>
          <p:cNvPr id="20" name="Прямоугольник 19"/>
          <p:cNvSpPr/>
          <p:nvPr/>
        </p:nvSpPr>
        <p:spPr>
          <a:xfrm>
            <a:off x="1483905" y="8096750"/>
            <a:ext cx="3429001" cy="1323439"/>
          </a:xfrm>
          <a:prstGeom prst="rect">
            <a:avLst/>
          </a:prstGeom>
        </p:spPr>
        <p:txBody>
          <a:bodyPr wrap="square">
            <a:spAutoFit/>
          </a:bodyPr>
          <a:lstStyle/>
          <a:p>
            <a:r>
              <a:rPr lang="ru-RU" sz="2000" b="1" dirty="0"/>
              <a:t>3. Правила для клиентов, потребителей, продукции, пользователей услуг предприятия</a:t>
            </a:r>
          </a:p>
        </p:txBody>
      </p:sp>
    </p:spTree>
    <p:extLst>
      <p:ext uri="{BB962C8B-B14F-4D97-AF65-F5344CB8AC3E}">
        <p14:creationId xmlns:p14="http://schemas.microsoft.com/office/powerpoint/2010/main" val="3550662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93914" y="146957"/>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2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ПРОБЛЕМА-ПРЕДЛОЖЕНИЕ</a:t>
            </a:r>
            <a:endParaRPr kumimoji="0" lang="ru-RU"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aphicFrame>
        <p:nvGraphicFramePr>
          <p:cNvPr id="4" name="Таблица 3"/>
          <p:cNvGraphicFramePr>
            <a:graphicFrameLocks noGrp="1"/>
          </p:cNvGraphicFramePr>
          <p:nvPr>
            <p:extLst/>
          </p:nvPr>
        </p:nvGraphicFramePr>
        <p:xfrm>
          <a:off x="527819" y="736210"/>
          <a:ext cx="5829300" cy="595996"/>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4096374418"/>
                    </a:ext>
                  </a:extLst>
                </a:gridCol>
                <a:gridCol w="1616530">
                  <a:extLst>
                    <a:ext uri="{9D8B030D-6E8A-4147-A177-3AD203B41FA5}">
                      <a16:colId xmlns:a16="http://schemas.microsoft.com/office/drawing/2014/main" val="3004465261"/>
                    </a:ext>
                  </a:extLst>
                </a:gridCol>
                <a:gridCol w="2269670">
                  <a:extLst>
                    <a:ext uri="{9D8B030D-6E8A-4147-A177-3AD203B41FA5}">
                      <a16:colId xmlns:a16="http://schemas.microsoft.com/office/drawing/2014/main" val="495450802"/>
                    </a:ext>
                  </a:extLst>
                </a:gridCol>
              </a:tblGrid>
              <a:tr h="595996">
                <a:tc>
                  <a:txBody>
                    <a:bodyPr/>
                    <a:lstStyle/>
                    <a:p>
                      <a:pPr algn="ctr"/>
                      <a:r>
                        <a:rPr lang="ru-RU" sz="2400" dirty="0" smtClean="0">
                          <a:solidFill>
                            <a:schemeClr val="tx1"/>
                          </a:solidFill>
                        </a:rPr>
                        <a:t>ЧАТ</a:t>
                      </a:r>
                      <a:endParaRPr lang="ru-RU" sz="2400" dirty="0">
                        <a:solidFill>
                          <a:schemeClr val="tx1"/>
                        </a:solidFill>
                      </a:endParaRPr>
                    </a:p>
                  </a:txBody>
                  <a:tcPr anchor="ctr">
                    <a:solidFill>
                      <a:srgbClr val="FFC000"/>
                    </a:solidFill>
                  </a:tcPr>
                </a:tc>
                <a:tc>
                  <a:txBody>
                    <a:bodyPr/>
                    <a:lstStyle/>
                    <a:p>
                      <a:pPr algn="ctr"/>
                      <a:r>
                        <a:rPr lang="ru-RU" sz="2400" dirty="0" smtClean="0">
                          <a:solidFill>
                            <a:schemeClr val="tx1"/>
                          </a:solidFill>
                        </a:rPr>
                        <a:t>КОЛЛЕГИ</a:t>
                      </a:r>
                      <a:endParaRPr lang="ru-RU" sz="2400" dirty="0">
                        <a:solidFill>
                          <a:schemeClr val="tx1"/>
                        </a:solidFill>
                      </a:endParaRPr>
                    </a:p>
                  </a:txBody>
                  <a:tcPr anchor="ctr"/>
                </a:tc>
                <a:tc>
                  <a:txBody>
                    <a:bodyPr/>
                    <a:lstStyle/>
                    <a:p>
                      <a:pPr algn="ctr"/>
                      <a:r>
                        <a:rPr lang="ru-RU" sz="2400" dirty="0" smtClean="0">
                          <a:solidFill>
                            <a:schemeClr val="tx1"/>
                          </a:solidFill>
                        </a:rPr>
                        <a:t>КЛИЕНТЫ</a:t>
                      </a:r>
                      <a:endParaRPr lang="ru-RU" sz="2400" dirty="0">
                        <a:solidFill>
                          <a:schemeClr val="tx1"/>
                        </a:solidFill>
                      </a:endParaRPr>
                    </a:p>
                  </a:txBody>
                  <a:tcPr anchor="ct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nvPr>
        </p:nvGraphicFramePr>
        <p:xfrm>
          <a:off x="522510" y="1454963"/>
          <a:ext cx="3886201" cy="457200"/>
        </p:xfrm>
        <a:graphic>
          <a:graphicData uri="http://schemas.openxmlformats.org/drawingml/2006/table">
            <a:tbl>
              <a:tblPr firstRow="1" bandRow="1">
                <a:tableStyleId>{5C22544A-7EE6-4342-B048-85BDC9FD1C3A}</a:tableStyleId>
              </a:tblPr>
              <a:tblGrid>
                <a:gridCol w="3886201">
                  <a:extLst>
                    <a:ext uri="{9D8B030D-6E8A-4147-A177-3AD203B41FA5}">
                      <a16:colId xmlns:a16="http://schemas.microsoft.com/office/drawing/2014/main" val="781837115"/>
                    </a:ext>
                  </a:extLst>
                </a:gridCol>
              </a:tblGrid>
              <a:tr h="400049">
                <a:tc>
                  <a:txBody>
                    <a:bodyPr/>
                    <a:lstStyle/>
                    <a:p>
                      <a:pPr algn="ctr"/>
                      <a:r>
                        <a:rPr lang="ru-RU" sz="2400" dirty="0" smtClean="0">
                          <a:solidFill>
                            <a:schemeClr val="tx1"/>
                          </a:solidFill>
                        </a:rPr>
                        <a:t>01 июля 2025 14</a:t>
                      </a:r>
                      <a:r>
                        <a:rPr lang="ru-RU" sz="2400" baseline="0" dirty="0" smtClean="0">
                          <a:solidFill>
                            <a:schemeClr val="tx1"/>
                          </a:solidFill>
                        </a:rPr>
                        <a:t> ч 15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70096611"/>
              </p:ext>
            </p:extLst>
          </p:nvPr>
        </p:nvGraphicFramePr>
        <p:xfrm>
          <a:off x="473063" y="2165635"/>
          <a:ext cx="5829300" cy="9479603"/>
        </p:xfrm>
        <a:graphic>
          <a:graphicData uri="http://schemas.openxmlformats.org/drawingml/2006/table">
            <a:tbl>
              <a:tblPr firstRow="1" bandRow="1">
                <a:tableStyleId>{5C22544A-7EE6-4342-B048-85BDC9FD1C3A}</a:tableStyleId>
              </a:tblPr>
              <a:tblGrid>
                <a:gridCol w="5829300">
                  <a:extLst>
                    <a:ext uri="{9D8B030D-6E8A-4147-A177-3AD203B41FA5}">
                      <a16:colId xmlns:a16="http://schemas.microsoft.com/office/drawing/2014/main" val="47972225"/>
                    </a:ext>
                  </a:extLst>
                </a:gridCol>
              </a:tblGrid>
              <a:tr h="9479603">
                <a:tc>
                  <a:txBody>
                    <a:bodyPr/>
                    <a:lstStyle/>
                    <a:p>
                      <a:pPr algn="ctr"/>
                      <a:r>
                        <a:rPr lang="ru-RU" sz="2400" u="sng" dirty="0" smtClean="0">
                          <a:solidFill>
                            <a:schemeClr val="tx1"/>
                          </a:solidFill>
                        </a:rPr>
                        <a:t>Идеи</a:t>
                      </a:r>
                      <a:r>
                        <a:rPr lang="ru-RU" sz="2400" u="sng" baseline="0" dirty="0" smtClean="0">
                          <a:solidFill>
                            <a:schemeClr val="tx1"/>
                          </a:solidFill>
                        </a:rPr>
                        <a:t> п</a:t>
                      </a:r>
                      <a:r>
                        <a:rPr lang="ru-RU" sz="2400" u="sng" dirty="0" smtClean="0">
                          <a:solidFill>
                            <a:schemeClr val="tx1"/>
                          </a:solidFill>
                        </a:rPr>
                        <a:t>редложенные </a:t>
                      </a:r>
                      <a:r>
                        <a:rPr lang="ru-RU" sz="2400" dirty="0" smtClean="0">
                          <a:solidFill>
                            <a:schemeClr val="tx1"/>
                          </a:solidFill>
                        </a:rPr>
                        <a:t>нам</a:t>
                      </a:r>
                      <a:endParaRPr lang="ru-RU" sz="2400" dirty="0">
                        <a:solidFill>
                          <a:schemeClr val="tx1"/>
                        </a:solidFill>
                      </a:endParaRPr>
                    </a:p>
                  </a:txBody>
                  <a:tcPr anchor="ctr"/>
                </a:tc>
                <a:extLst>
                  <a:ext uri="{0D108BD9-81ED-4DB2-BD59-A6C34878D82A}">
                    <a16:rowId xmlns:a16="http://schemas.microsoft.com/office/drawing/2014/main" val="3699655430"/>
                  </a:ext>
                </a:extLst>
              </a:tr>
            </a:tbl>
          </a:graphicData>
        </a:graphic>
      </p:graphicFrame>
      <p:graphicFrame>
        <p:nvGraphicFramePr>
          <p:cNvPr id="3" name="Таблица 2"/>
          <p:cNvGraphicFramePr>
            <a:graphicFrameLocks noGrp="1"/>
          </p:cNvGraphicFramePr>
          <p:nvPr>
            <p:extLst/>
          </p:nvPr>
        </p:nvGraphicFramePr>
        <p:xfrm>
          <a:off x="4522839" y="1462102"/>
          <a:ext cx="1828973" cy="442922"/>
        </p:xfrm>
        <a:graphic>
          <a:graphicData uri="http://schemas.openxmlformats.org/drawingml/2006/table">
            <a:tbl>
              <a:tblPr firstRow="1" bandRow="1">
                <a:tableStyleId>{5C22544A-7EE6-4342-B048-85BDC9FD1C3A}</a:tableStyleId>
              </a:tblPr>
              <a:tblGrid>
                <a:gridCol w="1828973">
                  <a:extLst>
                    <a:ext uri="{9D8B030D-6E8A-4147-A177-3AD203B41FA5}">
                      <a16:colId xmlns:a16="http://schemas.microsoft.com/office/drawing/2014/main" val="3566676932"/>
                    </a:ext>
                  </a:extLst>
                </a:gridCol>
              </a:tblGrid>
              <a:tr h="442922">
                <a:tc>
                  <a:txBody>
                    <a:bodyPr/>
                    <a:lstStyle/>
                    <a:p>
                      <a:r>
                        <a:rPr lang="ru-RU" dirty="0" smtClean="0"/>
                        <a:t>поиск</a:t>
                      </a:r>
                      <a:endParaRPr lang="ru-RU" dirty="0"/>
                    </a:p>
                  </a:txBody>
                  <a:tcPr/>
                </a:tc>
                <a:extLst>
                  <a:ext uri="{0D108BD9-81ED-4DB2-BD59-A6C34878D82A}">
                    <a16:rowId xmlns:a16="http://schemas.microsoft.com/office/drawing/2014/main" val="1940349864"/>
                  </a:ext>
                </a:extLst>
              </a:tr>
            </a:tbl>
          </a:graphicData>
        </a:graphic>
      </p:graphicFrame>
      <p:sp>
        <p:nvSpPr>
          <p:cNvPr id="12" name="Стрелка влево 11"/>
          <p:cNvSpPr/>
          <p:nvPr/>
        </p:nvSpPr>
        <p:spPr>
          <a:xfrm>
            <a:off x="436089" y="243033"/>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6" name="Прямоугольник 15"/>
          <p:cNvSpPr/>
          <p:nvPr/>
        </p:nvSpPr>
        <p:spPr>
          <a:xfrm>
            <a:off x="664688" y="3862554"/>
            <a:ext cx="5388429" cy="121236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400" b="1" dirty="0">
                <a:solidFill>
                  <a:prstClr val="black"/>
                </a:solidFill>
              </a:rPr>
              <a:t>30.07.2025 12.47 </a:t>
            </a:r>
            <a:r>
              <a:rPr lang="ru-RU" sz="2400" b="1" dirty="0" smtClean="0">
                <a:solidFill>
                  <a:prstClr val="black"/>
                </a:solidFill>
              </a:rPr>
              <a:t>№ 23  </a:t>
            </a:r>
            <a:r>
              <a:rPr lang="ru-RU" sz="2400" b="1" i="1" dirty="0" smtClean="0">
                <a:solidFill>
                  <a:srgbClr val="C00000"/>
                </a:solidFill>
              </a:rPr>
              <a:t>согласование</a:t>
            </a:r>
          </a:p>
          <a:p>
            <a:pPr lvl="0" algn="ctr" defTabSz="685800"/>
            <a:r>
              <a:rPr lang="ru-RU" sz="2400" b="1" dirty="0">
                <a:solidFill>
                  <a:prstClr val="black"/>
                </a:solidFill>
              </a:rPr>
              <a:t>з</a:t>
            </a:r>
            <a:r>
              <a:rPr lang="ru-RU" sz="2400" b="1" dirty="0" smtClean="0">
                <a:solidFill>
                  <a:prstClr val="black"/>
                </a:solidFill>
              </a:rPr>
              <a:t>ам. </a:t>
            </a:r>
            <a:r>
              <a:rPr lang="ru-RU" sz="2400" b="1" dirty="0" err="1" smtClean="0">
                <a:solidFill>
                  <a:prstClr val="black"/>
                </a:solidFill>
              </a:rPr>
              <a:t>нач</a:t>
            </a:r>
            <a:r>
              <a:rPr lang="ru-RU" sz="2400" b="1" dirty="0" smtClean="0">
                <a:solidFill>
                  <a:prstClr val="black"/>
                </a:solidFill>
              </a:rPr>
              <a:t> отдела </a:t>
            </a:r>
            <a:r>
              <a:rPr lang="ru-RU" sz="2400" b="1" dirty="0">
                <a:solidFill>
                  <a:prstClr val="black"/>
                </a:solidFill>
              </a:rPr>
              <a:t>Носова И.А</a:t>
            </a:r>
            <a:r>
              <a:rPr lang="ru-RU" sz="2400" b="1" dirty="0" smtClean="0">
                <a:solidFill>
                  <a:prstClr val="black"/>
                </a:solidFill>
              </a:rPr>
              <a:t>.</a:t>
            </a:r>
            <a:endParaRPr lang="ru-RU" sz="2400" b="1" dirty="0">
              <a:solidFill>
                <a:prstClr val="black"/>
              </a:solidFill>
            </a:endParaRPr>
          </a:p>
        </p:txBody>
      </p:sp>
      <p:sp>
        <p:nvSpPr>
          <p:cNvPr id="28" name="Прямоугольник 27"/>
          <p:cNvSpPr/>
          <p:nvPr/>
        </p:nvSpPr>
        <p:spPr>
          <a:xfrm>
            <a:off x="664689" y="5214788"/>
            <a:ext cx="5388429" cy="155705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400" b="1" dirty="0">
                <a:solidFill>
                  <a:prstClr val="black"/>
                </a:solidFill>
              </a:rPr>
              <a:t> №24 </a:t>
            </a:r>
            <a:r>
              <a:rPr lang="ru-RU" sz="2400" b="1" dirty="0" smtClean="0">
                <a:solidFill>
                  <a:prstClr val="black"/>
                </a:solidFill>
              </a:rPr>
              <a:t>от 23.07.202514:32</a:t>
            </a:r>
            <a:r>
              <a:rPr lang="ru-RU" sz="2400" b="1" i="1" dirty="0" smtClean="0">
                <a:solidFill>
                  <a:srgbClr val="C00000"/>
                </a:solidFill>
              </a:rPr>
              <a:t>рассмотрение</a:t>
            </a:r>
          </a:p>
          <a:p>
            <a:pPr lvl="0" algn="ctr" defTabSz="685800"/>
            <a:r>
              <a:rPr lang="ru-RU" sz="2400" b="1" dirty="0" smtClean="0">
                <a:solidFill>
                  <a:prstClr val="black"/>
                </a:solidFill>
              </a:rPr>
              <a:t> </a:t>
            </a:r>
            <a:r>
              <a:rPr lang="ru-RU" sz="2400" b="1" dirty="0" err="1" smtClean="0">
                <a:solidFill>
                  <a:prstClr val="black"/>
                </a:solidFill>
              </a:rPr>
              <a:t>нач</a:t>
            </a:r>
            <a:r>
              <a:rPr lang="ru-RU" sz="2400" b="1" dirty="0" smtClean="0">
                <a:solidFill>
                  <a:prstClr val="black"/>
                </a:solidFill>
              </a:rPr>
              <a:t> отдела </a:t>
            </a:r>
            <a:r>
              <a:rPr lang="ru-RU" sz="2400" b="1" dirty="0">
                <a:solidFill>
                  <a:prstClr val="black"/>
                </a:solidFill>
              </a:rPr>
              <a:t>Сергеев Н.В.</a:t>
            </a:r>
          </a:p>
        </p:txBody>
      </p:sp>
      <p:sp>
        <p:nvSpPr>
          <p:cNvPr id="29" name="Прямоугольник 28"/>
          <p:cNvSpPr/>
          <p:nvPr/>
        </p:nvSpPr>
        <p:spPr>
          <a:xfrm>
            <a:off x="682943" y="7213651"/>
            <a:ext cx="5409541" cy="127190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400" b="1" dirty="0" smtClean="0">
                <a:solidFill>
                  <a:prstClr val="black"/>
                </a:solidFill>
              </a:rPr>
              <a:t>25.07.2025 14:32 №25 </a:t>
            </a:r>
            <a:r>
              <a:rPr lang="ru-RU" sz="2400" b="1" i="1" dirty="0" smtClean="0">
                <a:solidFill>
                  <a:srgbClr val="C00000"/>
                </a:solidFill>
              </a:rPr>
              <a:t>исполнение</a:t>
            </a:r>
          </a:p>
          <a:p>
            <a:pPr lvl="0" algn="ctr" defTabSz="685800"/>
            <a:r>
              <a:rPr lang="ru-RU" sz="2400" b="1" dirty="0" smtClean="0">
                <a:solidFill>
                  <a:prstClr val="black"/>
                </a:solidFill>
              </a:rPr>
              <a:t>юрист ОМТС Иванов С.В</a:t>
            </a:r>
            <a:r>
              <a:rPr lang="ru-RU" sz="2400" b="1" dirty="0">
                <a:solidFill>
                  <a:prstClr val="black"/>
                </a:solidFill>
              </a:rPr>
              <a:t>.</a:t>
            </a:r>
          </a:p>
        </p:txBody>
      </p:sp>
      <p:sp>
        <p:nvSpPr>
          <p:cNvPr id="32" name="Скругленный прямоугольник 31"/>
          <p:cNvSpPr/>
          <p:nvPr/>
        </p:nvSpPr>
        <p:spPr>
          <a:xfrm>
            <a:off x="554414" y="10428948"/>
            <a:ext cx="2943925" cy="914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Создать идею</a:t>
            </a:r>
            <a:endParaRPr lang="ru-RU" dirty="0">
              <a:solidFill>
                <a:schemeClr val="tx1"/>
              </a:solidFill>
            </a:endParaRPr>
          </a:p>
        </p:txBody>
      </p:sp>
      <p:sp>
        <p:nvSpPr>
          <p:cNvPr id="33" name="Плюс 32"/>
          <p:cNvSpPr/>
          <p:nvPr/>
        </p:nvSpPr>
        <p:spPr>
          <a:xfrm>
            <a:off x="2867355" y="10568815"/>
            <a:ext cx="591213" cy="5715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Скругленный прямоугольник 12"/>
          <p:cNvSpPr/>
          <p:nvPr/>
        </p:nvSpPr>
        <p:spPr>
          <a:xfrm>
            <a:off x="3773830" y="10428948"/>
            <a:ext cx="2190125" cy="914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Поделиться с коллегами</a:t>
            </a:r>
            <a:endParaRPr lang="ru-RU" dirty="0">
              <a:solidFill>
                <a:schemeClr val="tx1"/>
              </a:solidFill>
            </a:endParaRPr>
          </a:p>
        </p:txBody>
      </p:sp>
      <p:sp>
        <p:nvSpPr>
          <p:cNvPr id="14" name="Управляющая кнопка: сведения 13">
            <a:hlinkClick r:id="" action="ppaction://noaction" highlightClick="1"/>
          </p:cNvPr>
          <p:cNvSpPr/>
          <p:nvPr/>
        </p:nvSpPr>
        <p:spPr>
          <a:xfrm>
            <a:off x="5961563" y="11283329"/>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Прямоугольник 14"/>
          <p:cNvSpPr/>
          <p:nvPr/>
        </p:nvSpPr>
        <p:spPr>
          <a:xfrm>
            <a:off x="604154" y="8900887"/>
            <a:ext cx="5409541" cy="127190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400" b="1" dirty="0" smtClean="0">
                <a:solidFill>
                  <a:prstClr val="black"/>
                </a:solidFill>
              </a:rPr>
              <a:t>25.07.2025 14:32 №26    </a:t>
            </a:r>
            <a:r>
              <a:rPr lang="ru-RU" sz="2400" b="1" i="1" dirty="0" smtClean="0">
                <a:solidFill>
                  <a:prstClr val="black"/>
                </a:solidFill>
              </a:rPr>
              <a:t>отказ</a:t>
            </a:r>
          </a:p>
          <a:p>
            <a:pPr lvl="0" algn="ctr" defTabSz="685800"/>
            <a:r>
              <a:rPr lang="ru-RU" sz="2400" b="1" dirty="0" smtClean="0">
                <a:solidFill>
                  <a:prstClr val="black"/>
                </a:solidFill>
              </a:rPr>
              <a:t>Программист </a:t>
            </a:r>
            <a:r>
              <a:rPr lang="en-US" sz="2400" b="1" dirty="0" smtClean="0">
                <a:solidFill>
                  <a:prstClr val="black"/>
                </a:solidFill>
              </a:rPr>
              <a:t>IT </a:t>
            </a:r>
            <a:r>
              <a:rPr lang="ru-RU" sz="2400" b="1" dirty="0" smtClean="0">
                <a:solidFill>
                  <a:prstClr val="black"/>
                </a:solidFill>
              </a:rPr>
              <a:t>отдел Климов С.В</a:t>
            </a:r>
            <a:r>
              <a:rPr lang="ru-RU" sz="2400" b="1" dirty="0">
                <a:solidFill>
                  <a:prstClr val="black"/>
                </a:solidFill>
              </a:rPr>
              <a:t>.</a:t>
            </a:r>
          </a:p>
        </p:txBody>
      </p:sp>
      <p:sp>
        <p:nvSpPr>
          <p:cNvPr id="17" name="Прямоугольник 16"/>
          <p:cNvSpPr/>
          <p:nvPr/>
        </p:nvSpPr>
        <p:spPr>
          <a:xfrm>
            <a:off x="604154" y="2333553"/>
            <a:ext cx="5388429" cy="12123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r" defTabSz="685800"/>
            <a:r>
              <a:rPr lang="ru-RU" sz="2400" b="1" dirty="0">
                <a:solidFill>
                  <a:prstClr val="black"/>
                </a:solidFill>
              </a:rPr>
              <a:t>№ </a:t>
            </a:r>
            <a:r>
              <a:rPr lang="ru-RU" sz="2400" b="1" dirty="0" smtClean="0">
                <a:solidFill>
                  <a:prstClr val="black"/>
                </a:solidFill>
              </a:rPr>
              <a:t>22          </a:t>
            </a:r>
            <a:r>
              <a:rPr lang="ru-RU" sz="2400" b="1" i="1" dirty="0" smtClean="0">
                <a:solidFill>
                  <a:srgbClr val="FFC000"/>
                </a:solidFill>
              </a:rPr>
              <a:t>обсуждение</a:t>
            </a:r>
            <a:endParaRPr lang="ru-RU" sz="2400" b="1" i="1" dirty="0">
              <a:solidFill>
                <a:srgbClr val="FFC000"/>
              </a:solidFill>
            </a:endParaRPr>
          </a:p>
          <a:p>
            <a:pPr lvl="0" algn="ctr" defTabSz="685800"/>
            <a:r>
              <a:rPr lang="ru-RU" sz="2400" b="1" dirty="0">
                <a:solidFill>
                  <a:prstClr val="black"/>
                </a:solidFill>
              </a:rPr>
              <a:t>о</a:t>
            </a:r>
            <a:r>
              <a:rPr lang="ru-RU" sz="2400" b="1" dirty="0" smtClean="0">
                <a:solidFill>
                  <a:prstClr val="black"/>
                </a:solidFill>
              </a:rPr>
              <a:t>т 30.07.2025 </a:t>
            </a:r>
            <a:r>
              <a:rPr lang="ru-RU" sz="2400" b="1" dirty="0">
                <a:solidFill>
                  <a:prstClr val="black"/>
                </a:solidFill>
              </a:rPr>
              <a:t>12.47 </a:t>
            </a:r>
            <a:r>
              <a:rPr lang="ru-RU" sz="2400" b="1" dirty="0" smtClean="0">
                <a:solidFill>
                  <a:prstClr val="black"/>
                </a:solidFill>
              </a:rPr>
              <a:t>Специалист ОК Галкина М.А.</a:t>
            </a:r>
            <a:endParaRPr lang="ru-RU" sz="2400" b="1" dirty="0">
              <a:solidFill>
                <a:prstClr val="black"/>
              </a:solidFill>
            </a:endParaRPr>
          </a:p>
        </p:txBody>
      </p:sp>
      <p:sp>
        <p:nvSpPr>
          <p:cNvPr id="7" name="TextBox 6"/>
          <p:cNvSpPr txBox="1"/>
          <p:nvPr/>
        </p:nvSpPr>
        <p:spPr>
          <a:xfrm>
            <a:off x="1387929" y="1934803"/>
            <a:ext cx="4503833" cy="461665"/>
          </a:xfrm>
          <a:prstGeom prst="rect">
            <a:avLst/>
          </a:prstGeom>
          <a:noFill/>
        </p:spPr>
        <p:txBody>
          <a:bodyPr wrap="square" rtlCol="0">
            <a:spAutoFit/>
          </a:bodyPr>
          <a:lstStyle/>
          <a:p>
            <a:pPr algn="ctr"/>
            <a:r>
              <a:rPr lang="ru-RU" sz="2400" b="1" u="sng" dirty="0" smtClean="0"/>
              <a:t>наши идеи </a:t>
            </a:r>
            <a:endParaRPr lang="ru-RU" sz="2400" b="1" u="sng" dirty="0"/>
          </a:p>
        </p:txBody>
      </p:sp>
      <p:sp>
        <p:nvSpPr>
          <p:cNvPr id="8" name="TextBox 7"/>
          <p:cNvSpPr txBox="1"/>
          <p:nvPr/>
        </p:nvSpPr>
        <p:spPr>
          <a:xfrm>
            <a:off x="2383971" y="8485559"/>
            <a:ext cx="2024739" cy="461665"/>
          </a:xfrm>
          <a:prstGeom prst="rect">
            <a:avLst/>
          </a:prstGeom>
          <a:noFill/>
        </p:spPr>
        <p:txBody>
          <a:bodyPr wrap="square" rtlCol="0">
            <a:spAutoFit/>
          </a:bodyPr>
          <a:lstStyle/>
          <a:p>
            <a:r>
              <a:rPr lang="ru-RU" sz="2400" b="1" u="sng" dirty="0" smtClean="0"/>
              <a:t>анонимно</a:t>
            </a:r>
            <a:endParaRPr lang="ru-RU" sz="2400" b="1" u="sng" dirty="0"/>
          </a:p>
        </p:txBody>
      </p:sp>
    </p:spTree>
    <p:extLst>
      <p:ext uri="{BB962C8B-B14F-4D97-AF65-F5344CB8AC3E}">
        <p14:creationId xmlns:p14="http://schemas.microsoft.com/office/powerpoint/2010/main" val="1320110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93914" y="146957"/>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sz="3200" b="1" dirty="0" smtClean="0">
                <a:solidFill>
                  <a:schemeClr val="tx1"/>
                </a:solidFill>
              </a:rPr>
              <a:t>ПРОБЛЕМА-ПРЕДЛОЖЕНИЕ</a:t>
            </a:r>
            <a:endParaRPr lang="ru-RU" sz="3200" b="1" dirty="0">
              <a:solidFill>
                <a:schemeClr val="tx1"/>
              </a:solidFill>
            </a:endParaRPr>
          </a:p>
        </p:txBody>
      </p:sp>
      <p:graphicFrame>
        <p:nvGraphicFramePr>
          <p:cNvPr id="4" name="Таблица 3"/>
          <p:cNvGraphicFramePr>
            <a:graphicFrameLocks noGrp="1"/>
          </p:cNvGraphicFramePr>
          <p:nvPr>
            <p:extLst>
              <p:ext uri="{D42A27DB-BD31-4B8C-83A1-F6EECF244321}">
                <p14:modId xmlns:p14="http://schemas.microsoft.com/office/powerpoint/2010/main" val="3364879179"/>
              </p:ext>
            </p:extLst>
          </p:nvPr>
        </p:nvGraphicFramePr>
        <p:xfrm>
          <a:off x="527819" y="736210"/>
          <a:ext cx="5829300" cy="595996"/>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4096374418"/>
                    </a:ext>
                  </a:extLst>
                </a:gridCol>
                <a:gridCol w="1616530">
                  <a:extLst>
                    <a:ext uri="{9D8B030D-6E8A-4147-A177-3AD203B41FA5}">
                      <a16:colId xmlns:a16="http://schemas.microsoft.com/office/drawing/2014/main" val="3004465261"/>
                    </a:ext>
                  </a:extLst>
                </a:gridCol>
                <a:gridCol w="2269670">
                  <a:extLst>
                    <a:ext uri="{9D8B030D-6E8A-4147-A177-3AD203B41FA5}">
                      <a16:colId xmlns:a16="http://schemas.microsoft.com/office/drawing/2014/main" val="495450802"/>
                    </a:ext>
                  </a:extLst>
                </a:gridCol>
              </a:tblGrid>
              <a:tr h="595996">
                <a:tc>
                  <a:txBody>
                    <a:bodyPr/>
                    <a:lstStyle/>
                    <a:p>
                      <a:pPr algn="ctr"/>
                      <a:r>
                        <a:rPr lang="ru-RU" sz="2400" dirty="0" smtClean="0">
                          <a:solidFill>
                            <a:schemeClr val="tx1"/>
                          </a:solidFill>
                        </a:rPr>
                        <a:t>ЧАТ</a:t>
                      </a:r>
                      <a:endParaRPr lang="ru-RU" sz="2400" dirty="0">
                        <a:solidFill>
                          <a:schemeClr val="tx1"/>
                        </a:solidFill>
                      </a:endParaRPr>
                    </a:p>
                  </a:txBody>
                  <a:tcPr anchor="ctr">
                    <a:solidFill>
                      <a:srgbClr val="FFC000"/>
                    </a:solidFill>
                  </a:tcPr>
                </a:tc>
                <a:tc>
                  <a:txBody>
                    <a:bodyPr/>
                    <a:lstStyle/>
                    <a:p>
                      <a:pPr algn="ctr"/>
                      <a:r>
                        <a:rPr lang="ru-RU" sz="2400" dirty="0" smtClean="0">
                          <a:solidFill>
                            <a:schemeClr val="tx1"/>
                          </a:solidFill>
                        </a:rPr>
                        <a:t>КОЛЛЕГИ</a:t>
                      </a:r>
                      <a:endParaRPr lang="ru-RU" sz="2400" dirty="0">
                        <a:solidFill>
                          <a:schemeClr val="tx1"/>
                        </a:solidFill>
                      </a:endParaRPr>
                    </a:p>
                  </a:txBody>
                  <a:tcPr anchor="ctr"/>
                </a:tc>
                <a:tc>
                  <a:txBody>
                    <a:bodyPr/>
                    <a:lstStyle/>
                    <a:p>
                      <a:pPr algn="ctr"/>
                      <a:r>
                        <a:rPr lang="ru-RU" sz="2400" dirty="0" smtClean="0">
                          <a:solidFill>
                            <a:schemeClr val="tx1"/>
                          </a:solidFill>
                        </a:rPr>
                        <a:t>КЛИЕНТЫ</a:t>
                      </a:r>
                      <a:endParaRPr lang="ru-RU" sz="2400" dirty="0">
                        <a:solidFill>
                          <a:schemeClr val="tx1"/>
                        </a:solidFill>
                      </a:endParaRPr>
                    </a:p>
                  </a:txBody>
                  <a:tcPr anchor="ct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1711641195"/>
              </p:ext>
            </p:extLst>
          </p:nvPr>
        </p:nvGraphicFramePr>
        <p:xfrm>
          <a:off x="522510" y="1454963"/>
          <a:ext cx="3886201" cy="457200"/>
        </p:xfrm>
        <a:graphic>
          <a:graphicData uri="http://schemas.openxmlformats.org/drawingml/2006/table">
            <a:tbl>
              <a:tblPr firstRow="1" bandRow="1">
                <a:tableStyleId>{5C22544A-7EE6-4342-B048-85BDC9FD1C3A}</a:tableStyleId>
              </a:tblPr>
              <a:tblGrid>
                <a:gridCol w="3886201">
                  <a:extLst>
                    <a:ext uri="{9D8B030D-6E8A-4147-A177-3AD203B41FA5}">
                      <a16:colId xmlns:a16="http://schemas.microsoft.com/office/drawing/2014/main" val="781837115"/>
                    </a:ext>
                  </a:extLst>
                </a:gridCol>
              </a:tblGrid>
              <a:tr h="400049">
                <a:tc>
                  <a:txBody>
                    <a:bodyPr/>
                    <a:lstStyle/>
                    <a:p>
                      <a:pPr algn="ctr"/>
                      <a:r>
                        <a:rPr lang="ru-RU" sz="2400" dirty="0" smtClean="0">
                          <a:solidFill>
                            <a:schemeClr val="tx1"/>
                          </a:solidFill>
                        </a:rPr>
                        <a:t>01 июля 2025 14</a:t>
                      </a:r>
                      <a:r>
                        <a:rPr lang="ru-RU" sz="2400" baseline="0" dirty="0" smtClean="0">
                          <a:solidFill>
                            <a:schemeClr val="tx1"/>
                          </a:solidFill>
                        </a:rPr>
                        <a:t> ч 15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3871749244"/>
              </p:ext>
            </p:extLst>
          </p:nvPr>
        </p:nvGraphicFramePr>
        <p:xfrm>
          <a:off x="485076" y="2070073"/>
          <a:ext cx="5829300" cy="9479603"/>
        </p:xfrm>
        <a:graphic>
          <a:graphicData uri="http://schemas.openxmlformats.org/drawingml/2006/table">
            <a:tbl>
              <a:tblPr firstRow="1" bandRow="1">
                <a:tableStyleId>{5C22544A-7EE6-4342-B048-85BDC9FD1C3A}</a:tableStyleId>
              </a:tblPr>
              <a:tblGrid>
                <a:gridCol w="5829300">
                  <a:extLst>
                    <a:ext uri="{9D8B030D-6E8A-4147-A177-3AD203B41FA5}">
                      <a16:colId xmlns:a16="http://schemas.microsoft.com/office/drawing/2014/main" val="47972225"/>
                    </a:ext>
                  </a:extLst>
                </a:gridCol>
              </a:tblGrid>
              <a:tr h="9479603">
                <a:tc>
                  <a:txBody>
                    <a:bodyPr/>
                    <a:lstStyle/>
                    <a:p>
                      <a:r>
                        <a:rPr lang="ru-RU" sz="2800" dirty="0" smtClean="0">
                          <a:solidFill>
                            <a:schemeClr val="tx1"/>
                          </a:solidFill>
                        </a:rPr>
                        <a:t>Предложение</a:t>
                      </a:r>
                      <a:r>
                        <a:rPr lang="ru-RU" sz="2800" baseline="0" dirty="0" smtClean="0">
                          <a:solidFill>
                            <a:schemeClr val="tx1"/>
                          </a:solidFill>
                        </a:rPr>
                        <a:t> №…</a:t>
                      </a:r>
                    </a:p>
                    <a:p>
                      <a:r>
                        <a:rPr lang="ru-RU" sz="2800" baseline="0" dirty="0" smtClean="0">
                          <a:solidFill>
                            <a:schemeClr val="tx1"/>
                          </a:solidFill>
                        </a:rPr>
                        <a:t>Рейтинг: </a:t>
                      </a:r>
                    </a:p>
                    <a:p>
                      <a:r>
                        <a:rPr lang="ru-RU" sz="2800" baseline="0" dirty="0" smtClean="0">
                          <a:solidFill>
                            <a:schemeClr val="tx1"/>
                          </a:solidFill>
                        </a:rPr>
                        <a:t>Статус: </a:t>
                      </a:r>
                    </a:p>
                    <a:p>
                      <a:r>
                        <a:rPr lang="ru-RU" sz="2800" baseline="0" dirty="0" smtClean="0">
                          <a:solidFill>
                            <a:schemeClr val="tx1"/>
                          </a:solidFill>
                        </a:rPr>
                        <a:t>Автор(ФИО </a:t>
                      </a:r>
                      <a:r>
                        <a:rPr lang="ru-RU" sz="2800" baseline="0" dirty="0" err="1" smtClean="0">
                          <a:solidFill>
                            <a:schemeClr val="tx1"/>
                          </a:solidFill>
                        </a:rPr>
                        <a:t>должн</a:t>
                      </a:r>
                      <a:r>
                        <a:rPr lang="ru-RU" sz="2800" baseline="0" dirty="0" smtClean="0">
                          <a:solidFill>
                            <a:schemeClr val="tx1"/>
                          </a:solidFill>
                        </a:rPr>
                        <a:t> ник)___________</a:t>
                      </a:r>
                    </a:p>
                    <a:p>
                      <a:r>
                        <a:rPr lang="ru-RU" sz="2800" baseline="0" dirty="0" smtClean="0">
                          <a:solidFill>
                            <a:schemeClr val="tx1"/>
                          </a:solidFill>
                        </a:rPr>
                        <a:t>                  (ФИО, должность)_______</a:t>
                      </a:r>
                    </a:p>
                    <a:p>
                      <a:r>
                        <a:rPr lang="ru-RU" sz="2800" baseline="0" dirty="0" smtClean="0">
                          <a:solidFill>
                            <a:schemeClr val="tx1"/>
                          </a:solidFill>
                        </a:rPr>
                        <a:t>Проблема:_______________________________________________</a:t>
                      </a:r>
                    </a:p>
                    <a:p>
                      <a:r>
                        <a:rPr lang="ru-RU" sz="2800" baseline="0" dirty="0" smtClean="0">
                          <a:solidFill>
                            <a:schemeClr val="tx1"/>
                          </a:solidFill>
                        </a:rPr>
                        <a:t>Предложение, идея:__________________________________________________</a:t>
                      </a:r>
                    </a:p>
                    <a:p>
                      <a:r>
                        <a:rPr lang="ru-RU" sz="2800" baseline="0" dirty="0" smtClean="0">
                          <a:solidFill>
                            <a:schemeClr val="tx1"/>
                          </a:solidFill>
                        </a:rPr>
                        <a:t>Как выполнить:_______________________________________________</a:t>
                      </a:r>
                    </a:p>
                    <a:p>
                      <a:r>
                        <a:rPr lang="ru-RU" sz="2800" baseline="0" dirty="0" smtClean="0">
                          <a:solidFill>
                            <a:schemeClr val="tx1"/>
                          </a:solidFill>
                        </a:rPr>
                        <a:t>Требуемые ресурсы__________________________________________________</a:t>
                      </a:r>
                    </a:p>
                    <a:p>
                      <a:pPr algn="l"/>
                      <a:r>
                        <a:rPr lang="ru-RU" sz="2800" baseline="0" dirty="0" smtClean="0">
                          <a:solidFill>
                            <a:schemeClr val="tx1"/>
                          </a:solidFill>
                        </a:rPr>
                        <a:t>         голосование:</a:t>
                      </a:r>
                      <a:r>
                        <a:rPr lang="ru-RU" sz="3200" baseline="0" dirty="0" smtClean="0">
                          <a:solidFill>
                            <a:schemeClr val="tx1"/>
                          </a:solidFill>
                        </a:rPr>
                        <a:t>  </a:t>
                      </a:r>
                      <a:r>
                        <a:rPr lang="ru-RU" sz="2000" baseline="0" dirty="0" err="1" smtClean="0">
                          <a:solidFill>
                            <a:srgbClr val="FFFF00"/>
                          </a:solidFill>
                        </a:rPr>
                        <a:t>отпр</a:t>
                      </a:r>
                      <a:r>
                        <a:rPr lang="ru-RU" sz="2000" baseline="0" dirty="0" smtClean="0">
                          <a:solidFill>
                            <a:srgbClr val="FFFF00"/>
                          </a:solidFill>
                        </a:rPr>
                        <a:t> коллегам</a:t>
                      </a:r>
                    </a:p>
                    <a:p>
                      <a:pPr algn="l"/>
                      <a:r>
                        <a:rPr lang="ru-RU" sz="2800" baseline="0" dirty="0" smtClean="0">
                          <a:solidFill>
                            <a:schemeClr val="tx1"/>
                          </a:solidFill>
                        </a:rPr>
                        <a:t>за   против  воздержался</a:t>
                      </a:r>
                    </a:p>
                    <a:p>
                      <a:pPr marL="0" marR="0" lvl="0" indent="0" algn="l" defTabSz="457200" rtl="0" eaLnBrk="1" fontAlgn="auto" latinLnBrk="0" hangingPunct="1">
                        <a:lnSpc>
                          <a:spcPct val="100000"/>
                        </a:lnSpc>
                        <a:spcBef>
                          <a:spcPts val="0"/>
                        </a:spcBef>
                        <a:spcAft>
                          <a:spcPts val="0"/>
                        </a:spcAft>
                        <a:buClrTx/>
                        <a:buSzTx/>
                        <a:buFontTx/>
                        <a:buNone/>
                        <a:tabLst/>
                        <a:defRPr/>
                      </a:pPr>
                      <a:r>
                        <a:rPr lang="ru-RU" sz="3200" dirty="0" smtClean="0">
                          <a:solidFill>
                            <a:schemeClr val="tx1"/>
                          </a:solidFill>
                        </a:rPr>
                        <a:t>    </a:t>
                      </a:r>
                      <a:r>
                        <a:rPr kumimoji="0" lang="ru-RU" sz="3200" b="1" i="0" u="none" strike="noStrike" kern="1200" cap="none" spc="0" normalizeH="0" baseline="0" noProof="0" dirty="0" smtClean="0">
                          <a:ln>
                            <a:noFill/>
                          </a:ln>
                          <a:solidFill>
                            <a:prstClr val="black"/>
                          </a:solidFill>
                          <a:effectLst/>
                          <a:uLnTx/>
                          <a:uFillTx/>
                          <a:latin typeface="+mn-lt"/>
                          <a:ea typeface="+mn-ea"/>
                          <a:cs typeface="+mn-cs"/>
                        </a:rPr>
                        <a:t>3</a:t>
                      </a:r>
                      <a:endParaRPr kumimoji="0" lang="ru-RU" sz="2400" b="1" i="0" u="none" strike="noStrike" kern="1200" cap="none" spc="0" normalizeH="0" baseline="0" noProof="0" dirty="0" smtClean="0">
                        <a:ln>
                          <a:noFill/>
                        </a:ln>
                        <a:solidFill>
                          <a:prstClr val="black"/>
                        </a:solidFill>
                        <a:effectLst/>
                        <a:uLnTx/>
                        <a:uFillTx/>
                        <a:latin typeface="+mn-lt"/>
                        <a:ea typeface="+mn-ea"/>
                        <a:cs typeface="+mn-cs"/>
                      </a:endParaRPr>
                    </a:p>
                    <a:p>
                      <a:pPr algn="ctr"/>
                      <a:r>
                        <a:rPr lang="ru-RU" sz="3200" dirty="0" smtClean="0">
                          <a:solidFill>
                            <a:schemeClr val="tx1"/>
                          </a:solidFill>
                        </a:rPr>
                        <a:t>             </a:t>
                      </a:r>
                      <a:endParaRPr lang="ru-RU" sz="3200" dirty="0">
                        <a:solidFill>
                          <a:schemeClr val="tx1"/>
                        </a:solidFill>
                      </a:endParaRPr>
                    </a:p>
                  </a:txBody>
                  <a:tcPr/>
                </a:tc>
                <a:extLst>
                  <a:ext uri="{0D108BD9-81ED-4DB2-BD59-A6C34878D82A}">
                    <a16:rowId xmlns:a16="http://schemas.microsoft.com/office/drawing/2014/main" val="3699655430"/>
                  </a:ext>
                </a:extLst>
              </a:tr>
            </a:tbl>
          </a:graphicData>
        </a:graphic>
      </p:graphicFrame>
      <p:graphicFrame>
        <p:nvGraphicFramePr>
          <p:cNvPr id="8" name="Таблица 7"/>
          <p:cNvGraphicFramePr>
            <a:graphicFrameLocks noGrp="1"/>
          </p:cNvGraphicFramePr>
          <p:nvPr>
            <p:extLst>
              <p:ext uri="{D42A27DB-BD31-4B8C-83A1-F6EECF244321}">
                <p14:modId xmlns:p14="http://schemas.microsoft.com/office/powerpoint/2010/main" val="779255309"/>
              </p:ext>
            </p:extLst>
          </p:nvPr>
        </p:nvGraphicFramePr>
        <p:xfrm>
          <a:off x="4256978" y="2106546"/>
          <a:ext cx="2057398" cy="396240"/>
        </p:xfrm>
        <a:graphic>
          <a:graphicData uri="http://schemas.openxmlformats.org/drawingml/2006/table">
            <a:tbl>
              <a:tblPr firstRow="1" bandRow="1">
                <a:tableStyleId>{5C22544A-7EE6-4342-B048-85BDC9FD1C3A}</a:tableStyleId>
              </a:tblPr>
              <a:tblGrid>
                <a:gridCol w="2057398">
                  <a:extLst>
                    <a:ext uri="{9D8B030D-6E8A-4147-A177-3AD203B41FA5}">
                      <a16:colId xmlns:a16="http://schemas.microsoft.com/office/drawing/2014/main" val="121150993"/>
                    </a:ext>
                  </a:extLst>
                </a:gridCol>
              </a:tblGrid>
              <a:tr h="0">
                <a:tc>
                  <a:txBody>
                    <a:bodyPr/>
                    <a:lstStyle/>
                    <a:p>
                      <a:pPr algn="ctr"/>
                      <a:r>
                        <a:rPr lang="ru-RU" sz="2000" dirty="0" smtClean="0">
                          <a:solidFill>
                            <a:srgbClr val="FF0000"/>
                          </a:solidFill>
                        </a:rPr>
                        <a:t>анонимно</a:t>
                      </a:r>
                      <a:endParaRPr lang="ru-RU" sz="2000" dirty="0">
                        <a:solidFill>
                          <a:srgbClr val="FF0000"/>
                        </a:solidFill>
                      </a:endParaRPr>
                    </a:p>
                  </a:txBody>
                  <a:tcPr anchor="ctr">
                    <a:solidFill>
                      <a:srgbClr val="FFFF00"/>
                    </a:solidFill>
                  </a:tcPr>
                </a:tc>
                <a:extLst>
                  <a:ext uri="{0D108BD9-81ED-4DB2-BD59-A6C34878D82A}">
                    <a16:rowId xmlns:a16="http://schemas.microsoft.com/office/drawing/2014/main" val="3611746982"/>
                  </a:ext>
                </a:extLst>
              </a:tr>
            </a:tbl>
          </a:graphicData>
        </a:graphic>
      </p:graphicFrame>
      <p:sp>
        <p:nvSpPr>
          <p:cNvPr id="9" name="Улыбающееся лицо 8"/>
          <p:cNvSpPr/>
          <p:nvPr/>
        </p:nvSpPr>
        <p:spPr>
          <a:xfrm>
            <a:off x="682527" y="10228985"/>
            <a:ext cx="734785" cy="636815"/>
          </a:xfrm>
          <a:prstGeom prst="smileyFac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Знак запрета 19"/>
          <p:cNvSpPr/>
          <p:nvPr/>
        </p:nvSpPr>
        <p:spPr>
          <a:xfrm>
            <a:off x="1632857" y="10179859"/>
            <a:ext cx="751113" cy="726621"/>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41" name="Управляющая кнопка: далее 40">
            <a:hlinkClick r:id="" action="ppaction://hlinkshowjump?jump=nextslide" highlightClick="1"/>
          </p:cNvPr>
          <p:cNvSpPr/>
          <p:nvPr/>
        </p:nvSpPr>
        <p:spPr>
          <a:xfrm>
            <a:off x="5189831" y="10757444"/>
            <a:ext cx="704817" cy="665654"/>
          </a:xfrm>
          <a:prstGeom prst="actionButtonForwardNex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3" name="Таблица 2"/>
          <p:cNvGraphicFramePr>
            <a:graphicFrameLocks noGrp="1"/>
          </p:cNvGraphicFramePr>
          <p:nvPr>
            <p:extLst>
              <p:ext uri="{D42A27DB-BD31-4B8C-83A1-F6EECF244321}">
                <p14:modId xmlns:p14="http://schemas.microsoft.com/office/powerpoint/2010/main" val="2014918299"/>
              </p:ext>
            </p:extLst>
          </p:nvPr>
        </p:nvGraphicFramePr>
        <p:xfrm>
          <a:off x="4522839" y="1462102"/>
          <a:ext cx="1828973" cy="442922"/>
        </p:xfrm>
        <a:graphic>
          <a:graphicData uri="http://schemas.openxmlformats.org/drawingml/2006/table">
            <a:tbl>
              <a:tblPr firstRow="1" bandRow="1">
                <a:tableStyleId>{5C22544A-7EE6-4342-B048-85BDC9FD1C3A}</a:tableStyleId>
              </a:tblPr>
              <a:tblGrid>
                <a:gridCol w="1828973">
                  <a:extLst>
                    <a:ext uri="{9D8B030D-6E8A-4147-A177-3AD203B41FA5}">
                      <a16:colId xmlns:a16="http://schemas.microsoft.com/office/drawing/2014/main" val="3566676932"/>
                    </a:ext>
                  </a:extLst>
                </a:gridCol>
              </a:tblGrid>
              <a:tr h="442922">
                <a:tc>
                  <a:txBody>
                    <a:bodyPr/>
                    <a:lstStyle/>
                    <a:p>
                      <a:r>
                        <a:rPr lang="ru-RU" dirty="0" smtClean="0"/>
                        <a:t>поиск</a:t>
                      </a:r>
                      <a:endParaRPr lang="ru-RU" dirty="0"/>
                    </a:p>
                  </a:txBody>
                  <a:tcPr/>
                </a:tc>
                <a:extLst>
                  <a:ext uri="{0D108BD9-81ED-4DB2-BD59-A6C34878D82A}">
                    <a16:rowId xmlns:a16="http://schemas.microsoft.com/office/drawing/2014/main" val="1940349864"/>
                  </a:ext>
                </a:extLst>
              </a:tr>
            </a:tbl>
          </a:graphicData>
        </a:graphic>
      </p:graphicFrame>
      <p:sp>
        <p:nvSpPr>
          <p:cNvPr id="12" name="Стрелка влево 11"/>
          <p:cNvSpPr/>
          <p:nvPr/>
        </p:nvSpPr>
        <p:spPr>
          <a:xfrm>
            <a:off x="436089" y="243033"/>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Скругленная прямоугольная выноска 9"/>
          <p:cNvSpPr/>
          <p:nvPr/>
        </p:nvSpPr>
        <p:spPr>
          <a:xfrm>
            <a:off x="2558339" y="10743178"/>
            <a:ext cx="914400" cy="612648"/>
          </a:xfrm>
          <a:prstGeom prst="wedgeRoundRectCallou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мессенджер</a:t>
            </a:r>
            <a:endParaRPr lang="ru-RU" dirty="0">
              <a:solidFill>
                <a:schemeClr val="tx1"/>
              </a:solidFill>
            </a:endParaRPr>
          </a:p>
        </p:txBody>
      </p:sp>
      <p:sp>
        <p:nvSpPr>
          <p:cNvPr id="11" name="Прямоугольник 10"/>
          <p:cNvSpPr/>
          <p:nvPr/>
        </p:nvSpPr>
        <p:spPr>
          <a:xfrm>
            <a:off x="522513" y="3755571"/>
            <a:ext cx="1485901" cy="52251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800" b="1" dirty="0" smtClean="0">
                <a:solidFill>
                  <a:prstClr val="black"/>
                </a:solidFill>
              </a:rPr>
              <a:t>Соавтор  </a:t>
            </a:r>
            <a:endParaRPr lang="ru-RU" dirty="0"/>
          </a:p>
        </p:txBody>
      </p:sp>
      <p:sp>
        <p:nvSpPr>
          <p:cNvPr id="13" name="Прямоугольник 12"/>
          <p:cNvSpPr/>
          <p:nvPr/>
        </p:nvSpPr>
        <p:spPr>
          <a:xfrm>
            <a:off x="1722221" y="2965465"/>
            <a:ext cx="2151987" cy="39837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685800"/>
            <a:r>
              <a:rPr lang="ru-RU" sz="2800" b="1" i="1" dirty="0">
                <a:solidFill>
                  <a:schemeClr val="bg1"/>
                </a:solidFill>
              </a:rPr>
              <a:t>обсуждение</a:t>
            </a:r>
          </a:p>
        </p:txBody>
      </p:sp>
      <p:sp>
        <p:nvSpPr>
          <p:cNvPr id="14" name="Минус 13"/>
          <p:cNvSpPr/>
          <p:nvPr/>
        </p:nvSpPr>
        <p:spPr>
          <a:xfrm>
            <a:off x="2433722" y="9816351"/>
            <a:ext cx="1079378" cy="908360"/>
          </a:xfrm>
          <a:prstGeom prst="mathMinus">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Стрелка вниз 17"/>
          <p:cNvSpPr/>
          <p:nvPr/>
        </p:nvSpPr>
        <p:spPr>
          <a:xfrm>
            <a:off x="5754221" y="4601412"/>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Стрелка вниз 18"/>
          <p:cNvSpPr/>
          <p:nvPr/>
        </p:nvSpPr>
        <p:spPr>
          <a:xfrm>
            <a:off x="5876532" y="5974498"/>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Стрелка вниз 20"/>
          <p:cNvSpPr/>
          <p:nvPr/>
        </p:nvSpPr>
        <p:spPr>
          <a:xfrm>
            <a:off x="5764089" y="7190206"/>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Стрелка вниз 21"/>
          <p:cNvSpPr/>
          <p:nvPr/>
        </p:nvSpPr>
        <p:spPr>
          <a:xfrm>
            <a:off x="5709768" y="8382667"/>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Рамка 16"/>
          <p:cNvSpPr/>
          <p:nvPr/>
        </p:nvSpPr>
        <p:spPr>
          <a:xfrm>
            <a:off x="5234450" y="9001635"/>
            <a:ext cx="458901" cy="502134"/>
          </a:xfrm>
          <a:prstGeom prst="fram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23" name="Загнутый угол 22"/>
          <p:cNvSpPr/>
          <p:nvPr/>
        </p:nvSpPr>
        <p:spPr>
          <a:xfrm>
            <a:off x="5358296" y="4610888"/>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Загнутый угол 23"/>
          <p:cNvSpPr/>
          <p:nvPr/>
        </p:nvSpPr>
        <p:spPr>
          <a:xfrm>
            <a:off x="5315855" y="8417952"/>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Загнутый угол 24"/>
          <p:cNvSpPr/>
          <p:nvPr/>
        </p:nvSpPr>
        <p:spPr>
          <a:xfrm>
            <a:off x="5384942" y="7225491"/>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Загнутый угол 25"/>
          <p:cNvSpPr/>
          <p:nvPr/>
        </p:nvSpPr>
        <p:spPr>
          <a:xfrm>
            <a:off x="5374711" y="5977866"/>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Прямоугольник 14"/>
          <p:cNvSpPr/>
          <p:nvPr/>
        </p:nvSpPr>
        <p:spPr>
          <a:xfrm>
            <a:off x="3584491" y="10708849"/>
            <a:ext cx="1366821" cy="681306"/>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сохранить</a:t>
            </a:r>
            <a:endParaRPr lang="ru-RU" dirty="0">
              <a:solidFill>
                <a:schemeClr val="tx1"/>
              </a:solidFill>
            </a:endParaRPr>
          </a:p>
        </p:txBody>
      </p:sp>
      <p:sp>
        <p:nvSpPr>
          <p:cNvPr id="7" name="4-конечная звезда 6"/>
          <p:cNvSpPr/>
          <p:nvPr/>
        </p:nvSpPr>
        <p:spPr>
          <a:xfrm>
            <a:off x="5306433" y="2788163"/>
            <a:ext cx="669472" cy="528496"/>
          </a:xfrm>
          <a:prstGeom prst="star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TextBox 15"/>
          <p:cNvSpPr txBox="1"/>
          <p:nvPr/>
        </p:nvSpPr>
        <p:spPr>
          <a:xfrm>
            <a:off x="3237136" y="9767320"/>
            <a:ext cx="475479" cy="461665"/>
          </a:xfrm>
          <a:prstGeom prst="rect">
            <a:avLst/>
          </a:prstGeom>
          <a:noFill/>
        </p:spPr>
        <p:txBody>
          <a:bodyPr wrap="square" rtlCol="0">
            <a:spAutoFit/>
          </a:bodyPr>
          <a:lstStyle/>
          <a:p>
            <a:r>
              <a:rPr lang="ru-RU" sz="2400" b="1" dirty="0" smtClean="0"/>
              <a:t>5</a:t>
            </a:r>
            <a:endParaRPr lang="ru-RU" sz="2400" b="1" dirty="0"/>
          </a:p>
        </p:txBody>
      </p:sp>
      <p:sp>
        <p:nvSpPr>
          <p:cNvPr id="28" name="TextBox 27"/>
          <p:cNvSpPr txBox="1"/>
          <p:nvPr/>
        </p:nvSpPr>
        <p:spPr>
          <a:xfrm>
            <a:off x="2220727" y="9622551"/>
            <a:ext cx="577488" cy="461665"/>
          </a:xfrm>
          <a:prstGeom prst="rect">
            <a:avLst/>
          </a:prstGeom>
          <a:noFill/>
        </p:spPr>
        <p:txBody>
          <a:bodyPr wrap="square" rtlCol="0">
            <a:spAutoFit/>
          </a:bodyPr>
          <a:lstStyle/>
          <a:p>
            <a:r>
              <a:rPr lang="ru-RU" sz="2400" b="1" dirty="0" smtClean="0"/>
              <a:t>2</a:t>
            </a:r>
            <a:endParaRPr lang="ru-RU" sz="2400" b="1" dirty="0"/>
          </a:p>
        </p:txBody>
      </p:sp>
      <p:sp>
        <p:nvSpPr>
          <p:cNvPr id="30" name="Управляющая кнопка: сведения 29">
            <a:hlinkClick r:id="" action="ppaction://noaction" highlightClick="1"/>
          </p:cNvPr>
          <p:cNvSpPr/>
          <p:nvPr/>
        </p:nvSpPr>
        <p:spPr>
          <a:xfrm>
            <a:off x="5978083" y="11090271"/>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1713743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93914" y="146957"/>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2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ПРОБЛЕМА-ПРЕДЛОЖЕНИЕ</a:t>
            </a:r>
            <a:endParaRPr kumimoji="0" lang="ru-RU"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aphicFrame>
        <p:nvGraphicFramePr>
          <p:cNvPr id="4" name="Таблица 3"/>
          <p:cNvGraphicFramePr>
            <a:graphicFrameLocks noGrp="1"/>
          </p:cNvGraphicFramePr>
          <p:nvPr>
            <p:extLst>
              <p:ext uri="{D42A27DB-BD31-4B8C-83A1-F6EECF244321}">
                <p14:modId xmlns:p14="http://schemas.microsoft.com/office/powerpoint/2010/main" val="4116388517"/>
              </p:ext>
            </p:extLst>
          </p:nvPr>
        </p:nvGraphicFramePr>
        <p:xfrm>
          <a:off x="527819" y="736210"/>
          <a:ext cx="5829300" cy="595996"/>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4096374418"/>
                    </a:ext>
                  </a:extLst>
                </a:gridCol>
                <a:gridCol w="1616530">
                  <a:extLst>
                    <a:ext uri="{9D8B030D-6E8A-4147-A177-3AD203B41FA5}">
                      <a16:colId xmlns:a16="http://schemas.microsoft.com/office/drawing/2014/main" val="3004465261"/>
                    </a:ext>
                  </a:extLst>
                </a:gridCol>
                <a:gridCol w="2269670">
                  <a:extLst>
                    <a:ext uri="{9D8B030D-6E8A-4147-A177-3AD203B41FA5}">
                      <a16:colId xmlns:a16="http://schemas.microsoft.com/office/drawing/2014/main" val="495450802"/>
                    </a:ext>
                  </a:extLst>
                </a:gridCol>
              </a:tblGrid>
              <a:tr h="595996">
                <a:tc>
                  <a:txBody>
                    <a:bodyPr/>
                    <a:lstStyle/>
                    <a:p>
                      <a:pPr algn="ctr"/>
                      <a:r>
                        <a:rPr lang="ru-RU" sz="2400" dirty="0" smtClean="0">
                          <a:solidFill>
                            <a:schemeClr val="tx1"/>
                          </a:solidFill>
                        </a:rPr>
                        <a:t>ЧАТ</a:t>
                      </a:r>
                      <a:endParaRPr lang="ru-RU" sz="2400" dirty="0">
                        <a:solidFill>
                          <a:schemeClr val="tx1"/>
                        </a:solidFill>
                      </a:endParaRPr>
                    </a:p>
                  </a:txBody>
                  <a:tcPr anchor="ctr">
                    <a:solidFill>
                      <a:schemeClr val="accent1"/>
                    </a:solidFill>
                  </a:tcPr>
                </a:tc>
                <a:tc>
                  <a:txBody>
                    <a:bodyPr/>
                    <a:lstStyle/>
                    <a:p>
                      <a:pPr algn="ctr"/>
                      <a:r>
                        <a:rPr lang="ru-RU" sz="2400" dirty="0" smtClean="0">
                          <a:solidFill>
                            <a:schemeClr val="tx1"/>
                          </a:solidFill>
                        </a:rPr>
                        <a:t>КОЛЛЕГИ</a:t>
                      </a:r>
                      <a:endParaRPr lang="ru-RU" sz="2400" dirty="0">
                        <a:solidFill>
                          <a:schemeClr val="tx1"/>
                        </a:solidFill>
                      </a:endParaRPr>
                    </a:p>
                  </a:txBody>
                  <a:tcPr anchor="ctr">
                    <a:solidFill>
                      <a:srgbClr val="FFC000"/>
                    </a:solidFill>
                  </a:tcPr>
                </a:tc>
                <a:tc>
                  <a:txBody>
                    <a:bodyPr/>
                    <a:lstStyle/>
                    <a:p>
                      <a:pPr algn="ctr"/>
                      <a:r>
                        <a:rPr lang="ru-RU" sz="2400" dirty="0" smtClean="0">
                          <a:solidFill>
                            <a:schemeClr val="tx1"/>
                          </a:solidFill>
                        </a:rPr>
                        <a:t>КЛИЕНТЫ</a:t>
                      </a:r>
                      <a:endParaRPr lang="ru-RU" sz="2400" dirty="0">
                        <a:solidFill>
                          <a:schemeClr val="tx1"/>
                        </a:solidFill>
                      </a:endParaRPr>
                    </a:p>
                  </a:txBody>
                  <a:tcPr anchor="ct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612170908"/>
              </p:ext>
            </p:extLst>
          </p:nvPr>
        </p:nvGraphicFramePr>
        <p:xfrm>
          <a:off x="522510" y="1454963"/>
          <a:ext cx="3886201" cy="457200"/>
        </p:xfrm>
        <a:graphic>
          <a:graphicData uri="http://schemas.openxmlformats.org/drawingml/2006/table">
            <a:tbl>
              <a:tblPr firstRow="1" bandRow="1">
                <a:tableStyleId>{5C22544A-7EE6-4342-B048-85BDC9FD1C3A}</a:tableStyleId>
              </a:tblPr>
              <a:tblGrid>
                <a:gridCol w="3886201">
                  <a:extLst>
                    <a:ext uri="{9D8B030D-6E8A-4147-A177-3AD203B41FA5}">
                      <a16:colId xmlns:a16="http://schemas.microsoft.com/office/drawing/2014/main" val="781837115"/>
                    </a:ext>
                  </a:extLst>
                </a:gridCol>
              </a:tblGrid>
              <a:tr h="400049">
                <a:tc>
                  <a:txBody>
                    <a:bodyPr/>
                    <a:lstStyle/>
                    <a:p>
                      <a:pPr algn="ctr"/>
                      <a:r>
                        <a:rPr lang="ru-RU" sz="2400" dirty="0" smtClean="0">
                          <a:solidFill>
                            <a:schemeClr val="tx1"/>
                          </a:solidFill>
                        </a:rPr>
                        <a:t>01 июня 2025 14</a:t>
                      </a:r>
                      <a:r>
                        <a:rPr lang="ru-RU" sz="2400" baseline="0" dirty="0" smtClean="0">
                          <a:solidFill>
                            <a:schemeClr val="tx1"/>
                          </a:solidFill>
                        </a:rPr>
                        <a:t> ч 15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1304847391"/>
              </p:ext>
            </p:extLst>
          </p:nvPr>
        </p:nvGraphicFramePr>
        <p:xfrm>
          <a:off x="522513" y="1912163"/>
          <a:ext cx="5829300" cy="9609499"/>
        </p:xfrm>
        <a:graphic>
          <a:graphicData uri="http://schemas.openxmlformats.org/drawingml/2006/table">
            <a:tbl>
              <a:tblPr firstRow="1" bandRow="1">
                <a:tableStyleId>{5C22544A-7EE6-4342-B048-85BDC9FD1C3A}</a:tableStyleId>
              </a:tblPr>
              <a:tblGrid>
                <a:gridCol w="5829300">
                  <a:extLst>
                    <a:ext uri="{9D8B030D-6E8A-4147-A177-3AD203B41FA5}">
                      <a16:colId xmlns:a16="http://schemas.microsoft.com/office/drawing/2014/main" val="47972225"/>
                    </a:ext>
                  </a:extLst>
                </a:gridCol>
              </a:tblGrid>
              <a:tr h="9609499">
                <a:tc>
                  <a:txBody>
                    <a:bodyPr/>
                    <a:lstStyle/>
                    <a:p>
                      <a:pPr algn="just"/>
                      <a:endParaRPr lang="ru-RU" sz="2400" dirty="0">
                        <a:solidFill>
                          <a:schemeClr val="tx1"/>
                        </a:solidFill>
                      </a:endParaRPr>
                    </a:p>
                  </a:txBody>
                  <a:tcPr anchor="ctr"/>
                </a:tc>
                <a:extLst>
                  <a:ext uri="{0D108BD9-81ED-4DB2-BD59-A6C34878D82A}">
                    <a16:rowId xmlns:a16="http://schemas.microsoft.com/office/drawing/2014/main" val="3699655430"/>
                  </a:ext>
                </a:extLst>
              </a:tr>
            </a:tbl>
          </a:graphicData>
        </a:graphic>
      </p:graphicFrame>
      <p:graphicFrame>
        <p:nvGraphicFramePr>
          <p:cNvPr id="3" name="Таблица 2"/>
          <p:cNvGraphicFramePr>
            <a:graphicFrameLocks noGrp="1"/>
          </p:cNvGraphicFramePr>
          <p:nvPr>
            <p:extLst/>
          </p:nvPr>
        </p:nvGraphicFramePr>
        <p:xfrm>
          <a:off x="4522839" y="1462102"/>
          <a:ext cx="1828973" cy="442922"/>
        </p:xfrm>
        <a:graphic>
          <a:graphicData uri="http://schemas.openxmlformats.org/drawingml/2006/table">
            <a:tbl>
              <a:tblPr firstRow="1" bandRow="1">
                <a:tableStyleId>{5C22544A-7EE6-4342-B048-85BDC9FD1C3A}</a:tableStyleId>
              </a:tblPr>
              <a:tblGrid>
                <a:gridCol w="1828973">
                  <a:extLst>
                    <a:ext uri="{9D8B030D-6E8A-4147-A177-3AD203B41FA5}">
                      <a16:colId xmlns:a16="http://schemas.microsoft.com/office/drawing/2014/main" val="3566676932"/>
                    </a:ext>
                  </a:extLst>
                </a:gridCol>
              </a:tblGrid>
              <a:tr h="442922">
                <a:tc>
                  <a:txBody>
                    <a:bodyPr/>
                    <a:lstStyle/>
                    <a:p>
                      <a:r>
                        <a:rPr lang="ru-RU" dirty="0" smtClean="0"/>
                        <a:t>поиск</a:t>
                      </a:r>
                      <a:endParaRPr lang="ru-RU" dirty="0"/>
                    </a:p>
                  </a:txBody>
                  <a:tcPr/>
                </a:tc>
                <a:extLst>
                  <a:ext uri="{0D108BD9-81ED-4DB2-BD59-A6C34878D82A}">
                    <a16:rowId xmlns:a16="http://schemas.microsoft.com/office/drawing/2014/main" val="1940349864"/>
                  </a:ext>
                </a:extLst>
              </a:tr>
            </a:tbl>
          </a:graphicData>
        </a:graphic>
      </p:graphicFrame>
      <p:sp>
        <p:nvSpPr>
          <p:cNvPr id="12" name="Стрелка влево 11"/>
          <p:cNvSpPr/>
          <p:nvPr/>
        </p:nvSpPr>
        <p:spPr>
          <a:xfrm>
            <a:off x="436089" y="243033"/>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6" name="Прямоугольник 15"/>
          <p:cNvSpPr/>
          <p:nvPr/>
        </p:nvSpPr>
        <p:spPr>
          <a:xfrm>
            <a:off x="776800" y="2764498"/>
            <a:ext cx="5388429" cy="188085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defTabSz="685800">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a:t>
            </a:r>
            <a:r>
              <a:rPr lang="ru-RU" sz="2400" b="1" dirty="0">
                <a:solidFill>
                  <a:prstClr val="black"/>
                </a:solidFill>
              </a:rPr>
              <a:t>№ 7 </a:t>
            </a:r>
            <a:r>
              <a:rPr lang="ru-RU" sz="2400" b="1" dirty="0" smtClean="0">
                <a:solidFill>
                  <a:prstClr val="black"/>
                </a:solidFill>
              </a:rPr>
              <a:t>от </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30.06.2025 </a:t>
            </a:r>
            <a:r>
              <a:rPr kumimoji="0" lang="ru-RU"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12.47 </a:t>
            </a:r>
            <a:r>
              <a:rPr lang="ru-RU" sz="2400" b="1" dirty="0" smtClean="0">
                <a:solidFill>
                  <a:prstClr val="black"/>
                </a:solidFill>
                <a:latin typeface="Calibri" panose="020F0502020204030204" pitchFamily="34" charset="0"/>
              </a:rPr>
              <a:t>главбух </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Носова </a:t>
            </a:r>
            <a:r>
              <a:rPr kumimoji="0" lang="ru-RU"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И.А</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«Об экономии ФОТ…»</a:t>
            </a:r>
            <a:endParaRPr kumimoji="0" lang="ru-RU"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28" name="Прямоугольник 27"/>
          <p:cNvSpPr/>
          <p:nvPr/>
        </p:nvSpPr>
        <p:spPr>
          <a:xfrm>
            <a:off x="713675" y="4852840"/>
            <a:ext cx="5388429" cy="2039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lang="ru-RU" sz="2400" b="1" dirty="0" smtClean="0">
                <a:solidFill>
                  <a:prstClr val="black"/>
                </a:solidFill>
                <a:latin typeface="Calibri" panose="020F0502020204030204" pitchFamily="34" charset="0"/>
              </a:rPr>
              <a:t>№ 9 от 1</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5.07.2025  </a:t>
            </a:r>
            <a:r>
              <a:rPr kumimoji="0" lang="ru-RU"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14:32 </a:t>
            </a:r>
            <a:r>
              <a:rPr lang="ru-RU" sz="2400" b="1" dirty="0" smtClean="0">
                <a:solidFill>
                  <a:prstClr val="black"/>
                </a:solidFill>
                <a:latin typeface="Calibri" panose="020F0502020204030204" pitchFamily="34" charset="0"/>
              </a:rPr>
              <a:t>нач. отдела</a:t>
            </a:r>
            <a:r>
              <a:rPr lang="ru-RU" sz="2400" b="1" noProof="0" dirty="0" smtClean="0">
                <a:solidFill>
                  <a:prstClr val="black"/>
                </a:solidFill>
                <a:latin typeface="Calibri" panose="020F0502020204030204" pitchFamily="34" charset="0"/>
              </a:rPr>
              <a:t> </a:t>
            </a:r>
          </a:p>
          <a:p>
            <a:pPr marL="0" marR="0" lvl="0" indent="0" algn="ctr" defTabSz="685800" rtl="0" eaLnBrk="1" fontAlgn="auto" latinLnBrk="0" hangingPunct="1">
              <a:lnSpc>
                <a:spcPct val="100000"/>
              </a:lnSpc>
              <a:spcBef>
                <a:spcPts val="0"/>
              </a:spcBef>
              <a:spcAft>
                <a:spcPts val="0"/>
              </a:spcAft>
              <a:buClrTx/>
              <a:buSzTx/>
              <a:buFontTx/>
              <a:buNone/>
              <a:tabLst/>
              <a:defRPr/>
            </a:pPr>
            <a:r>
              <a:rPr lang="ru-RU" sz="2400" b="1" dirty="0" smtClean="0">
                <a:solidFill>
                  <a:prstClr val="black"/>
                </a:solidFill>
                <a:latin typeface="Calibri" panose="020F0502020204030204" pitchFamily="34" charset="0"/>
              </a:rPr>
              <a:t>Панко</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в </a:t>
            </a:r>
            <a:r>
              <a:rPr kumimoji="0" lang="ru-RU"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Н.В</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«добавление в договора пункта о…»</a:t>
            </a:r>
            <a:endParaRPr kumimoji="0" lang="ru-RU"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29" name="Прямоугольник 28"/>
          <p:cNvSpPr/>
          <p:nvPr/>
        </p:nvSpPr>
        <p:spPr>
          <a:xfrm>
            <a:off x="722832" y="7374716"/>
            <a:ext cx="5456133" cy="198827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№9 от 25.07.2025</a:t>
            </a:r>
            <a:r>
              <a:rPr kumimoji="0" lang="ru-RU" sz="2400" b="1" i="0" u="none" strike="noStrike" kern="1200" cap="none" spc="0" normalizeH="0" noProof="0" dirty="0" smtClean="0">
                <a:ln>
                  <a:noFill/>
                </a:ln>
                <a:solidFill>
                  <a:prstClr val="black"/>
                </a:solidFill>
                <a:effectLst/>
                <a:uLnTx/>
                <a:uFillTx/>
                <a:latin typeface="Calibri" panose="020F0502020204030204" pitchFamily="34" charset="0"/>
                <a:ea typeface="+mn-ea"/>
                <a:cs typeface="+mn-cs"/>
              </a:rPr>
              <a:t> </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14:32 гл. </a:t>
            </a:r>
            <a:r>
              <a:rPr lang="ru-RU" sz="2400" b="1" dirty="0" smtClean="0">
                <a:solidFill>
                  <a:prstClr val="black"/>
                </a:solidFill>
                <a:latin typeface="Calibri" panose="020F0502020204030204" pitchFamily="34" charset="0"/>
              </a:rPr>
              <a:t>экономист </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Иванов С.В. «о необходимости добавления…»</a:t>
            </a:r>
            <a:endParaRPr kumimoji="0" lang="ru-RU"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32" name="Скругленный прямоугольник 31"/>
          <p:cNvSpPr/>
          <p:nvPr/>
        </p:nvSpPr>
        <p:spPr>
          <a:xfrm>
            <a:off x="2045447" y="10911240"/>
            <a:ext cx="2943925" cy="610422"/>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dirty="0" smtClean="0">
                <a:solidFill>
                  <a:prstClr val="black"/>
                </a:solidFill>
                <a:latin typeface="Calibri" panose="020F0502020204030204" pitchFamily="34" charset="0"/>
              </a:rPr>
              <a:t>по</a:t>
            </a:r>
            <a:r>
              <a:rPr kumimoji="0" lang="ru-RU" sz="1800" b="0"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дать идею</a:t>
            </a:r>
            <a:endParaRPr kumimoji="0" lang="ru-RU"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33" name="Плюс 32"/>
          <p:cNvSpPr/>
          <p:nvPr/>
        </p:nvSpPr>
        <p:spPr>
          <a:xfrm>
            <a:off x="4227232" y="10777158"/>
            <a:ext cx="591213" cy="5715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3" name="Управляющая кнопка: сведения 12">
            <a:hlinkClick r:id="" action="ppaction://noaction" highlightClick="1"/>
          </p:cNvPr>
          <p:cNvSpPr/>
          <p:nvPr/>
        </p:nvSpPr>
        <p:spPr>
          <a:xfrm>
            <a:off x="5889833" y="11069569"/>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2514599" y="2369230"/>
            <a:ext cx="3951514" cy="523220"/>
          </a:xfrm>
          <a:prstGeom prst="rect">
            <a:avLst/>
          </a:prstGeom>
          <a:noFill/>
        </p:spPr>
        <p:txBody>
          <a:bodyPr wrap="square" rtlCol="0">
            <a:spAutoFit/>
          </a:bodyPr>
          <a:lstStyle/>
          <a:p>
            <a:r>
              <a:rPr lang="ru-RU" sz="2800" b="1" u="sng" dirty="0" err="1" smtClean="0"/>
              <a:t>Бухгалерия</a:t>
            </a:r>
            <a:endParaRPr lang="ru-RU" sz="2800" b="1" u="sng" dirty="0"/>
          </a:p>
        </p:txBody>
      </p:sp>
      <p:sp>
        <p:nvSpPr>
          <p:cNvPr id="9" name="TextBox 8"/>
          <p:cNvSpPr txBox="1"/>
          <p:nvPr/>
        </p:nvSpPr>
        <p:spPr>
          <a:xfrm>
            <a:off x="1583871" y="4403602"/>
            <a:ext cx="3869872" cy="523220"/>
          </a:xfrm>
          <a:prstGeom prst="rect">
            <a:avLst/>
          </a:prstGeom>
          <a:noFill/>
        </p:spPr>
        <p:txBody>
          <a:bodyPr wrap="square" rtlCol="0">
            <a:spAutoFit/>
          </a:bodyPr>
          <a:lstStyle/>
          <a:p>
            <a:r>
              <a:rPr lang="ru-RU" sz="2800" b="1" u="sng" dirty="0" smtClean="0"/>
              <a:t>Юридический отдел</a:t>
            </a:r>
            <a:endParaRPr lang="ru-RU" sz="2800" b="1" u="sng" dirty="0"/>
          </a:p>
        </p:txBody>
      </p:sp>
      <p:sp>
        <p:nvSpPr>
          <p:cNvPr id="15" name="TextBox 14"/>
          <p:cNvSpPr txBox="1"/>
          <p:nvPr/>
        </p:nvSpPr>
        <p:spPr>
          <a:xfrm>
            <a:off x="1583871" y="6667979"/>
            <a:ext cx="4518233" cy="523220"/>
          </a:xfrm>
          <a:prstGeom prst="rect">
            <a:avLst/>
          </a:prstGeom>
          <a:noFill/>
        </p:spPr>
        <p:txBody>
          <a:bodyPr wrap="square" rtlCol="0">
            <a:spAutoFit/>
          </a:bodyPr>
          <a:lstStyle/>
          <a:p>
            <a:r>
              <a:rPr lang="ru-RU" sz="2800" b="1" u="sng" dirty="0" smtClean="0"/>
              <a:t>Предложенные нам</a:t>
            </a:r>
            <a:endParaRPr lang="ru-RU" sz="2800" b="1" u="sng" dirty="0"/>
          </a:p>
        </p:txBody>
      </p:sp>
      <p:sp>
        <p:nvSpPr>
          <p:cNvPr id="19" name="Прямоугольник 18"/>
          <p:cNvSpPr/>
          <p:nvPr/>
        </p:nvSpPr>
        <p:spPr>
          <a:xfrm>
            <a:off x="709096" y="9731046"/>
            <a:ext cx="5456133" cy="1130143"/>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 10 от 27.07.2025 15:40 «</a:t>
            </a:r>
            <a:r>
              <a:rPr lang="ru-RU" dirty="0" err="1" smtClean="0"/>
              <a:t>Страйкер</a:t>
            </a:r>
            <a:r>
              <a:rPr lang="ru-RU" dirty="0" smtClean="0"/>
              <a:t>» «Предложение о снижении стоимости…»</a:t>
            </a:r>
            <a:endParaRPr lang="ru-RU" dirty="0"/>
          </a:p>
        </p:txBody>
      </p:sp>
      <p:graphicFrame>
        <p:nvGraphicFramePr>
          <p:cNvPr id="24" name="Таблица 23"/>
          <p:cNvGraphicFramePr>
            <a:graphicFrameLocks noGrp="1"/>
          </p:cNvGraphicFramePr>
          <p:nvPr>
            <p:extLst>
              <p:ext uri="{D42A27DB-BD31-4B8C-83A1-F6EECF244321}">
                <p14:modId xmlns:p14="http://schemas.microsoft.com/office/powerpoint/2010/main" val="1474561181"/>
              </p:ext>
            </p:extLst>
          </p:nvPr>
        </p:nvGraphicFramePr>
        <p:xfrm>
          <a:off x="2408463" y="9323537"/>
          <a:ext cx="2057398" cy="396240"/>
        </p:xfrm>
        <a:graphic>
          <a:graphicData uri="http://schemas.openxmlformats.org/drawingml/2006/table">
            <a:tbl>
              <a:tblPr firstRow="1" bandRow="1">
                <a:tableStyleId>{5C22544A-7EE6-4342-B048-85BDC9FD1C3A}</a:tableStyleId>
              </a:tblPr>
              <a:tblGrid>
                <a:gridCol w="2057398">
                  <a:extLst>
                    <a:ext uri="{9D8B030D-6E8A-4147-A177-3AD203B41FA5}">
                      <a16:colId xmlns:a16="http://schemas.microsoft.com/office/drawing/2014/main" val="121150993"/>
                    </a:ext>
                  </a:extLst>
                </a:gridCol>
              </a:tblGrid>
              <a:tr h="0">
                <a:tc>
                  <a:txBody>
                    <a:bodyPr/>
                    <a:lstStyle/>
                    <a:p>
                      <a:pPr algn="ctr"/>
                      <a:r>
                        <a:rPr lang="ru-RU" sz="2000" u="sng" dirty="0" smtClean="0">
                          <a:solidFill>
                            <a:schemeClr val="tx1"/>
                          </a:solidFill>
                        </a:rPr>
                        <a:t>анонимно</a:t>
                      </a:r>
                      <a:endParaRPr lang="ru-RU" sz="2000" u="sng" dirty="0">
                        <a:solidFill>
                          <a:schemeClr val="tx1"/>
                        </a:solidFill>
                      </a:endParaRPr>
                    </a:p>
                  </a:txBody>
                  <a:tcPr anchor="ctr">
                    <a:solidFill>
                      <a:srgbClr val="FF0000"/>
                    </a:solidFill>
                  </a:tcPr>
                </a:tc>
                <a:extLst>
                  <a:ext uri="{0D108BD9-81ED-4DB2-BD59-A6C34878D82A}">
                    <a16:rowId xmlns:a16="http://schemas.microsoft.com/office/drawing/2014/main" val="3611746982"/>
                  </a:ext>
                </a:extLst>
              </a:tr>
            </a:tbl>
          </a:graphicData>
        </a:graphic>
      </p:graphicFrame>
      <mc:AlternateContent xmlns:mc="http://schemas.openxmlformats.org/markup-compatibility/2006" xmlns:p14="http://schemas.microsoft.com/office/powerpoint/2010/main">
        <mc:Choice Requires="p14">
          <p:contentPart p14:bwMode="auto" r:id="rId2">
            <p14:nvContentPartPr>
              <p14:cNvPr id="21" name="Рукописный ввод 20"/>
              <p14:cNvContentPartPr/>
              <p14:nvPr/>
            </p14:nvContentPartPr>
            <p14:xfrm>
              <a:off x="2661506" y="9323537"/>
              <a:ext cx="360" cy="360"/>
            </p14:xfrm>
          </p:contentPart>
        </mc:Choice>
        <mc:Fallback xmlns="">
          <p:pic>
            <p:nvPicPr>
              <p:cNvPr id="21" name="Рукописный ввод 20"/>
              <p:cNvPicPr/>
              <p:nvPr/>
            </p:nvPicPr>
            <p:blipFill>
              <a:blip r:embed="rId4"/>
              <a:stretch>
                <a:fillRect/>
              </a:stretch>
            </p:blipFill>
            <p:spPr>
              <a:xfrm>
                <a:off x="2643506" y="9305537"/>
                <a:ext cx="36360" cy="36360"/>
              </a:xfrm>
              <a:prstGeom prst="rect">
                <a:avLst/>
              </a:prstGeom>
            </p:spPr>
          </p:pic>
        </mc:Fallback>
      </mc:AlternateContent>
      <p:sp>
        <p:nvSpPr>
          <p:cNvPr id="8" name="TextBox 7"/>
          <p:cNvSpPr txBox="1"/>
          <p:nvPr/>
        </p:nvSpPr>
        <p:spPr>
          <a:xfrm>
            <a:off x="1208314" y="1912163"/>
            <a:ext cx="4457700" cy="461665"/>
          </a:xfrm>
          <a:prstGeom prst="rect">
            <a:avLst/>
          </a:prstGeom>
          <a:noFill/>
        </p:spPr>
        <p:txBody>
          <a:bodyPr wrap="square" rtlCol="0">
            <a:spAutoFit/>
          </a:bodyPr>
          <a:lstStyle/>
          <a:p>
            <a:pPr algn="ctr"/>
            <a:r>
              <a:rPr lang="ru-RU" sz="2400" b="1" u="sng" dirty="0" smtClean="0"/>
              <a:t>Отправленные коллегам</a:t>
            </a:r>
            <a:endParaRPr lang="ru-RU" sz="2400" b="1" u="sng" dirty="0"/>
          </a:p>
        </p:txBody>
      </p:sp>
    </p:spTree>
    <p:extLst>
      <p:ext uri="{BB962C8B-B14F-4D97-AF65-F5344CB8AC3E}">
        <p14:creationId xmlns:p14="http://schemas.microsoft.com/office/powerpoint/2010/main" val="16385640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93914" y="146957"/>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200" b="1" i="0" u="none" strike="noStrike" kern="1200" cap="none" spc="0" normalizeH="0" baseline="0" noProof="0" dirty="0" smtClean="0">
                <a:ln>
                  <a:noFill/>
                </a:ln>
                <a:solidFill>
                  <a:prstClr val="black"/>
                </a:solidFill>
                <a:effectLst/>
                <a:uLnTx/>
                <a:uFillTx/>
                <a:latin typeface="Calibri" panose="020F0502020204030204"/>
                <a:ea typeface="+mn-ea"/>
                <a:cs typeface="+mn-cs"/>
              </a:rPr>
              <a:t>ПРОБЛЕМА-ПРЕДЛОЖЕНИЕ</a:t>
            </a:r>
            <a:endParaRPr kumimoji="0" lang="ru-RU" sz="3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Таблица 3"/>
          <p:cNvGraphicFramePr>
            <a:graphicFrameLocks noGrp="1"/>
          </p:cNvGraphicFramePr>
          <p:nvPr>
            <p:extLst>
              <p:ext uri="{D42A27DB-BD31-4B8C-83A1-F6EECF244321}">
                <p14:modId xmlns:p14="http://schemas.microsoft.com/office/powerpoint/2010/main" val="1184172488"/>
              </p:ext>
            </p:extLst>
          </p:nvPr>
        </p:nvGraphicFramePr>
        <p:xfrm>
          <a:off x="522513" y="669472"/>
          <a:ext cx="5829300" cy="48741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4096374418"/>
                    </a:ext>
                  </a:extLst>
                </a:gridCol>
                <a:gridCol w="1616530">
                  <a:extLst>
                    <a:ext uri="{9D8B030D-6E8A-4147-A177-3AD203B41FA5}">
                      <a16:colId xmlns:a16="http://schemas.microsoft.com/office/drawing/2014/main" val="3004465261"/>
                    </a:ext>
                  </a:extLst>
                </a:gridCol>
                <a:gridCol w="2269670">
                  <a:extLst>
                    <a:ext uri="{9D8B030D-6E8A-4147-A177-3AD203B41FA5}">
                      <a16:colId xmlns:a16="http://schemas.microsoft.com/office/drawing/2014/main" val="495450802"/>
                    </a:ext>
                  </a:extLst>
                </a:gridCol>
              </a:tblGrid>
              <a:tr h="487410">
                <a:tc>
                  <a:txBody>
                    <a:bodyPr/>
                    <a:lstStyle/>
                    <a:p>
                      <a:pPr algn="ctr"/>
                      <a:r>
                        <a:rPr lang="ru-RU" sz="2400" dirty="0" smtClean="0">
                          <a:solidFill>
                            <a:schemeClr val="tx1"/>
                          </a:solidFill>
                        </a:rPr>
                        <a:t>ЧАТ</a:t>
                      </a:r>
                      <a:endParaRPr lang="ru-RU" sz="2400" dirty="0">
                        <a:solidFill>
                          <a:schemeClr val="tx1"/>
                        </a:solidFill>
                      </a:endParaRPr>
                    </a:p>
                  </a:txBody>
                  <a:tcPr anchor="ctr"/>
                </a:tc>
                <a:tc>
                  <a:txBody>
                    <a:bodyPr/>
                    <a:lstStyle/>
                    <a:p>
                      <a:pPr algn="ctr"/>
                      <a:r>
                        <a:rPr lang="ru-RU" sz="2400" dirty="0" smtClean="0">
                          <a:solidFill>
                            <a:schemeClr val="tx1"/>
                          </a:solidFill>
                        </a:rPr>
                        <a:t>КОЛЛЕГИ</a:t>
                      </a:r>
                      <a:endParaRPr lang="ru-RU" sz="2400" dirty="0">
                        <a:solidFill>
                          <a:schemeClr val="tx1"/>
                        </a:solidFill>
                      </a:endParaRPr>
                    </a:p>
                  </a:txBody>
                  <a:tcPr anchor="ctr">
                    <a:solidFill>
                      <a:srgbClr val="FFC000"/>
                    </a:solidFill>
                  </a:tcPr>
                </a:tc>
                <a:tc>
                  <a:txBody>
                    <a:bodyPr/>
                    <a:lstStyle/>
                    <a:p>
                      <a:pPr algn="ctr"/>
                      <a:r>
                        <a:rPr lang="ru-RU" sz="2400" dirty="0" smtClean="0">
                          <a:solidFill>
                            <a:schemeClr val="tx1"/>
                          </a:solidFill>
                        </a:rPr>
                        <a:t>КЛИЕНТЫ</a:t>
                      </a:r>
                      <a:endParaRPr lang="ru-RU" sz="2400" dirty="0">
                        <a:solidFill>
                          <a:schemeClr val="tx1"/>
                        </a:solidFill>
                      </a:endParaRPr>
                    </a:p>
                  </a:txBody>
                  <a:tcPr anchor="ct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546259682"/>
              </p:ext>
            </p:extLst>
          </p:nvPr>
        </p:nvGraphicFramePr>
        <p:xfrm>
          <a:off x="522513" y="1289958"/>
          <a:ext cx="3886201" cy="522513"/>
        </p:xfrm>
        <a:graphic>
          <a:graphicData uri="http://schemas.openxmlformats.org/drawingml/2006/table">
            <a:tbl>
              <a:tblPr firstRow="1" bandRow="1">
                <a:tableStyleId>{5C22544A-7EE6-4342-B048-85BDC9FD1C3A}</a:tableStyleId>
              </a:tblPr>
              <a:tblGrid>
                <a:gridCol w="3886201">
                  <a:extLst>
                    <a:ext uri="{9D8B030D-6E8A-4147-A177-3AD203B41FA5}">
                      <a16:colId xmlns:a16="http://schemas.microsoft.com/office/drawing/2014/main" val="781837115"/>
                    </a:ext>
                  </a:extLst>
                </a:gridCol>
              </a:tblGrid>
              <a:tr h="522513">
                <a:tc>
                  <a:txBody>
                    <a:bodyPr/>
                    <a:lstStyle/>
                    <a:p>
                      <a:pPr algn="ctr"/>
                      <a:r>
                        <a:rPr lang="ru-RU" sz="2400" dirty="0" smtClean="0">
                          <a:solidFill>
                            <a:schemeClr val="tx1"/>
                          </a:solidFill>
                        </a:rPr>
                        <a:t>01 марта 2025 14</a:t>
                      </a:r>
                      <a:r>
                        <a:rPr lang="ru-RU" sz="2400" baseline="0" dirty="0" smtClean="0">
                          <a:solidFill>
                            <a:schemeClr val="tx1"/>
                          </a:solidFill>
                        </a:rPr>
                        <a:t> ч 15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2718211749"/>
              </p:ext>
            </p:extLst>
          </p:nvPr>
        </p:nvGraphicFramePr>
        <p:xfrm>
          <a:off x="522513" y="1959429"/>
          <a:ext cx="5829300" cy="9503228"/>
        </p:xfrm>
        <a:graphic>
          <a:graphicData uri="http://schemas.openxmlformats.org/drawingml/2006/table">
            <a:tbl>
              <a:tblPr firstRow="1" bandRow="1">
                <a:tableStyleId>{5C22544A-7EE6-4342-B048-85BDC9FD1C3A}</a:tableStyleId>
              </a:tblPr>
              <a:tblGrid>
                <a:gridCol w="5829300">
                  <a:extLst>
                    <a:ext uri="{9D8B030D-6E8A-4147-A177-3AD203B41FA5}">
                      <a16:colId xmlns:a16="http://schemas.microsoft.com/office/drawing/2014/main" val="47972225"/>
                    </a:ext>
                  </a:extLst>
                </a:gridCol>
              </a:tblGrid>
              <a:tr h="9503228">
                <a:tc>
                  <a:txBody>
                    <a:bodyPr/>
                    <a:lstStyle/>
                    <a:p>
                      <a:r>
                        <a:rPr lang="ru-RU" sz="2800" dirty="0" smtClean="0">
                          <a:solidFill>
                            <a:schemeClr val="tx1"/>
                          </a:solidFill>
                        </a:rPr>
                        <a:t>Предложение</a:t>
                      </a:r>
                      <a:r>
                        <a:rPr lang="ru-RU" sz="2800" baseline="0" dirty="0" smtClean="0">
                          <a:solidFill>
                            <a:schemeClr val="tx1"/>
                          </a:solidFill>
                        </a:rPr>
                        <a:t> №…</a:t>
                      </a:r>
                    </a:p>
                    <a:p>
                      <a:r>
                        <a:rPr lang="ru-RU" sz="2800" baseline="0" dirty="0" smtClean="0">
                          <a:solidFill>
                            <a:schemeClr val="tx1"/>
                          </a:solidFill>
                        </a:rPr>
                        <a:t>Рейтинг: </a:t>
                      </a:r>
                    </a:p>
                    <a:p>
                      <a:r>
                        <a:rPr lang="ru-RU" sz="2800" baseline="0" dirty="0" smtClean="0">
                          <a:solidFill>
                            <a:schemeClr val="tx1"/>
                          </a:solidFill>
                        </a:rPr>
                        <a:t>Статус: </a:t>
                      </a:r>
                      <a:r>
                        <a:rPr lang="ru-RU" sz="2800" i="1" baseline="0" dirty="0" smtClean="0">
                          <a:solidFill>
                            <a:schemeClr val="bg1"/>
                          </a:solidFill>
                        </a:rPr>
                        <a:t>обсуждение</a:t>
                      </a:r>
                    </a:p>
                    <a:p>
                      <a:r>
                        <a:rPr lang="ru-RU" sz="2800" baseline="0" dirty="0" smtClean="0">
                          <a:solidFill>
                            <a:schemeClr val="tx1"/>
                          </a:solidFill>
                        </a:rPr>
                        <a:t>Автор (ФИО, </a:t>
                      </a:r>
                      <a:r>
                        <a:rPr lang="ru-RU" sz="2800" baseline="0" dirty="0" err="1" smtClean="0">
                          <a:solidFill>
                            <a:schemeClr val="tx1"/>
                          </a:solidFill>
                        </a:rPr>
                        <a:t>должн</a:t>
                      </a:r>
                      <a:r>
                        <a:rPr lang="ru-RU" sz="2800" baseline="0" dirty="0" smtClean="0">
                          <a:solidFill>
                            <a:schemeClr val="tx1"/>
                          </a:solidFill>
                        </a:rPr>
                        <a:t>)_____________</a:t>
                      </a:r>
                    </a:p>
                    <a:p>
                      <a:r>
                        <a:rPr lang="ru-RU" sz="2800" baseline="0" dirty="0" smtClean="0">
                          <a:solidFill>
                            <a:schemeClr val="tx1"/>
                          </a:solidFill>
                        </a:rPr>
                        <a:t>                  (ФИО, должность)_______</a:t>
                      </a:r>
                    </a:p>
                    <a:p>
                      <a:r>
                        <a:rPr lang="ru-RU" sz="2800" baseline="0" dirty="0" smtClean="0">
                          <a:solidFill>
                            <a:schemeClr val="tx1"/>
                          </a:solidFill>
                        </a:rPr>
                        <a:t>Проблема:______________________________________________</a:t>
                      </a:r>
                    </a:p>
                    <a:p>
                      <a:r>
                        <a:rPr lang="ru-RU" sz="2800" baseline="0" dirty="0" smtClean="0">
                          <a:solidFill>
                            <a:schemeClr val="tx1"/>
                          </a:solidFill>
                        </a:rPr>
                        <a:t>Предложение, идея:__________________________________________________</a:t>
                      </a:r>
                    </a:p>
                    <a:p>
                      <a:r>
                        <a:rPr lang="ru-RU" sz="2800" baseline="0" dirty="0" smtClean="0">
                          <a:solidFill>
                            <a:schemeClr val="tx1"/>
                          </a:solidFill>
                        </a:rPr>
                        <a:t>Как выполнить:_____________________________________________</a:t>
                      </a:r>
                    </a:p>
                    <a:p>
                      <a:r>
                        <a:rPr lang="ru-RU" sz="2800" baseline="0" dirty="0" smtClean="0">
                          <a:solidFill>
                            <a:schemeClr val="tx1"/>
                          </a:solidFill>
                        </a:rPr>
                        <a:t>Требуемые ресурсы________________________________________________</a:t>
                      </a:r>
                    </a:p>
                    <a:p>
                      <a:pPr algn="l"/>
                      <a:r>
                        <a:rPr lang="ru-RU" sz="2800" baseline="0" dirty="0" smtClean="0">
                          <a:solidFill>
                            <a:schemeClr val="tx1"/>
                          </a:solidFill>
                        </a:rPr>
                        <a:t>                     голосование:</a:t>
                      </a:r>
                      <a:r>
                        <a:rPr lang="ru-RU" sz="3200" baseline="0" dirty="0" smtClean="0">
                          <a:solidFill>
                            <a:schemeClr val="tx1"/>
                          </a:solidFill>
                        </a:rPr>
                        <a:t>        </a:t>
                      </a:r>
                    </a:p>
                    <a:p>
                      <a:pPr algn="ctr"/>
                      <a:r>
                        <a:rPr lang="ru-RU" sz="3200" baseline="0" dirty="0" smtClean="0">
                          <a:solidFill>
                            <a:schemeClr val="tx1"/>
                          </a:solidFill>
                        </a:rPr>
                        <a:t>за     против  воздержался</a:t>
                      </a:r>
                    </a:p>
                    <a:p>
                      <a:pPr algn="ctr"/>
                      <a:r>
                        <a:rPr lang="ru-RU" sz="2400" i="1" u="sng" dirty="0" smtClean="0">
                          <a:solidFill>
                            <a:schemeClr val="tx1"/>
                          </a:solidFill>
                        </a:rPr>
                        <a:t>комментарии</a:t>
                      </a:r>
                      <a:r>
                        <a:rPr lang="ru-RU" sz="3200" u="sng" dirty="0" smtClean="0">
                          <a:solidFill>
                            <a:schemeClr val="tx1"/>
                          </a:solidFill>
                        </a:rPr>
                        <a:t> </a:t>
                      </a:r>
                      <a:r>
                        <a:rPr lang="ru-RU" sz="3200" dirty="0" smtClean="0">
                          <a:solidFill>
                            <a:schemeClr val="tx1"/>
                          </a:solidFill>
                        </a:rPr>
                        <a:t>                </a:t>
                      </a:r>
                      <a:endParaRPr lang="ru-RU" sz="3200" dirty="0">
                        <a:solidFill>
                          <a:schemeClr val="tx1"/>
                        </a:solidFill>
                      </a:endParaRPr>
                    </a:p>
                  </a:txBody>
                  <a:tcPr/>
                </a:tc>
                <a:extLst>
                  <a:ext uri="{0D108BD9-81ED-4DB2-BD59-A6C34878D82A}">
                    <a16:rowId xmlns:a16="http://schemas.microsoft.com/office/drawing/2014/main" val="3699655430"/>
                  </a:ext>
                </a:extLst>
              </a:tr>
            </a:tbl>
          </a:graphicData>
        </a:graphic>
      </p:graphicFrame>
      <p:graphicFrame>
        <p:nvGraphicFramePr>
          <p:cNvPr id="8" name="Таблица 7"/>
          <p:cNvGraphicFramePr>
            <a:graphicFrameLocks noGrp="1"/>
          </p:cNvGraphicFramePr>
          <p:nvPr>
            <p:extLst>
              <p:ext uri="{D42A27DB-BD31-4B8C-83A1-F6EECF244321}">
                <p14:modId xmlns:p14="http://schemas.microsoft.com/office/powerpoint/2010/main" val="2796007332"/>
              </p:ext>
            </p:extLst>
          </p:nvPr>
        </p:nvGraphicFramePr>
        <p:xfrm>
          <a:off x="4251988" y="2031354"/>
          <a:ext cx="2057398" cy="396240"/>
        </p:xfrm>
        <a:graphic>
          <a:graphicData uri="http://schemas.openxmlformats.org/drawingml/2006/table">
            <a:tbl>
              <a:tblPr firstRow="1" bandRow="1">
                <a:tableStyleId>{5C22544A-7EE6-4342-B048-85BDC9FD1C3A}</a:tableStyleId>
              </a:tblPr>
              <a:tblGrid>
                <a:gridCol w="2057398">
                  <a:extLst>
                    <a:ext uri="{9D8B030D-6E8A-4147-A177-3AD203B41FA5}">
                      <a16:colId xmlns:a16="http://schemas.microsoft.com/office/drawing/2014/main" val="121150993"/>
                    </a:ext>
                  </a:extLst>
                </a:gridCol>
              </a:tblGrid>
              <a:tr h="0">
                <a:tc>
                  <a:txBody>
                    <a:bodyPr/>
                    <a:lstStyle/>
                    <a:p>
                      <a:pPr algn="ctr"/>
                      <a:r>
                        <a:rPr lang="ru-RU" sz="2000" dirty="0" smtClean="0">
                          <a:solidFill>
                            <a:schemeClr val="tx1"/>
                          </a:solidFill>
                        </a:rPr>
                        <a:t>анонимно</a:t>
                      </a:r>
                      <a:endParaRPr lang="ru-RU" sz="2000" dirty="0">
                        <a:solidFill>
                          <a:schemeClr val="tx1"/>
                        </a:solidFill>
                      </a:endParaRPr>
                    </a:p>
                  </a:txBody>
                  <a:tcPr anchor="ctr">
                    <a:solidFill>
                      <a:srgbClr val="FFFF00"/>
                    </a:solidFill>
                  </a:tcPr>
                </a:tc>
                <a:extLst>
                  <a:ext uri="{0D108BD9-81ED-4DB2-BD59-A6C34878D82A}">
                    <a16:rowId xmlns:a16="http://schemas.microsoft.com/office/drawing/2014/main" val="3611746982"/>
                  </a:ext>
                </a:extLst>
              </a:tr>
            </a:tbl>
          </a:graphicData>
        </a:graphic>
      </p:graphicFrame>
      <p:sp>
        <p:nvSpPr>
          <p:cNvPr id="9" name="Улыбающееся лицо 8"/>
          <p:cNvSpPr/>
          <p:nvPr/>
        </p:nvSpPr>
        <p:spPr>
          <a:xfrm>
            <a:off x="942276" y="10413546"/>
            <a:ext cx="734785" cy="636815"/>
          </a:xfrm>
          <a:prstGeom prst="smileyFac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Знак запрета 19"/>
          <p:cNvSpPr/>
          <p:nvPr/>
        </p:nvSpPr>
        <p:spPr>
          <a:xfrm>
            <a:off x="2263505" y="10405381"/>
            <a:ext cx="751113" cy="726621"/>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Управляющая кнопка: далее 40">
            <a:hlinkClick r:id="" action="ppaction://hlinkshowjump?jump=nextslide" highlightClick="1"/>
          </p:cNvPr>
          <p:cNvSpPr/>
          <p:nvPr/>
        </p:nvSpPr>
        <p:spPr>
          <a:xfrm>
            <a:off x="4901183" y="10433957"/>
            <a:ext cx="923947" cy="930729"/>
          </a:xfrm>
          <a:prstGeom prst="actionButtonForwardNex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3" name="Таблица 2"/>
          <p:cNvGraphicFramePr>
            <a:graphicFrameLocks noGrp="1"/>
          </p:cNvGraphicFramePr>
          <p:nvPr>
            <p:extLst>
              <p:ext uri="{D42A27DB-BD31-4B8C-83A1-F6EECF244321}">
                <p14:modId xmlns:p14="http://schemas.microsoft.com/office/powerpoint/2010/main" val="1142729035"/>
              </p:ext>
            </p:extLst>
          </p:nvPr>
        </p:nvGraphicFramePr>
        <p:xfrm>
          <a:off x="4581261" y="1365152"/>
          <a:ext cx="1714498" cy="442922"/>
        </p:xfrm>
        <a:graphic>
          <a:graphicData uri="http://schemas.openxmlformats.org/drawingml/2006/table">
            <a:tbl>
              <a:tblPr firstRow="1" bandRow="1">
                <a:tableStyleId>{5C22544A-7EE6-4342-B048-85BDC9FD1C3A}</a:tableStyleId>
              </a:tblPr>
              <a:tblGrid>
                <a:gridCol w="1714498">
                  <a:extLst>
                    <a:ext uri="{9D8B030D-6E8A-4147-A177-3AD203B41FA5}">
                      <a16:colId xmlns:a16="http://schemas.microsoft.com/office/drawing/2014/main" val="3566676932"/>
                    </a:ext>
                  </a:extLst>
                </a:gridCol>
              </a:tblGrid>
              <a:tr h="442922">
                <a:tc>
                  <a:txBody>
                    <a:bodyPr/>
                    <a:lstStyle/>
                    <a:p>
                      <a:r>
                        <a:rPr lang="ru-RU" dirty="0" smtClean="0"/>
                        <a:t>поиск</a:t>
                      </a:r>
                      <a:endParaRPr lang="ru-RU" dirty="0"/>
                    </a:p>
                  </a:txBody>
                  <a:tcPr/>
                </a:tc>
                <a:extLst>
                  <a:ext uri="{0D108BD9-81ED-4DB2-BD59-A6C34878D82A}">
                    <a16:rowId xmlns:a16="http://schemas.microsoft.com/office/drawing/2014/main" val="1940349864"/>
                  </a:ext>
                </a:extLst>
              </a:tr>
            </a:tbl>
          </a:graphicData>
        </a:graphic>
      </p:graphicFrame>
      <p:sp>
        <p:nvSpPr>
          <p:cNvPr id="12" name="Стрелка влево 11"/>
          <p:cNvSpPr/>
          <p:nvPr/>
        </p:nvSpPr>
        <p:spPr>
          <a:xfrm>
            <a:off x="485076" y="276135"/>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Скругленная прямоугольная выноска 9"/>
          <p:cNvSpPr/>
          <p:nvPr/>
        </p:nvSpPr>
        <p:spPr>
          <a:xfrm>
            <a:off x="713676" y="8839311"/>
            <a:ext cx="914400" cy="612648"/>
          </a:xfrm>
          <a:prstGeom prst="wedgeRoundRectCallou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Прямоугольник 10"/>
          <p:cNvSpPr/>
          <p:nvPr/>
        </p:nvSpPr>
        <p:spPr>
          <a:xfrm>
            <a:off x="566717" y="3806205"/>
            <a:ext cx="1485901" cy="27758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2800" b="1" i="0" u="none" strike="noStrike" kern="1200" cap="none" spc="0" normalizeH="0" baseline="0" noProof="0" dirty="0" smtClean="0">
                <a:ln>
                  <a:noFill/>
                </a:ln>
                <a:solidFill>
                  <a:prstClr val="black"/>
                </a:solidFill>
                <a:effectLst/>
                <a:uLnTx/>
                <a:uFillTx/>
                <a:latin typeface="Calibri" panose="020F0502020204030204"/>
                <a:ea typeface="+mn-ea"/>
                <a:cs typeface="+mn-cs"/>
              </a:rPr>
              <a:t>Соавтор  </a:t>
            </a: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Управляющая кнопка: сведения 14">
            <a:hlinkClick r:id="" action="ppaction://noaction" highlightClick="1"/>
          </p:cNvPr>
          <p:cNvSpPr/>
          <p:nvPr/>
        </p:nvSpPr>
        <p:spPr>
          <a:xfrm>
            <a:off x="5878281" y="10976695"/>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Минус 15"/>
          <p:cNvSpPr/>
          <p:nvPr/>
        </p:nvSpPr>
        <p:spPr>
          <a:xfrm>
            <a:off x="3246467" y="10164534"/>
            <a:ext cx="1047947" cy="1208314"/>
          </a:xfrm>
          <a:prstGeom prst="mathMinus">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Стрелка вниз 16"/>
          <p:cNvSpPr/>
          <p:nvPr/>
        </p:nvSpPr>
        <p:spPr>
          <a:xfrm>
            <a:off x="5745233" y="4515998"/>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Стрелка вниз 17"/>
          <p:cNvSpPr/>
          <p:nvPr/>
        </p:nvSpPr>
        <p:spPr>
          <a:xfrm>
            <a:off x="5745233" y="5782008"/>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Стрелка вниз 18"/>
          <p:cNvSpPr/>
          <p:nvPr/>
        </p:nvSpPr>
        <p:spPr>
          <a:xfrm>
            <a:off x="5847838" y="7122714"/>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Стрелка вниз 20"/>
          <p:cNvSpPr/>
          <p:nvPr/>
        </p:nvSpPr>
        <p:spPr>
          <a:xfrm>
            <a:off x="5815172" y="8408117"/>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Загнутый угол 21"/>
          <p:cNvSpPr/>
          <p:nvPr/>
        </p:nvSpPr>
        <p:spPr>
          <a:xfrm>
            <a:off x="5291631" y="4551283"/>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Загнутый угол 22"/>
          <p:cNvSpPr/>
          <p:nvPr/>
        </p:nvSpPr>
        <p:spPr>
          <a:xfrm>
            <a:off x="5395956" y="7095242"/>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Загнутый угол 23"/>
          <p:cNvSpPr/>
          <p:nvPr/>
        </p:nvSpPr>
        <p:spPr>
          <a:xfrm>
            <a:off x="5363156" y="8408117"/>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Загнутый угол 24"/>
          <p:cNvSpPr/>
          <p:nvPr/>
        </p:nvSpPr>
        <p:spPr>
          <a:xfrm>
            <a:off x="5291631" y="5777433"/>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Двойные круглые скобки 6"/>
          <p:cNvSpPr/>
          <p:nvPr/>
        </p:nvSpPr>
        <p:spPr>
          <a:xfrm flipH="1" flipV="1">
            <a:off x="1416822" y="9962789"/>
            <a:ext cx="467668" cy="375079"/>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3" name="TextBox 12"/>
          <p:cNvSpPr txBox="1"/>
          <p:nvPr/>
        </p:nvSpPr>
        <p:spPr>
          <a:xfrm>
            <a:off x="1345882" y="10082351"/>
            <a:ext cx="662358" cy="461665"/>
          </a:xfrm>
          <a:prstGeom prst="rect">
            <a:avLst/>
          </a:prstGeom>
          <a:noFill/>
        </p:spPr>
        <p:txBody>
          <a:bodyPr wrap="square" rtlCol="0">
            <a:spAutoFit/>
          </a:bodyPr>
          <a:lstStyle/>
          <a:p>
            <a:r>
              <a:rPr lang="ru-RU" sz="2400" b="1" dirty="0" smtClean="0"/>
              <a:t>5</a:t>
            </a:r>
            <a:endParaRPr lang="ru-RU" sz="2400" b="1" dirty="0"/>
          </a:p>
        </p:txBody>
      </p:sp>
    </p:spTree>
    <p:extLst>
      <p:ext uri="{BB962C8B-B14F-4D97-AF65-F5344CB8AC3E}">
        <p14:creationId xmlns:p14="http://schemas.microsoft.com/office/powerpoint/2010/main" val="3795107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93914" y="146957"/>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2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ПРОБЛЕМА-ПРЕДЛОЖЕНИЕ</a:t>
            </a:r>
            <a:endParaRPr kumimoji="0" lang="ru-RU"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aphicFrame>
        <p:nvGraphicFramePr>
          <p:cNvPr id="4" name="Таблица 3"/>
          <p:cNvGraphicFramePr>
            <a:graphicFrameLocks noGrp="1"/>
          </p:cNvGraphicFramePr>
          <p:nvPr>
            <p:extLst>
              <p:ext uri="{D42A27DB-BD31-4B8C-83A1-F6EECF244321}">
                <p14:modId xmlns:p14="http://schemas.microsoft.com/office/powerpoint/2010/main" val="4131542238"/>
              </p:ext>
            </p:extLst>
          </p:nvPr>
        </p:nvGraphicFramePr>
        <p:xfrm>
          <a:off x="527819" y="736210"/>
          <a:ext cx="5829300" cy="595996"/>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4096374418"/>
                    </a:ext>
                  </a:extLst>
                </a:gridCol>
                <a:gridCol w="1616530">
                  <a:extLst>
                    <a:ext uri="{9D8B030D-6E8A-4147-A177-3AD203B41FA5}">
                      <a16:colId xmlns:a16="http://schemas.microsoft.com/office/drawing/2014/main" val="3004465261"/>
                    </a:ext>
                  </a:extLst>
                </a:gridCol>
                <a:gridCol w="2269670">
                  <a:extLst>
                    <a:ext uri="{9D8B030D-6E8A-4147-A177-3AD203B41FA5}">
                      <a16:colId xmlns:a16="http://schemas.microsoft.com/office/drawing/2014/main" val="495450802"/>
                    </a:ext>
                  </a:extLst>
                </a:gridCol>
              </a:tblGrid>
              <a:tr h="595996">
                <a:tc>
                  <a:txBody>
                    <a:bodyPr/>
                    <a:lstStyle/>
                    <a:p>
                      <a:pPr algn="ctr"/>
                      <a:r>
                        <a:rPr lang="ru-RU" sz="2400" dirty="0" smtClean="0">
                          <a:solidFill>
                            <a:schemeClr val="tx1"/>
                          </a:solidFill>
                        </a:rPr>
                        <a:t>ЧАТ</a:t>
                      </a:r>
                      <a:endParaRPr lang="ru-RU" sz="2400" dirty="0">
                        <a:solidFill>
                          <a:schemeClr val="tx1"/>
                        </a:solidFill>
                      </a:endParaRPr>
                    </a:p>
                  </a:txBody>
                  <a:tcPr anchor="ctr">
                    <a:solidFill>
                      <a:srgbClr val="00B0F0"/>
                    </a:solidFill>
                  </a:tcPr>
                </a:tc>
                <a:tc>
                  <a:txBody>
                    <a:bodyPr/>
                    <a:lstStyle/>
                    <a:p>
                      <a:pPr algn="ctr"/>
                      <a:r>
                        <a:rPr lang="ru-RU" sz="2400" dirty="0" smtClean="0">
                          <a:solidFill>
                            <a:schemeClr val="tx1"/>
                          </a:solidFill>
                        </a:rPr>
                        <a:t>КОЛЛЕГИ</a:t>
                      </a:r>
                      <a:endParaRPr lang="ru-RU" sz="2400" dirty="0">
                        <a:solidFill>
                          <a:schemeClr val="tx1"/>
                        </a:solidFill>
                      </a:endParaRPr>
                    </a:p>
                  </a:txBody>
                  <a:tcPr anchor="ctr"/>
                </a:tc>
                <a:tc>
                  <a:txBody>
                    <a:bodyPr/>
                    <a:lstStyle/>
                    <a:p>
                      <a:pPr algn="ctr"/>
                      <a:r>
                        <a:rPr lang="ru-RU" sz="2400" dirty="0" smtClean="0">
                          <a:solidFill>
                            <a:schemeClr val="tx1"/>
                          </a:solidFill>
                        </a:rPr>
                        <a:t>КЛИЕНТЫ</a:t>
                      </a:r>
                      <a:endParaRPr lang="ru-RU" sz="2400" dirty="0">
                        <a:solidFill>
                          <a:schemeClr val="tx1"/>
                        </a:solidFill>
                      </a:endParaRPr>
                    </a:p>
                  </a:txBody>
                  <a:tcPr anchor="ctr">
                    <a:solidFill>
                      <a:srgbClr val="FFC000"/>
                    </a:solidFill>
                  </a:tcP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nvPr>
        </p:nvGraphicFramePr>
        <p:xfrm>
          <a:off x="522510" y="1454963"/>
          <a:ext cx="3886201" cy="457200"/>
        </p:xfrm>
        <a:graphic>
          <a:graphicData uri="http://schemas.openxmlformats.org/drawingml/2006/table">
            <a:tbl>
              <a:tblPr firstRow="1" bandRow="1">
                <a:tableStyleId>{5C22544A-7EE6-4342-B048-85BDC9FD1C3A}</a:tableStyleId>
              </a:tblPr>
              <a:tblGrid>
                <a:gridCol w="3886201">
                  <a:extLst>
                    <a:ext uri="{9D8B030D-6E8A-4147-A177-3AD203B41FA5}">
                      <a16:colId xmlns:a16="http://schemas.microsoft.com/office/drawing/2014/main" val="781837115"/>
                    </a:ext>
                  </a:extLst>
                </a:gridCol>
              </a:tblGrid>
              <a:tr h="400049">
                <a:tc>
                  <a:txBody>
                    <a:bodyPr/>
                    <a:lstStyle/>
                    <a:p>
                      <a:pPr algn="ctr"/>
                      <a:r>
                        <a:rPr lang="ru-RU" sz="2400" dirty="0" smtClean="0">
                          <a:solidFill>
                            <a:schemeClr val="tx1"/>
                          </a:solidFill>
                        </a:rPr>
                        <a:t>01 июля 2025 14</a:t>
                      </a:r>
                      <a:r>
                        <a:rPr lang="ru-RU" sz="2400" baseline="0" dirty="0" smtClean="0">
                          <a:solidFill>
                            <a:schemeClr val="tx1"/>
                          </a:solidFill>
                        </a:rPr>
                        <a:t> ч 15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6" name="Таблица 5"/>
          <p:cNvGraphicFramePr>
            <a:graphicFrameLocks noGrp="1"/>
          </p:cNvGraphicFramePr>
          <p:nvPr>
            <p:extLst/>
          </p:nvPr>
        </p:nvGraphicFramePr>
        <p:xfrm>
          <a:off x="485076" y="2042059"/>
          <a:ext cx="5829300" cy="9479603"/>
        </p:xfrm>
        <a:graphic>
          <a:graphicData uri="http://schemas.openxmlformats.org/drawingml/2006/table">
            <a:tbl>
              <a:tblPr firstRow="1" bandRow="1">
                <a:tableStyleId>{5C22544A-7EE6-4342-B048-85BDC9FD1C3A}</a:tableStyleId>
              </a:tblPr>
              <a:tblGrid>
                <a:gridCol w="5829300">
                  <a:extLst>
                    <a:ext uri="{9D8B030D-6E8A-4147-A177-3AD203B41FA5}">
                      <a16:colId xmlns:a16="http://schemas.microsoft.com/office/drawing/2014/main" val="47972225"/>
                    </a:ext>
                  </a:extLst>
                </a:gridCol>
              </a:tblGrid>
              <a:tr h="9479603">
                <a:tc>
                  <a:txBody>
                    <a:bodyPr/>
                    <a:lstStyle/>
                    <a:p>
                      <a:pPr algn="just"/>
                      <a:endParaRPr lang="ru-RU" sz="2400" dirty="0">
                        <a:solidFill>
                          <a:schemeClr val="tx1"/>
                        </a:solidFill>
                      </a:endParaRPr>
                    </a:p>
                  </a:txBody>
                  <a:tcPr anchor="ctr"/>
                </a:tc>
                <a:extLst>
                  <a:ext uri="{0D108BD9-81ED-4DB2-BD59-A6C34878D82A}">
                    <a16:rowId xmlns:a16="http://schemas.microsoft.com/office/drawing/2014/main" val="3699655430"/>
                  </a:ext>
                </a:extLst>
              </a:tr>
            </a:tbl>
          </a:graphicData>
        </a:graphic>
      </p:graphicFrame>
      <p:graphicFrame>
        <p:nvGraphicFramePr>
          <p:cNvPr id="3" name="Таблица 2"/>
          <p:cNvGraphicFramePr>
            <a:graphicFrameLocks noGrp="1"/>
          </p:cNvGraphicFramePr>
          <p:nvPr>
            <p:extLst/>
          </p:nvPr>
        </p:nvGraphicFramePr>
        <p:xfrm>
          <a:off x="4522839" y="1462102"/>
          <a:ext cx="1828973" cy="442922"/>
        </p:xfrm>
        <a:graphic>
          <a:graphicData uri="http://schemas.openxmlformats.org/drawingml/2006/table">
            <a:tbl>
              <a:tblPr firstRow="1" bandRow="1">
                <a:tableStyleId>{5C22544A-7EE6-4342-B048-85BDC9FD1C3A}</a:tableStyleId>
              </a:tblPr>
              <a:tblGrid>
                <a:gridCol w="1828973">
                  <a:extLst>
                    <a:ext uri="{9D8B030D-6E8A-4147-A177-3AD203B41FA5}">
                      <a16:colId xmlns:a16="http://schemas.microsoft.com/office/drawing/2014/main" val="3566676932"/>
                    </a:ext>
                  </a:extLst>
                </a:gridCol>
              </a:tblGrid>
              <a:tr h="442922">
                <a:tc>
                  <a:txBody>
                    <a:bodyPr/>
                    <a:lstStyle/>
                    <a:p>
                      <a:r>
                        <a:rPr lang="ru-RU" dirty="0" smtClean="0"/>
                        <a:t>поиск</a:t>
                      </a:r>
                      <a:endParaRPr lang="ru-RU" dirty="0"/>
                    </a:p>
                  </a:txBody>
                  <a:tcPr/>
                </a:tc>
                <a:extLst>
                  <a:ext uri="{0D108BD9-81ED-4DB2-BD59-A6C34878D82A}">
                    <a16:rowId xmlns:a16="http://schemas.microsoft.com/office/drawing/2014/main" val="1940349864"/>
                  </a:ext>
                </a:extLst>
              </a:tr>
            </a:tbl>
          </a:graphicData>
        </a:graphic>
      </p:graphicFrame>
      <p:sp>
        <p:nvSpPr>
          <p:cNvPr id="12" name="Стрелка влево 11"/>
          <p:cNvSpPr/>
          <p:nvPr/>
        </p:nvSpPr>
        <p:spPr>
          <a:xfrm>
            <a:off x="436089" y="243033"/>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6" name="Прямоугольник 15"/>
          <p:cNvSpPr/>
          <p:nvPr/>
        </p:nvSpPr>
        <p:spPr>
          <a:xfrm>
            <a:off x="604154" y="3910637"/>
            <a:ext cx="5388429" cy="121236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400" b="1" dirty="0">
                <a:solidFill>
                  <a:prstClr val="black"/>
                </a:solidFill>
              </a:rPr>
              <a:t>№ 23 </a:t>
            </a:r>
            <a:endParaRPr lang="ru-RU" sz="2400" b="1" dirty="0" smtClean="0">
              <a:solidFill>
                <a:prstClr val="black"/>
              </a:solidFill>
            </a:endParaRPr>
          </a:p>
          <a:p>
            <a:pPr lvl="0" algn="ctr" defTabSz="685800"/>
            <a:r>
              <a:rPr lang="ru-RU" sz="2400" b="1" dirty="0" smtClean="0">
                <a:solidFill>
                  <a:prstClr val="black"/>
                </a:solidFill>
              </a:rPr>
              <a:t>30.07.2025 </a:t>
            </a:r>
            <a:r>
              <a:rPr lang="ru-RU" sz="2400" b="1" dirty="0">
                <a:solidFill>
                  <a:prstClr val="black"/>
                </a:solidFill>
              </a:rPr>
              <a:t>12.47 </a:t>
            </a:r>
            <a:r>
              <a:rPr lang="ru-RU" sz="2400" b="1" dirty="0" smtClean="0">
                <a:solidFill>
                  <a:prstClr val="black"/>
                </a:solidFill>
              </a:rPr>
              <a:t>студент Носова </a:t>
            </a:r>
            <a:r>
              <a:rPr lang="ru-RU" sz="2400" b="1" dirty="0">
                <a:solidFill>
                  <a:prstClr val="black"/>
                </a:solidFill>
              </a:rPr>
              <a:t>И.А</a:t>
            </a:r>
            <a:r>
              <a:rPr lang="ru-RU" sz="2400" b="1" dirty="0" smtClean="0">
                <a:solidFill>
                  <a:prstClr val="black"/>
                </a:solidFill>
              </a:rPr>
              <a:t>.</a:t>
            </a:r>
            <a:endParaRPr lang="ru-RU" sz="2400" b="1" dirty="0">
              <a:solidFill>
                <a:prstClr val="black"/>
              </a:solidFill>
            </a:endParaRPr>
          </a:p>
        </p:txBody>
      </p:sp>
      <p:sp>
        <p:nvSpPr>
          <p:cNvPr id="28" name="Прямоугольник 27"/>
          <p:cNvSpPr/>
          <p:nvPr/>
        </p:nvSpPr>
        <p:spPr>
          <a:xfrm>
            <a:off x="604154" y="5211819"/>
            <a:ext cx="5388429" cy="127190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400" b="1" dirty="0">
                <a:solidFill>
                  <a:prstClr val="black"/>
                </a:solidFill>
              </a:rPr>
              <a:t>№24 </a:t>
            </a:r>
            <a:endParaRPr lang="ru-RU" sz="2400" b="1" dirty="0" smtClean="0">
              <a:solidFill>
                <a:prstClr val="black"/>
              </a:solidFill>
            </a:endParaRPr>
          </a:p>
          <a:p>
            <a:pPr lvl="0" algn="ctr" defTabSz="685800"/>
            <a:r>
              <a:rPr lang="ru-RU" sz="2400" b="1" dirty="0" smtClean="0">
                <a:solidFill>
                  <a:prstClr val="black"/>
                </a:solidFill>
              </a:rPr>
              <a:t>23.07.2025  14:32 учитель</a:t>
            </a:r>
          </a:p>
          <a:p>
            <a:pPr lvl="0" algn="ctr" defTabSz="685800"/>
            <a:r>
              <a:rPr lang="ru-RU" sz="2400" b="1" dirty="0" smtClean="0">
                <a:solidFill>
                  <a:prstClr val="black"/>
                </a:solidFill>
              </a:rPr>
              <a:t> Сергеев </a:t>
            </a:r>
            <a:r>
              <a:rPr lang="ru-RU" sz="2400" b="1" dirty="0">
                <a:solidFill>
                  <a:prstClr val="black"/>
                </a:solidFill>
              </a:rPr>
              <a:t>Н.В.</a:t>
            </a:r>
          </a:p>
        </p:txBody>
      </p:sp>
      <p:sp>
        <p:nvSpPr>
          <p:cNvPr id="29" name="Прямоугольник 28"/>
          <p:cNvSpPr/>
          <p:nvPr/>
        </p:nvSpPr>
        <p:spPr>
          <a:xfrm>
            <a:off x="583042" y="6542171"/>
            <a:ext cx="5409541" cy="127190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400" b="1" dirty="0">
                <a:solidFill>
                  <a:prstClr val="black"/>
                </a:solidFill>
              </a:rPr>
              <a:t>№25</a:t>
            </a:r>
          </a:p>
          <a:p>
            <a:pPr lvl="0" algn="ctr" defTabSz="685800"/>
            <a:r>
              <a:rPr lang="ru-RU" sz="2400" b="1" dirty="0" smtClean="0">
                <a:solidFill>
                  <a:prstClr val="black"/>
                </a:solidFill>
              </a:rPr>
              <a:t>25.07.2025 14:32 Пассажир Иванов С.В</a:t>
            </a:r>
            <a:r>
              <a:rPr lang="ru-RU" sz="2400" b="1" dirty="0">
                <a:solidFill>
                  <a:prstClr val="black"/>
                </a:solidFill>
              </a:rPr>
              <a:t>.</a:t>
            </a:r>
          </a:p>
        </p:txBody>
      </p:sp>
      <p:sp>
        <p:nvSpPr>
          <p:cNvPr id="33" name="Плюс 32"/>
          <p:cNvSpPr/>
          <p:nvPr/>
        </p:nvSpPr>
        <p:spPr>
          <a:xfrm>
            <a:off x="2867355" y="10568815"/>
            <a:ext cx="591213" cy="5715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Скругленный прямоугольник 12"/>
          <p:cNvSpPr/>
          <p:nvPr/>
        </p:nvSpPr>
        <p:spPr>
          <a:xfrm>
            <a:off x="3649730" y="10428948"/>
            <a:ext cx="2190125" cy="914400"/>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Поделиться с коллегами</a:t>
            </a:r>
            <a:endParaRPr lang="ru-RU" dirty="0">
              <a:solidFill>
                <a:schemeClr val="tx1"/>
              </a:solidFill>
            </a:endParaRPr>
          </a:p>
        </p:txBody>
      </p:sp>
      <p:sp>
        <p:nvSpPr>
          <p:cNvPr id="14" name="Управляющая кнопка: сведения 13">
            <a:hlinkClick r:id="" action="ppaction://noaction" highlightClick="1"/>
          </p:cNvPr>
          <p:cNvSpPr/>
          <p:nvPr/>
        </p:nvSpPr>
        <p:spPr>
          <a:xfrm>
            <a:off x="5840846" y="11069569"/>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Прямоугольник 14"/>
          <p:cNvSpPr/>
          <p:nvPr/>
        </p:nvSpPr>
        <p:spPr>
          <a:xfrm>
            <a:off x="554414" y="7855858"/>
            <a:ext cx="5409541" cy="127190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400" b="1" dirty="0" smtClean="0">
                <a:solidFill>
                  <a:prstClr val="black"/>
                </a:solidFill>
              </a:rPr>
              <a:t>25.07.2025 14:32 №26</a:t>
            </a:r>
          </a:p>
          <a:p>
            <a:pPr lvl="0" algn="ctr" defTabSz="685800"/>
            <a:r>
              <a:rPr lang="ru-RU" sz="2400" b="1" dirty="0" smtClean="0">
                <a:solidFill>
                  <a:prstClr val="black"/>
                </a:solidFill>
              </a:rPr>
              <a:t>Гражданин Климов С.В</a:t>
            </a:r>
            <a:r>
              <a:rPr lang="ru-RU" sz="2400" b="1" dirty="0">
                <a:solidFill>
                  <a:prstClr val="black"/>
                </a:solidFill>
              </a:rPr>
              <a:t>.</a:t>
            </a:r>
          </a:p>
        </p:txBody>
      </p:sp>
      <p:sp>
        <p:nvSpPr>
          <p:cNvPr id="17" name="Прямоугольник 16"/>
          <p:cNvSpPr/>
          <p:nvPr/>
        </p:nvSpPr>
        <p:spPr>
          <a:xfrm>
            <a:off x="593597" y="2528118"/>
            <a:ext cx="5388429" cy="12123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400" b="1" dirty="0" smtClean="0">
                <a:solidFill>
                  <a:srgbClr val="00B050"/>
                </a:solidFill>
              </a:rPr>
              <a:t>«взять в работу»   </a:t>
            </a:r>
            <a:r>
              <a:rPr lang="ru-RU" sz="2400" b="1" dirty="0" smtClean="0">
                <a:solidFill>
                  <a:prstClr val="black"/>
                </a:solidFill>
              </a:rPr>
              <a:t>№ 22   </a:t>
            </a:r>
            <a:r>
              <a:rPr lang="ru-RU" sz="2400" b="1" dirty="0" smtClean="0">
                <a:solidFill>
                  <a:srgbClr val="FF0000"/>
                </a:solidFill>
              </a:rPr>
              <a:t>анонимно</a:t>
            </a:r>
            <a:endParaRPr lang="ru-RU" sz="2400" b="1" dirty="0">
              <a:solidFill>
                <a:srgbClr val="FF0000"/>
              </a:solidFill>
            </a:endParaRPr>
          </a:p>
          <a:p>
            <a:pPr lvl="0" defTabSz="685800"/>
            <a:endParaRPr lang="ru-RU" sz="2400" b="1" dirty="0">
              <a:solidFill>
                <a:prstClr val="black"/>
              </a:solidFill>
            </a:endParaRPr>
          </a:p>
          <a:p>
            <a:pPr lvl="0" algn="ctr" defTabSz="685800"/>
            <a:r>
              <a:rPr lang="ru-RU" sz="2400" b="1" dirty="0" smtClean="0">
                <a:solidFill>
                  <a:prstClr val="black"/>
                </a:solidFill>
              </a:rPr>
              <a:t>30.07.2025 12.47</a:t>
            </a:r>
          </a:p>
        </p:txBody>
      </p:sp>
      <p:sp>
        <p:nvSpPr>
          <p:cNvPr id="7" name="Улыбающееся лицо 6"/>
          <p:cNvSpPr/>
          <p:nvPr/>
        </p:nvSpPr>
        <p:spPr>
          <a:xfrm>
            <a:off x="664689" y="8172505"/>
            <a:ext cx="653143" cy="638613"/>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6000296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93914" y="146957"/>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200" b="1" i="0" u="none" strike="noStrike" kern="1200" cap="none" spc="0" normalizeH="0" baseline="0" noProof="0" dirty="0" smtClean="0">
                <a:ln>
                  <a:noFill/>
                </a:ln>
                <a:solidFill>
                  <a:prstClr val="black"/>
                </a:solidFill>
                <a:effectLst/>
                <a:uLnTx/>
                <a:uFillTx/>
                <a:latin typeface="Calibri" panose="020F0502020204030204"/>
                <a:ea typeface="+mn-ea"/>
                <a:cs typeface="+mn-cs"/>
              </a:rPr>
              <a:t>ПРОБЛЕМА-ПРЕДЛОЖЕНИЕ</a:t>
            </a:r>
            <a:endParaRPr kumimoji="0" lang="ru-RU" sz="3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Таблица 3"/>
          <p:cNvGraphicFramePr>
            <a:graphicFrameLocks noGrp="1"/>
          </p:cNvGraphicFramePr>
          <p:nvPr>
            <p:extLst>
              <p:ext uri="{D42A27DB-BD31-4B8C-83A1-F6EECF244321}">
                <p14:modId xmlns:p14="http://schemas.microsoft.com/office/powerpoint/2010/main" val="302894017"/>
              </p:ext>
            </p:extLst>
          </p:nvPr>
        </p:nvGraphicFramePr>
        <p:xfrm>
          <a:off x="522513" y="767443"/>
          <a:ext cx="5829300" cy="598746"/>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4096374418"/>
                    </a:ext>
                  </a:extLst>
                </a:gridCol>
                <a:gridCol w="1616530">
                  <a:extLst>
                    <a:ext uri="{9D8B030D-6E8A-4147-A177-3AD203B41FA5}">
                      <a16:colId xmlns:a16="http://schemas.microsoft.com/office/drawing/2014/main" val="3004465261"/>
                    </a:ext>
                  </a:extLst>
                </a:gridCol>
                <a:gridCol w="2269670">
                  <a:extLst>
                    <a:ext uri="{9D8B030D-6E8A-4147-A177-3AD203B41FA5}">
                      <a16:colId xmlns:a16="http://schemas.microsoft.com/office/drawing/2014/main" val="495450802"/>
                    </a:ext>
                  </a:extLst>
                </a:gridCol>
              </a:tblGrid>
              <a:tr h="598746">
                <a:tc>
                  <a:txBody>
                    <a:bodyPr/>
                    <a:lstStyle/>
                    <a:p>
                      <a:pPr algn="ctr"/>
                      <a:r>
                        <a:rPr lang="ru-RU" sz="2400" dirty="0" smtClean="0">
                          <a:solidFill>
                            <a:schemeClr val="tx1"/>
                          </a:solidFill>
                        </a:rPr>
                        <a:t>ЧАТ</a:t>
                      </a:r>
                      <a:endParaRPr lang="ru-RU" sz="2400" dirty="0">
                        <a:solidFill>
                          <a:schemeClr val="tx1"/>
                        </a:solidFill>
                      </a:endParaRPr>
                    </a:p>
                  </a:txBody>
                  <a:tcPr anchor="ctr"/>
                </a:tc>
                <a:tc>
                  <a:txBody>
                    <a:bodyPr/>
                    <a:lstStyle/>
                    <a:p>
                      <a:pPr algn="ctr"/>
                      <a:r>
                        <a:rPr lang="ru-RU" sz="2400" dirty="0" smtClean="0">
                          <a:solidFill>
                            <a:schemeClr val="tx1"/>
                          </a:solidFill>
                        </a:rPr>
                        <a:t>КОЛЛЕГИ</a:t>
                      </a:r>
                      <a:endParaRPr lang="ru-RU" sz="2400" dirty="0">
                        <a:solidFill>
                          <a:schemeClr val="tx1"/>
                        </a:solidFill>
                      </a:endParaRPr>
                    </a:p>
                  </a:txBody>
                  <a:tcPr anchor="ctr"/>
                </a:tc>
                <a:tc>
                  <a:txBody>
                    <a:bodyPr/>
                    <a:lstStyle/>
                    <a:p>
                      <a:pPr algn="ctr"/>
                      <a:r>
                        <a:rPr lang="ru-RU" sz="2400" dirty="0" smtClean="0">
                          <a:solidFill>
                            <a:schemeClr val="tx1"/>
                          </a:solidFill>
                        </a:rPr>
                        <a:t>КЛИЕНТЫ</a:t>
                      </a:r>
                      <a:endParaRPr lang="ru-RU" sz="2400" dirty="0">
                        <a:solidFill>
                          <a:schemeClr val="tx1"/>
                        </a:solidFill>
                      </a:endParaRPr>
                    </a:p>
                  </a:txBody>
                  <a:tcPr anchor="ctr">
                    <a:solidFill>
                      <a:srgbClr val="FFC000"/>
                    </a:solidFill>
                  </a:tcP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2340058786"/>
              </p:ext>
            </p:extLst>
          </p:nvPr>
        </p:nvGraphicFramePr>
        <p:xfrm>
          <a:off x="522514" y="1450586"/>
          <a:ext cx="3657602" cy="457200"/>
        </p:xfrm>
        <a:graphic>
          <a:graphicData uri="http://schemas.openxmlformats.org/drawingml/2006/table">
            <a:tbl>
              <a:tblPr firstRow="1" bandRow="1">
                <a:tableStyleId>{5C22544A-7EE6-4342-B048-85BDC9FD1C3A}</a:tableStyleId>
              </a:tblPr>
              <a:tblGrid>
                <a:gridCol w="3657602">
                  <a:extLst>
                    <a:ext uri="{9D8B030D-6E8A-4147-A177-3AD203B41FA5}">
                      <a16:colId xmlns:a16="http://schemas.microsoft.com/office/drawing/2014/main" val="781837115"/>
                    </a:ext>
                  </a:extLst>
                </a:gridCol>
              </a:tblGrid>
              <a:tr h="400049">
                <a:tc>
                  <a:txBody>
                    <a:bodyPr/>
                    <a:lstStyle/>
                    <a:p>
                      <a:pPr algn="ctr"/>
                      <a:r>
                        <a:rPr lang="ru-RU" sz="2400" dirty="0" smtClean="0">
                          <a:solidFill>
                            <a:schemeClr val="tx1"/>
                          </a:solidFill>
                        </a:rPr>
                        <a:t>01 марта 2026 14</a:t>
                      </a:r>
                      <a:r>
                        <a:rPr lang="ru-RU" sz="2400" baseline="0" dirty="0" smtClean="0">
                          <a:solidFill>
                            <a:schemeClr val="tx1"/>
                          </a:solidFill>
                        </a:rPr>
                        <a:t> ч 15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1714560038"/>
              </p:ext>
            </p:extLst>
          </p:nvPr>
        </p:nvGraphicFramePr>
        <p:xfrm>
          <a:off x="522513" y="1971626"/>
          <a:ext cx="5829300" cy="9613495"/>
        </p:xfrm>
        <a:graphic>
          <a:graphicData uri="http://schemas.openxmlformats.org/drawingml/2006/table">
            <a:tbl>
              <a:tblPr firstRow="1" bandRow="1">
                <a:tableStyleId>{5C22544A-7EE6-4342-B048-85BDC9FD1C3A}</a:tableStyleId>
              </a:tblPr>
              <a:tblGrid>
                <a:gridCol w="5829300">
                  <a:extLst>
                    <a:ext uri="{9D8B030D-6E8A-4147-A177-3AD203B41FA5}">
                      <a16:colId xmlns:a16="http://schemas.microsoft.com/office/drawing/2014/main" val="47972225"/>
                    </a:ext>
                  </a:extLst>
                </a:gridCol>
              </a:tblGrid>
              <a:tr h="9613495">
                <a:tc>
                  <a:txBody>
                    <a:bodyPr/>
                    <a:lstStyle/>
                    <a:p>
                      <a:r>
                        <a:rPr lang="ru-RU" sz="2800" dirty="0" smtClean="0">
                          <a:solidFill>
                            <a:schemeClr val="tx1"/>
                          </a:solidFill>
                        </a:rPr>
                        <a:t>Предложение</a:t>
                      </a:r>
                      <a:r>
                        <a:rPr lang="ru-RU" sz="2800" baseline="0" dirty="0" smtClean="0">
                          <a:solidFill>
                            <a:schemeClr val="tx1"/>
                          </a:solidFill>
                        </a:rPr>
                        <a:t> №…</a:t>
                      </a:r>
                    </a:p>
                    <a:p>
                      <a:r>
                        <a:rPr lang="ru-RU" sz="2800" baseline="0" dirty="0" smtClean="0">
                          <a:solidFill>
                            <a:schemeClr val="tx1"/>
                          </a:solidFill>
                        </a:rPr>
                        <a:t>Рейтинг: </a:t>
                      </a:r>
                    </a:p>
                    <a:p>
                      <a:r>
                        <a:rPr lang="ru-RU" sz="2800" baseline="0" dirty="0" smtClean="0">
                          <a:solidFill>
                            <a:schemeClr val="tx1"/>
                          </a:solidFill>
                        </a:rPr>
                        <a:t>Статус:  </a:t>
                      </a:r>
                    </a:p>
                    <a:p>
                      <a:r>
                        <a:rPr lang="ru-RU" sz="2800" baseline="0" dirty="0" smtClean="0">
                          <a:solidFill>
                            <a:schemeClr val="tx1"/>
                          </a:solidFill>
                        </a:rPr>
                        <a:t>Автор: ФИО____________(</a:t>
                      </a:r>
                      <a:r>
                        <a:rPr kumimoji="0" lang="ru-RU" sz="2800" b="1" i="0" u="none" strike="noStrike" kern="1200" cap="none" spc="0" normalizeH="0" baseline="0" noProof="0" dirty="0" smtClean="0">
                          <a:ln>
                            <a:noFill/>
                          </a:ln>
                          <a:solidFill>
                            <a:prstClr val="black"/>
                          </a:solidFill>
                          <a:effectLst/>
                          <a:uLnTx/>
                          <a:uFillTx/>
                          <a:latin typeface="+mn-lt"/>
                          <a:ea typeface="+mn-ea"/>
                          <a:cs typeface="+mn-cs"/>
                        </a:rPr>
                        <a:t>клиент)</a:t>
                      </a:r>
                      <a:endParaRPr lang="ru-RU" sz="2800" baseline="0" dirty="0" smtClean="0">
                        <a:solidFill>
                          <a:schemeClr val="tx1"/>
                        </a:solidFill>
                      </a:endParaRPr>
                    </a:p>
                    <a:p>
                      <a:r>
                        <a:rPr lang="ru-RU" sz="2800" baseline="0" dirty="0" smtClean="0">
                          <a:solidFill>
                            <a:schemeClr val="tx1"/>
                          </a:solidFill>
                        </a:rPr>
                        <a:t>Телефон, </a:t>
                      </a:r>
                      <a:r>
                        <a:rPr lang="en-US" sz="2400" baseline="0" dirty="0" smtClean="0">
                          <a:solidFill>
                            <a:schemeClr val="tx1"/>
                          </a:solidFill>
                        </a:rPr>
                        <a:t>mail</a:t>
                      </a:r>
                      <a:r>
                        <a:rPr lang="ru-RU" sz="2400" baseline="0" dirty="0" smtClean="0">
                          <a:solidFill>
                            <a:schemeClr val="tx1"/>
                          </a:solidFill>
                        </a:rPr>
                        <a:t>_________________</a:t>
                      </a:r>
                    </a:p>
                    <a:p>
                      <a:r>
                        <a:rPr lang="ru-RU" sz="2800" baseline="0" dirty="0" err="1" smtClean="0">
                          <a:solidFill>
                            <a:schemeClr val="tx1"/>
                          </a:solidFill>
                        </a:rPr>
                        <a:t>Должность_____________________Предприятие</a:t>
                      </a:r>
                      <a:r>
                        <a:rPr lang="ru-RU" sz="2800" baseline="0" dirty="0" smtClean="0">
                          <a:solidFill>
                            <a:schemeClr val="tx1"/>
                          </a:solidFill>
                        </a:rPr>
                        <a:t>_____________</a:t>
                      </a:r>
                    </a:p>
                    <a:p>
                      <a:r>
                        <a:rPr lang="ru-RU" sz="2800" baseline="0" dirty="0" smtClean="0">
                          <a:solidFill>
                            <a:schemeClr val="tx1"/>
                          </a:solidFill>
                        </a:rPr>
                        <a:t>Проблема:______________________________________________</a:t>
                      </a:r>
                    </a:p>
                    <a:p>
                      <a:r>
                        <a:rPr lang="ru-RU" sz="2800" baseline="0" dirty="0" smtClean="0">
                          <a:solidFill>
                            <a:schemeClr val="tx1"/>
                          </a:solidFill>
                        </a:rPr>
                        <a:t>Предложение, идея:__________________________________________________</a:t>
                      </a:r>
                    </a:p>
                    <a:p>
                      <a:r>
                        <a:rPr lang="ru-RU" sz="2800" baseline="0" dirty="0" smtClean="0">
                          <a:solidFill>
                            <a:schemeClr val="tx1"/>
                          </a:solidFill>
                        </a:rPr>
                        <a:t>Как выполнить:___________</a:t>
                      </a:r>
                    </a:p>
                    <a:p>
                      <a:pPr algn="l"/>
                      <a:r>
                        <a:rPr lang="ru-RU" sz="2800" baseline="0" dirty="0" smtClean="0">
                          <a:solidFill>
                            <a:schemeClr val="tx1"/>
                          </a:solidFill>
                        </a:rPr>
                        <a:t>Требуемые ресурсы__________________                     </a:t>
                      </a:r>
                      <a:endParaRPr lang="ru-RU" sz="2800" u="sng" baseline="0" dirty="0" smtClean="0">
                        <a:solidFill>
                          <a:schemeClr val="tx1"/>
                        </a:solidFill>
                      </a:endParaRPr>
                    </a:p>
                    <a:p>
                      <a:pPr algn="l"/>
                      <a:endParaRPr lang="ru-RU" sz="2800" u="none" baseline="0" dirty="0" smtClean="0">
                        <a:solidFill>
                          <a:schemeClr val="tx1"/>
                        </a:solidFill>
                      </a:endParaRPr>
                    </a:p>
                    <a:p>
                      <a:pPr algn="l"/>
                      <a:endParaRPr lang="ru-RU" sz="2800" u="none" baseline="0" dirty="0" smtClean="0">
                        <a:solidFill>
                          <a:schemeClr val="tx1"/>
                        </a:solidFill>
                      </a:endParaRPr>
                    </a:p>
                    <a:p>
                      <a:pPr algn="l"/>
                      <a:endParaRPr lang="ru-RU" sz="2800" u="none" baseline="0" dirty="0" smtClean="0">
                        <a:solidFill>
                          <a:schemeClr val="tx1"/>
                        </a:solidFill>
                      </a:endParaRPr>
                    </a:p>
                    <a:p>
                      <a:pPr algn="l"/>
                      <a:r>
                        <a:rPr lang="ru-RU" sz="2800" u="none" baseline="0" dirty="0" smtClean="0">
                          <a:solidFill>
                            <a:schemeClr val="tx1"/>
                          </a:solidFill>
                        </a:rPr>
                        <a:t>Голосовать:</a:t>
                      </a:r>
                      <a:r>
                        <a:rPr lang="ru-RU" sz="2400" u="none" baseline="0" dirty="0" smtClean="0">
                          <a:solidFill>
                            <a:schemeClr val="tx1"/>
                          </a:solidFill>
                        </a:rPr>
                        <a:t>                    </a:t>
                      </a:r>
                      <a:r>
                        <a:rPr lang="ru-RU" sz="2400" u="sng" baseline="0" dirty="0" smtClean="0">
                          <a:solidFill>
                            <a:schemeClr val="tx1"/>
                          </a:solidFill>
                        </a:rPr>
                        <a:t>комментарии</a:t>
                      </a:r>
                      <a:r>
                        <a:rPr lang="ru-RU" sz="3200" u="sng" baseline="0" dirty="0" smtClean="0">
                          <a:solidFill>
                            <a:schemeClr val="tx1"/>
                          </a:solidFill>
                        </a:rPr>
                        <a:t>      </a:t>
                      </a:r>
                    </a:p>
                    <a:p>
                      <a:pPr algn="l"/>
                      <a:r>
                        <a:rPr lang="ru-RU" sz="3200" baseline="0" dirty="0" smtClean="0">
                          <a:solidFill>
                            <a:schemeClr val="tx1"/>
                          </a:solidFill>
                        </a:rPr>
                        <a:t> </a:t>
                      </a:r>
                      <a:r>
                        <a:rPr lang="ru-RU" sz="2400" baseline="0" dirty="0" smtClean="0">
                          <a:solidFill>
                            <a:schemeClr val="tx1"/>
                          </a:solidFill>
                        </a:rPr>
                        <a:t>за             против     воздержался     </a:t>
                      </a:r>
                    </a:p>
                    <a:p>
                      <a:pPr algn="ctr"/>
                      <a:r>
                        <a:rPr lang="ru-RU" sz="3200" dirty="0" smtClean="0">
                          <a:solidFill>
                            <a:schemeClr val="tx1"/>
                          </a:solidFill>
                        </a:rPr>
                        <a:t>                 </a:t>
                      </a:r>
                      <a:endParaRPr lang="ru-RU" sz="3200" dirty="0">
                        <a:solidFill>
                          <a:schemeClr val="tx1"/>
                        </a:solidFill>
                      </a:endParaRPr>
                    </a:p>
                  </a:txBody>
                  <a:tcPr/>
                </a:tc>
                <a:extLst>
                  <a:ext uri="{0D108BD9-81ED-4DB2-BD59-A6C34878D82A}">
                    <a16:rowId xmlns:a16="http://schemas.microsoft.com/office/drawing/2014/main" val="3699655430"/>
                  </a:ext>
                </a:extLst>
              </a:tr>
            </a:tbl>
          </a:graphicData>
        </a:graphic>
      </p:graphicFrame>
      <p:graphicFrame>
        <p:nvGraphicFramePr>
          <p:cNvPr id="8" name="Таблица 7"/>
          <p:cNvGraphicFramePr>
            <a:graphicFrameLocks noGrp="1"/>
          </p:cNvGraphicFramePr>
          <p:nvPr>
            <p:extLst>
              <p:ext uri="{D42A27DB-BD31-4B8C-83A1-F6EECF244321}">
                <p14:modId xmlns:p14="http://schemas.microsoft.com/office/powerpoint/2010/main" val="257742869"/>
              </p:ext>
            </p:extLst>
          </p:nvPr>
        </p:nvGraphicFramePr>
        <p:xfrm>
          <a:off x="4267498" y="1500277"/>
          <a:ext cx="2057398" cy="396240"/>
        </p:xfrm>
        <a:graphic>
          <a:graphicData uri="http://schemas.openxmlformats.org/drawingml/2006/table">
            <a:tbl>
              <a:tblPr firstRow="1" bandRow="1">
                <a:tableStyleId>{5C22544A-7EE6-4342-B048-85BDC9FD1C3A}</a:tableStyleId>
              </a:tblPr>
              <a:tblGrid>
                <a:gridCol w="2057398">
                  <a:extLst>
                    <a:ext uri="{9D8B030D-6E8A-4147-A177-3AD203B41FA5}">
                      <a16:colId xmlns:a16="http://schemas.microsoft.com/office/drawing/2014/main" val="121150993"/>
                    </a:ext>
                  </a:extLst>
                </a:gridCol>
              </a:tblGrid>
              <a:tr h="0">
                <a:tc>
                  <a:txBody>
                    <a:bodyPr/>
                    <a:lstStyle/>
                    <a:p>
                      <a:pPr algn="ctr"/>
                      <a:r>
                        <a:rPr lang="ru-RU" sz="2000" dirty="0" smtClean="0">
                          <a:solidFill>
                            <a:schemeClr val="tx1"/>
                          </a:solidFill>
                        </a:rPr>
                        <a:t>анонимно</a:t>
                      </a:r>
                      <a:endParaRPr lang="ru-RU" sz="2000" dirty="0">
                        <a:solidFill>
                          <a:schemeClr val="tx1"/>
                        </a:solidFill>
                      </a:endParaRPr>
                    </a:p>
                  </a:txBody>
                  <a:tcPr anchor="ctr">
                    <a:solidFill>
                      <a:srgbClr val="FFFF00"/>
                    </a:solidFill>
                  </a:tcPr>
                </a:tc>
                <a:extLst>
                  <a:ext uri="{0D108BD9-81ED-4DB2-BD59-A6C34878D82A}">
                    <a16:rowId xmlns:a16="http://schemas.microsoft.com/office/drawing/2014/main" val="3611746982"/>
                  </a:ext>
                </a:extLst>
              </a:tr>
            </a:tbl>
          </a:graphicData>
        </a:graphic>
      </p:graphicFrame>
      <p:sp>
        <p:nvSpPr>
          <p:cNvPr id="9" name="Улыбающееся лицо 8"/>
          <p:cNvSpPr/>
          <p:nvPr/>
        </p:nvSpPr>
        <p:spPr>
          <a:xfrm>
            <a:off x="754497" y="10727871"/>
            <a:ext cx="734785" cy="636815"/>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Знак запрета 19"/>
          <p:cNvSpPr/>
          <p:nvPr/>
        </p:nvSpPr>
        <p:spPr>
          <a:xfrm>
            <a:off x="2389681" y="10729248"/>
            <a:ext cx="751113" cy="726621"/>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Управляющая кнопка: далее 40">
            <a:hlinkClick r:id="" action="ppaction://hlinkshowjump?jump=nextslide" highlightClick="1"/>
          </p:cNvPr>
          <p:cNvSpPr/>
          <p:nvPr/>
        </p:nvSpPr>
        <p:spPr>
          <a:xfrm>
            <a:off x="4920059" y="10882490"/>
            <a:ext cx="867110" cy="681719"/>
          </a:xfrm>
          <a:prstGeom prst="actionButtonForwardNex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Стрелка влево 11"/>
          <p:cNvSpPr/>
          <p:nvPr/>
        </p:nvSpPr>
        <p:spPr>
          <a:xfrm>
            <a:off x="297297" y="298026"/>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Управляющая кнопка: сведения 12">
            <a:hlinkClick r:id="" action="ppaction://noaction" highlightClick="1"/>
          </p:cNvPr>
          <p:cNvSpPr/>
          <p:nvPr/>
        </p:nvSpPr>
        <p:spPr>
          <a:xfrm>
            <a:off x="5927269" y="11164934"/>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Стрелка вниз 13"/>
          <p:cNvSpPr/>
          <p:nvPr/>
        </p:nvSpPr>
        <p:spPr>
          <a:xfrm>
            <a:off x="5745233" y="5589048"/>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Загнутый угол 14"/>
          <p:cNvSpPr/>
          <p:nvPr/>
        </p:nvSpPr>
        <p:spPr>
          <a:xfrm>
            <a:off x="5186086" y="7967616"/>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Загнутый угол 15"/>
          <p:cNvSpPr/>
          <p:nvPr/>
        </p:nvSpPr>
        <p:spPr>
          <a:xfrm>
            <a:off x="5139649" y="6778332"/>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Загнутый угол 16"/>
          <p:cNvSpPr/>
          <p:nvPr/>
        </p:nvSpPr>
        <p:spPr>
          <a:xfrm>
            <a:off x="5105352" y="7229209"/>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Загнутый угол 17"/>
          <p:cNvSpPr/>
          <p:nvPr/>
        </p:nvSpPr>
        <p:spPr>
          <a:xfrm>
            <a:off x="5284185" y="5589048"/>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Стрелка вниз 18"/>
          <p:cNvSpPr/>
          <p:nvPr/>
        </p:nvSpPr>
        <p:spPr>
          <a:xfrm>
            <a:off x="5641611" y="6791515"/>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Стрелка вниз 20"/>
          <p:cNvSpPr/>
          <p:nvPr/>
        </p:nvSpPr>
        <p:spPr>
          <a:xfrm>
            <a:off x="5652346" y="7275099"/>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Стрелка вниз 21"/>
          <p:cNvSpPr/>
          <p:nvPr/>
        </p:nvSpPr>
        <p:spPr>
          <a:xfrm>
            <a:off x="5641611" y="7932331"/>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Минус 22"/>
          <p:cNvSpPr/>
          <p:nvPr/>
        </p:nvSpPr>
        <p:spPr>
          <a:xfrm>
            <a:off x="3543847" y="10376808"/>
            <a:ext cx="1047947" cy="1208314"/>
          </a:xfrm>
          <a:prstGeom prst="mathMinus">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2"/>
          <p:cNvSpPr/>
          <p:nvPr/>
        </p:nvSpPr>
        <p:spPr>
          <a:xfrm>
            <a:off x="1659447" y="2971140"/>
            <a:ext cx="2634967" cy="332760"/>
          </a:xfrm>
          <a:prstGeom prst="rect">
            <a:avLst/>
          </a:prstGeom>
          <a:solidFill>
            <a:srgbClr val="E6E6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685800"/>
            <a:r>
              <a:rPr lang="ru-RU" sz="2800" b="1" i="1" dirty="0" smtClean="0">
                <a:solidFill>
                  <a:prstClr val="black"/>
                </a:solidFill>
              </a:rPr>
              <a:t>обсуждение</a:t>
            </a:r>
            <a:endParaRPr lang="ru-RU" sz="2800" b="1" i="1" dirty="0">
              <a:solidFill>
                <a:prstClr val="black"/>
              </a:solidFill>
            </a:endParaRPr>
          </a:p>
        </p:txBody>
      </p:sp>
      <p:sp>
        <p:nvSpPr>
          <p:cNvPr id="7" name="Прямоугольник 6"/>
          <p:cNvSpPr/>
          <p:nvPr/>
        </p:nvSpPr>
        <p:spPr>
          <a:xfrm>
            <a:off x="3777194" y="1980570"/>
            <a:ext cx="2551891" cy="521922"/>
          </a:xfrm>
          <a:prstGeom prst="rect">
            <a:avLst/>
          </a:prstGeom>
          <a:solidFill>
            <a:srgbClr val="E6E6E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smtClean="0">
                <a:solidFill>
                  <a:schemeClr val="tx1"/>
                </a:solidFill>
              </a:rPr>
              <a:t>делегировать</a:t>
            </a:r>
            <a:endParaRPr lang="ru-RU" sz="2400" b="1" dirty="0">
              <a:solidFill>
                <a:schemeClr val="tx1"/>
              </a:solidFill>
            </a:endParaRPr>
          </a:p>
        </p:txBody>
      </p:sp>
      <p:sp>
        <p:nvSpPr>
          <p:cNvPr id="10" name="Прямоугольник 9"/>
          <p:cNvSpPr/>
          <p:nvPr/>
        </p:nvSpPr>
        <p:spPr>
          <a:xfrm>
            <a:off x="5745233" y="10234802"/>
            <a:ext cx="405201" cy="473527"/>
          </a:xfrm>
          <a:prstGeom prst="rect">
            <a:avLst/>
          </a:prstGeom>
          <a:solidFill>
            <a:srgbClr val="E6E6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841494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21100" y="267787"/>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6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БАЗА ПРЕДЛОЖЕНИЙ</a:t>
            </a:r>
            <a:endParaRPr kumimoji="0" lang="ru-RU" sz="36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aphicFrame>
        <p:nvGraphicFramePr>
          <p:cNvPr id="4" name="Таблица 3"/>
          <p:cNvGraphicFramePr>
            <a:graphicFrameLocks noGrp="1"/>
          </p:cNvGraphicFramePr>
          <p:nvPr>
            <p:extLst>
              <p:ext uri="{D42A27DB-BD31-4B8C-83A1-F6EECF244321}">
                <p14:modId xmlns:p14="http://schemas.microsoft.com/office/powerpoint/2010/main" val="140874655"/>
              </p:ext>
            </p:extLst>
          </p:nvPr>
        </p:nvGraphicFramePr>
        <p:xfrm>
          <a:off x="522513" y="910764"/>
          <a:ext cx="5829300" cy="76200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4096374418"/>
                    </a:ext>
                  </a:extLst>
                </a:gridCol>
                <a:gridCol w="2204358">
                  <a:extLst>
                    <a:ext uri="{9D8B030D-6E8A-4147-A177-3AD203B41FA5}">
                      <a16:colId xmlns:a16="http://schemas.microsoft.com/office/drawing/2014/main" val="3004465261"/>
                    </a:ext>
                  </a:extLst>
                </a:gridCol>
                <a:gridCol w="1681842">
                  <a:extLst>
                    <a:ext uri="{9D8B030D-6E8A-4147-A177-3AD203B41FA5}">
                      <a16:colId xmlns:a16="http://schemas.microsoft.com/office/drawing/2014/main" val="495450802"/>
                    </a:ext>
                  </a:extLst>
                </a:gridCol>
              </a:tblGrid>
              <a:tr h="636815">
                <a:tc>
                  <a:txBody>
                    <a:bodyPr/>
                    <a:lstStyle/>
                    <a:p>
                      <a:pPr algn="ctr"/>
                      <a:r>
                        <a:rPr lang="ru-RU" sz="1400" b="1" dirty="0" smtClean="0">
                          <a:solidFill>
                            <a:schemeClr val="tx1"/>
                          </a:solidFill>
                        </a:rPr>
                        <a:t>ОБСУЖДАЕМЫЕ и</a:t>
                      </a:r>
                      <a:r>
                        <a:rPr lang="ru-RU" sz="2400" dirty="0" smtClean="0">
                          <a:solidFill>
                            <a:schemeClr val="tx1"/>
                          </a:solidFill>
                        </a:rPr>
                        <a:t> </a:t>
                      </a:r>
                      <a:r>
                        <a:rPr lang="ru-RU" sz="2000" dirty="0" smtClean="0">
                          <a:solidFill>
                            <a:schemeClr val="tx1"/>
                          </a:solidFill>
                        </a:rPr>
                        <a:t>согласованные</a:t>
                      </a:r>
                      <a:endParaRPr lang="ru-RU" sz="2000" dirty="0">
                        <a:solidFill>
                          <a:schemeClr val="tx1"/>
                        </a:solidFill>
                      </a:endParaRPr>
                    </a:p>
                  </a:txBody>
                  <a:tcPr anchor="ctr">
                    <a:solidFill>
                      <a:srgbClr val="FFC000"/>
                    </a:solidFill>
                  </a:tcPr>
                </a:tc>
                <a:tc>
                  <a:txBody>
                    <a:bodyPr/>
                    <a:lstStyle/>
                    <a:p>
                      <a:pPr algn="ctr"/>
                      <a:r>
                        <a:rPr lang="ru-RU" sz="2000" dirty="0" smtClean="0">
                          <a:solidFill>
                            <a:schemeClr val="tx1"/>
                          </a:solidFill>
                        </a:rPr>
                        <a:t>ИСПОЛНЯЕМЫЕ,</a:t>
                      </a:r>
                      <a:r>
                        <a:rPr lang="ru-RU" sz="2000" baseline="0" dirty="0" smtClean="0">
                          <a:solidFill>
                            <a:schemeClr val="tx1"/>
                          </a:solidFill>
                        </a:rPr>
                        <a:t> </a:t>
                      </a:r>
                    </a:p>
                    <a:p>
                      <a:pPr algn="ctr"/>
                      <a:r>
                        <a:rPr lang="ru-RU" sz="2000" baseline="0" dirty="0" smtClean="0">
                          <a:solidFill>
                            <a:schemeClr val="tx1"/>
                          </a:solidFill>
                        </a:rPr>
                        <a:t>в РАБОТЕ</a:t>
                      </a:r>
                      <a:endParaRPr lang="ru-RU" sz="2000" dirty="0">
                        <a:solidFill>
                          <a:schemeClr val="tx1"/>
                        </a:solidFill>
                      </a:endParaRPr>
                    </a:p>
                  </a:txBody>
                  <a:tcPr anchor="ctr">
                    <a:solidFill>
                      <a:schemeClr val="accent1"/>
                    </a:solidFill>
                  </a:tcPr>
                </a:tc>
                <a:tc>
                  <a:txBody>
                    <a:bodyPr/>
                    <a:lstStyle/>
                    <a:p>
                      <a:pPr algn="ctr"/>
                      <a:r>
                        <a:rPr lang="ru-RU" sz="2400" dirty="0" smtClean="0">
                          <a:solidFill>
                            <a:schemeClr val="tx1"/>
                          </a:solidFill>
                        </a:rPr>
                        <a:t>АРХИВ</a:t>
                      </a:r>
                      <a:endParaRPr lang="ru-RU" sz="2400" dirty="0">
                        <a:solidFill>
                          <a:schemeClr val="tx1"/>
                        </a:solidFill>
                      </a:endParaRPr>
                    </a:p>
                  </a:txBody>
                  <a:tcPr anchor="ctr">
                    <a:solidFill>
                      <a:schemeClr val="accent1"/>
                    </a:solidFill>
                  </a:tcP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561156071"/>
              </p:ext>
            </p:extLst>
          </p:nvPr>
        </p:nvGraphicFramePr>
        <p:xfrm>
          <a:off x="547007" y="1764751"/>
          <a:ext cx="4065816" cy="457200"/>
        </p:xfrm>
        <a:graphic>
          <a:graphicData uri="http://schemas.openxmlformats.org/drawingml/2006/table">
            <a:tbl>
              <a:tblPr firstRow="1" bandRow="1">
                <a:tableStyleId>{5C22544A-7EE6-4342-B048-85BDC9FD1C3A}</a:tableStyleId>
              </a:tblPr>
              <a:tblGrid>
                <a:gridCol w="4065816">
                  <a:extLst>
                    <a:ext uri="{9D8B030D-6E8A-4147-A177-3AD203B41FA5}">
                      <a16:colId xmlns:a16="http://schemas.microsoft.com/office/drawing/2014/main" val="781837115"/>
                    </a:ext>
                  </a:extLst>
                </a:gridCol>
              </a:tblGrid>
              <a:tr h="457200">
                <a:tc>
                  <a:txBody>
                    <a:bodyPr/>
                    <a:lstStyle/>
                    <a:p>
                      <a:pPr algn="ctr"/>
                      <a:r>
                        <a:rPr lang="ru-RU" sz="2400" dirty="0" smtClean="0">
                          <a:solidFill>
                            <a:schemeClr val="tx1"/>
                          </a:solidFill>
                        </a:rPr>
                        <a:t>01 марта 2026</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3" name="Таблица 2"/>
          <p:cNvGraphicFramePr>
            <a:graphicFrameLocks noGrp="1"/>
          </p:cNvGraphicFramePr>
          <p:nvPr>
            <p:extLst>
              <p:ext uri="{D42A27DB-BD31-4B8C-83A1-F6EECF244321}">
                <p14:modId xmlns:p14="http://schemas.microsoft.com/office/powerpoint/2010/main" val="2871120692"/>
              </p:ext>
            </p:extLst>
          </p:nvPr>
        </p:nvGraphicFramePr>
        <p:xfrm>
          <a:off x="4669972" y="1779239"/>
          <a:ext cx="1627466" cy="413220"/>
        </p:xfrm>
        <a:graphic>
          <a:graphicData uri="http://schemas.openxmlformats.org/drawingml/2006/table">
            <a:tbl>
              <a:tblPr firstRow="1" bandRow="1">
                <a:tableStyleId>{5C22544A-7EE6-4342-B048-85BDC9FD1C3A}</a:tableStyleId>
              </a:tblPr>
              <a:tblGrid>
                <a:gridCol w="1627466">
                  <a:extLst>
                    <a:ext uri="{9D8B030D-6E8A-4147-A177-3AD203B41FA5}">
                      <a16:colId xmlns:a16="http://schemas.microsoft.com/office/drawing/2014/main" val="3566676932"/>
                    </a:ext>
                  </a:extLst>
                </a:gridCol>
              </a:tblGrid>
              <a:tr h="413220">
                <a:tc>
                  <a:txBody>
                    <a:bodyPr/>
                    <a:lstStyle/>
                    <a:p>
                      <a:r>
                        <a:rPr lang="ru-RU" dirty="0" smtClean="0"/>
                        <a:t>поиск</a:t>
                      </a:r>
                      <a:endParaRPr lang="ru-RU" dirty="0"/>
                    </a:p>
                  </a:txBody>
                  <a:tcPr/>
                </a:tc>
                <a:extLst>
                  <a:ext uri="{0D108BD9-81ED-4DB2-BD59-A6C34878D82A}">
                    <a16:rowId xmlns:a16="http://schemas.microsoft.com/office/drawing/2014/main" val="1940349864"/>
                  </a:ext>
                </a:extLst>
              </a:tr>
            </a:tbl>
          </a:graphicData>
        </a:graphic>
      </p:graphicFrame>
      <p:sp>
        <p:nvSpPr>
          <p:cNvPr id="12" name="Стрелка влево 11"/>
          <p:cNvSpPr/>
          <p:nvPr/>
        </p:nvSpPr>
        <p:spPr>
          <a:xfrm>
            <a:off x="547007" y="267787"/>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4" name="Управляющая кнопка: сведения 13">
            <a:hlinkClick r:id="" action="ppaction://noaction" highlightClick="1"/>
          </p:cNvPr>
          <p:cNvSpPr/>
          <p:nvPr/>
        </p:nvSpPr>
        <p:spPr>
          <a:xfrm>
            <a:off x="6116741" y="11349386"/>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7" name="Прямоугольник 26"/>
          <p:cNvSpPr/>
          <p:nvPr/>
        </p:nvSpPr>
        <p:spPr>
          <a:xfrm>
            <a:off x="576888" y="4272663"/>
            <a:ext cx="5774925" cy="121236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400" b="1" dirty="0" smtClean="0">
                <a:solidFill>
                  <a:prstClr val="black"/>
                </a:solidFill>
              </a:rPr>
              <a:t>                                                       согласовано</a:t>
            </a:r>
            <a:endParaRPr lang="ru-RU" sz="2400" b="1" dirty="0">
              <a:solidFill>
                <a:prstClr val="black"/>
              </a:solidFill>
            </a:endParaRPr>
          </a:p>
          <a:p>
            <a:pPr lvl="0" algn="ctr" defTabSz="685800"/>
            <a:r>
              <a:rPr lang="ru-RU" sz="2400" b="1" dirty="0" smtClean="0">
                <a:solidFill>
                  <a:prstClr val="black"/>
                </a:solidFill>
              </a:rPr>
              <a:t>№ 12 от 30.07.2025 12:47 </a:t>
            </a:r>
            <a:r>
              <a:rPr lang="ru-RU" sz="2400" b="1" dirty="0" err="1" smtClean="0">
                <a:solidFill>
                  <a:prstClr val="black"/>
                </a:solidFill>
              </a:rPr>
              <a:t>инж</a:t>
            </a:r>
            <a:r>
              <a:rPr lang="ru-RU" sz="2400" b="1" dirty="0" smtClean="0">
                <a:solidFill>
                  <a:prstClr val="black"/>
                </a:solidFill>
              </a:rPr>
              <a:t> Петров С.Н. «Внедрение системы регуляции…»</a:t>
            </a:r>
          </a:p>
        </p:txBody>
      </p:sp>
      <p:sp>
        <p:nvSpPr>
          <p:cNvPr id="28" name="Прямоугольник 27"/>
          <p:cNvSpPr/>
          <p:nvPr/>
        </p:nvSpPr>
        <p:spPr>
          <a:xfrm>
            <a:off x="576888" y="2655870"/>
            <a:ext cx="5782006" cy="12123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400" b="1" dirty="0" smtClean="0">
                <a:solidFill>
                  <a:prstClr val="black"/>
                </a:solidFill>
              </a:rPr>
              <a:t>        </a:t>
            </a:r>
            <a:r>
              <a:rPr lang="ru-RU" sz="2400" b="1" dirty="0" smtClean="0">
                <a:solidFill>
                  <a:srgbClr val="FF0000"/>
                </a:solidFill>
              </a:rPr>
              <a:t>Анонимно </a:t>
            </a:r>
            <a:r>
              <a:rPr lang="ru-RU" sz="2400" b="1" dirty="0" smtClean="0">
                <a:solidFill>
                  <a:prstClr val="black"/>
                </a:solidFill>
              </a:rPr>
              <a:t>                 Обсуждение</a:t>
            </a:r>
            <a:endParaRPr lang="ru-RU" sz="2400" b="1" dirty="0">
              <a:solidFill>
                <a:prstClr val="black"/>
              </a:solidFill>
            </a:endParaRPr>
          </a:p>
          <a:p>
            <a:pPr lvl="0" algn="ctr" defTabSz="685800"/>
            <a:r>
              <a:rPr lang="ru-RU" sz="2400" b="1" dirty="0" smtClean="0">
                <a:solidFill>
                  <a:prstClr val="black"/>
                </a:solidFill>
              </a:rPr>
              <a:t>№ 11 от 29.07.2025 11:46………….</a:t>
            </a:r>
          </a:p>
        </p:txBody>
      </p:sp>
      <p:sp>
        <p:nvSpPr>
          <p:cNvPr id="30" name="Прямоугольник 29"/>
          <p:cNvSpPr/>
          <p:nvPr/>
        </p:nvSpPr>
        <p:spPr>
          <a:xfrm>
            <a:off x="576888" y="5903328"/>
            <a:ext cx="5774925" cy="158081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400" b="1" dirty="0" smtClean="0">
                <a:solidFill>
                  <a:prstClr val="black"/>
                </a:solidFill>
              </a:rPr>
              <a:t>                                               на рассмотрении</a:t>
            </a:r>
            <a:endParaRPr lang="ru-RU" sz="2400" b="1" dirty="0">
              <a:solidFill>
                <a:prstClr val="black"/>
              </a:solidFill>
            </a:endParaRPr>
          </a:p>
          <a:p>
            <a:pPr lvl="0" algn="ctr" defTabSz="685800"/>
            <a:r>
              <a:rPr lang="ru-RU" sz="2400" b="1" dirty="0" smtClean="0">
                <a:solidFill>
                  <a:prstClr val="black"/>
                </a:solidFill>
              </a:rPr>
              <a:t>№ 13 от 31.07.2025 10:45 гл. юрист Иванов С.Н. «Внедрение системы правового регулирования на…»</a:t>
            </a:r>
          </a:p>
        </p:txBody>
      </p:sp>
      <p:pic>
        <p:nvPicPr>
          <p:cNvPr id="32" name="Рисунок 31"/>
          <p:cNvPicPr>
            <a:picLocks noChangeAspect="1"/>
          </p:cNvPicPr>
          <p:nvPr/>
        </p:nvPicPr>
        <p:blipFill>
          <a:blip r:embed="rId2"/>
          <a:stretch>
            <a:fillRect/>
          </a:stretch>
        </p:blipFill>
        <p:spPr>
          <a:xfrm>
            <a:off x="3873364" y="10702058"/>
            <a:ext cx="2206943" cy="932769"/>
          </a:xfrm>
          <a:prstGeom prst="rect">
            <a:avLst/>
          </a:prstGeom>
        </p:spPr>
      </p:pic>
      <p:sp>
        <p:nvSpPr>
          <p:cNvPr id="6" name="TextBox 5"/>
          <p:cNvSpPr txBox="1"/>
          <p:nvPr/>
        </p:nvSpPr>
        <p:spPr>
          <a:xfrm>
            <a:off x="734786" y="10009413"/>
            <a:ext cx="5345521" cy="369332"/>
          </a:xfrm>
          <a:prstGeom prst="rect">
            <a:avLst/>
          </a:prstGeom>
          <a:noFill/>
        </p:spPr>
        <p:txBody>
          <a:bodyPr wrap="square" rtlCol="0">
            <a:spAutoFit/>
          </a:bodyPr>
          <a:lstStyle/>
          <a:p>
            <a:pPr algn="ctr"/>
            <a:r>
              <a:rPr lang="ru-RU" b="1" u="sng" dirty="0" smtClean="0"/>
              <a:t>Предложения согласно адресатов</a:t>
            </a:r>
            <a:endParaRPr lang="ru-RU" b="1" u="sng" dirty="0"/>
          </a:p>
        </p:txBody>
      </p:sp>
      <p:sp>
        <p:nvSpPr>
          <p:cNvPr id="7" name="TextBox 6"/>
          <p:cNvSpPr txBox="1"/>
          <p:nvPr/>
        </p:nvSpPr>
        <p:spPr>
          <a:xfrm>
            <a:off x="1910444" y="2181415"/>
            <a:ext cx="2759528" cy="461665"/>
          </a:xfrm>
          <a:prstGeom prst="rect">
            <a:avLst/>
          </a:prstGeom>
          <a:noFill/>
        </p:spPr>
        <p:txBody>
          <a:bodyPr wrap="square" rtlCol="0">
            <a:spAutoFit/>
          </a:bodyPr>
          <a:lstStyle/>
          <a:p>
            <a:pPr algn="ctr"/>
            <a:r>
              <a:rPr lang="ru-RU" sz="2400" b="1" u="sng" dirty="0" smtClean="0"/>
              <a:t>Мой отдел «</a:t>
            </a:r>
            <a:r>
              <a:rPr lang="en-US" sz="2400" b="1" u="sng" dirty="0" smtClean="0"/>
              <a:t>IT</a:t>
            </a:r>
            <a:r>
              <a:rPr lang="ru-RU" sz="2400" b="1" u="sng" dirty="0" smtClean="0"/>
              <a:t>»</a:t>
            </a:r>
            <a:endParaRPr lang="ru-RU" sz="2400" b="1" u="sng" dirty="0"/>
          </a:p>
        </p:txBody>
      </p:sp>
      <p:sp>
        <p:nvSpPr>
          <p:cNvPr id="8" name="TextBox 7"/>
          <p:cNvSpPr txBox="1"/>
          <p:nvPr/>
        </p:nvSpPr>
        <p:spPr>
          <a:xfrm>
            <a:off x="1004207" y="5394677"/>
            <a:ext cx="4335236" cy="461665"/>
          </a:xfrm>
          <a:prstGeom prst="rect">
            <a:avLst/>
          </a:prstGeom>
          <a:noFill/>
        </p:spPr>
        <p:txBody>
          <a:bodyPr wrap="square" rtlCol="0">
            <a:spAutoFit/>
          </a:bodyPr>
          <a:lstStyle/>
          <a:p>
            <a:pPr algn="ctr"/>
            <a:r>
              <a:rPr lang="ru-RU" sz="2400" b="1" u="sng" dirty="0" smtClean="0"/>
              <a:t> смежные предприятия</a:t>
            </a:r>
            <a:endParaRPr lang="ru-RU" sz="2400" b="1" u="sng" dirty="0"/>
          </a:p>
        </p:txBody>
      </p:sp>
      <p:sp>
        <p:nvSpPr>
          <p:cNvPr id="9" name="TextBox 8"/>
          <p:cNvSpPr txBox="1"/>
          <p:nvPr/>
        </p:nvSpPr>
        <p:spPr>
          <a:xfrm>
            <a:off x="1456017" y="3790179"/>
            <a:ext cx="3853542" cy="461665"/>
          </a:xfrm>
          <a:prstGeom prst="rect">
            <a:avLst/>
          </a:prstGeom>
          <a:noFill/>
        </p:spPr>
        <p:txBody>
          <a:bodyPr wrap="square" rtlCol="0">
            <a:spAutoFit/>
          </a:bodyPr>
          <a:lstStyle/>
          <a:p>
            <a:pPr algn="ctr"/>
            <a:r>
              <a:rPr lang="ru-RU" sz="2400" b="1" u="sng" dirty="0" smtClean="0"/>
              <a:t>С коллегами</a:t>
            </a:r>
            <a:endParaRPr lang="ru-RU" sz="2400" b="1" u="sng" dirty="0"/>
          </a:p>
        </p:txBody>
      </p:sp>
      <p:sp>
        <p:nvSpPr>
          <p:cNvPr id="10" name="TextBox 9"/>
          <p:cNvSpPr txBox="1"/>
          <p:nvPr/>
        </p:nvSpPr>
        <p:spPr>
          <a:xfrm>
            <a:off x="2041072" y="7443604"/>
            <a:ext cx="2410550" cy="461665"/>
          </a:xfrm>
          <a:prstGeom prst="rect">
            <a:avLst/>
          </a:prstGeom>
          <a:noFill/>
        </p:spPr>
        <p:txBody>
          <a:bodyPr wrap="square" rtlCol="0">
            <a:spAutoFit/>
          </a:bodyPr>
          <a:lstStyle/>
          <a:p>
            <a:pPr algn="ctr"/>
            <a:r>
              <a:rPr lang="ru-RU" sz="2400" b="1" u="sng" dirty="0" smtClean="0"/>
              <a:t>клиенты</a:t>
            </a:r>
            <a:endParaRPr lang="ru-RU" sz="2400" b="1" u="sng" dirty="0"/>
          </a:p>
        </p:txBody>
      </p:sp>
      <p:sp>
        <p:nvSpPr>
          <p:cNvPr id="19" name="Прямоугольник 18"/>
          <p:cNvSpPr/>
          <p:nvPr/>
        </p:nvSpPr>
        <p:spPr>
          <a:xfrm>
            <a:off x="554087" y="8057221"/>
            <a:ext cx="5774925" cy="121236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400" b="1" dirty="0" smtClean="0">
                <a:solidFill>
                  <a:prstClr val="black"/>
                </a:solidFill>
              </a:rPr>
              <a:t>                                               на рассмотрении</a:t>
            </a:r>
            <a:endParaRPr lang="ru-RU" sz="2400" b="1" dirty="0">
              <a:solidFill>
                <a:prstClr val="black"/>
              </a:solidFill>
            </a:endParaRPr>
          </a:p>
          <a:p>
            <a:pPr lvl="0" algn="ctr" defTabSz="685800"/>
            <a:r>
              <a:rPr lang="ru-RU" sz="2400" b="1" dirty="0" smtClean="0">
                <a:solidFill>
                  <a:prstClr val="black"/>
                </a:solidFill>
              </a:rPr>
              <a:t>№ 12 от 30.07.2025 12:47 </a:t>
            </a:r>
            <a:r>
              <a:rPr lang="ru-RU" sz="2400" b="1" dirty="0" err="1" smtClean="0">
                <a:solidFill>
                  <a:prstClr val="black"/>
                </a:solidFill>
              </a:rPr>
              <a:t>инж</a:t>
            </a:r>
            <a:r>
              <a:rPr lang="ru-RU" sz="2400" b="1" dirty="0" smtClean="0">
                <a:solidFill>
                  <a:prstClr val="black"/>
                </a:solidFill>
              </a:rPr>
              <a:t> Петров С.Н. «Внедрение системы регуляции…»</a:t>
            </a:r>
          </a:p>
        </p:txBody>
      </p:sp>
    </p:spTree>
    <p:extLst>
      <p:ext uri="{BB962C8B-B14F-4D97-AF65-F5344CB8AC3E}">
        <p14:creationId xmlns:p14="http://schemas.microsoft.com/office/powerpoint/2010/main" val="21571054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93914" y="124896"/>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sz="3600" b="1" dirty="0" smtClean="0">
                <a:solidFill>
                  <a:schemeClr val="tx1"/>
                </a:solidFill>
              </a:rPr>
              <a:t>БАЗА ПРЕДЛОЖЕНИЙ</a:t>
            </a:r>
            <a:endParaRPr lang="ru-RU" sz="3600" b="1" dirty="0">
              <a:solidFill>
                <a:schemeClr val="tx1"/>
              </a:solidFill>
            </a:endParaRPr>
          </a:p>
        </p:txBody>
      </p:sp>
      <p:graphicFrame>
        <p:nvGraphicFramePr>
          <p:cNvPr id="4" name="Таблица 3"/>
          <p:cNvGraphicFramePr>
            <a:graphicFrameLocks noGrp="1"/>
          </p:cNvGraphicFramePr>
          <p:nvPr>
            <p:extLst>
              <p:ext uri="{D42A27DB-BD31-4B8C-83A1-F6EECF244321}">
                <p14:modId xmlns:p14="http://schemas.microsoft.com/office/powerpoint/2010/main" val="3357517283"/>
              </p:ext>
            </p:extLst>
          </p:nvPr>
        </p:nvGraphicFramePr>
        <p:xfrm>
          <a:off x="522513" y="783771"/>
          <a:ext cx="5829300" cy="70104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4096374418"/>
                    </a:ext>
                  </a:extLst>
                </a:gridCol>
                <a:gridCol w="2204358">
                  <a:extLst>
                    <a:ext uri="{9D8B030D-6E8A-4147-A177-3AD203B41FA5}">
                      <a16:colId xmlns:a16="http://schemas.microsoft.com/office/drawing/2014/main" val="3004465261"/>
                    </a:ext>
                  </a:extLst>
                </a:gridCol>
                <a:gridCol w="1681842">
                  <a:extLst>
                    <a:ext uri="{9D8B030D-6E8A-4147-A177-3AD203B41FA5}">
                      <a16:colId xmlns:a16="http://schemas.microsoft.com/office/drawing/2014/main" val="495450802"/>
                    </a:ext>
                  </a:extLst>
                </a:gridCol>
              </a:tblGrid>
              <a:tr h="636815">
                <a:tc>
                  <a:txBody>
                    <a:bodyPr/>
                    <a:lstStyle/>
                    <a:p>
                      <a:pPr algn="ctr"/>
                      <a:r>
                        <a:rPr lang="ru-RU" sz="1400" b="1" dirty="0" smtClean="0">
                          <a:solidFill>
                            <a:schemeClr val="tx1"/>
                          </a:solidFill>
                        </a:rPr>
                        <a:t>ОБСУЖДАЕМЫЕ</a:t>
                      </a:r>
                      <a:r>
                        <a:rPr lang="ru-RU" sz="2000" dirty="0" smtClean="0">
                          <a:solidFill>
                            <a:schemeClr val="tx1"/>
                          </a:solidFill>
                        </a:rPr>
                        <a:t> и согласованные</a:t>
                      </a:r>
                      <a:endParaRPr lang="ru-RU" sz="2000" dirty="0">
                        <a:solidFill>
                          <a:schemeClr val="tx1"/>
                        </a:solidFill>
                      </a:endParaRPr>
                    </a:p>
                  </a:txBody>
                  <a:tcPr anchor="ctr">
                    <a:solidFill>
                      <a:srgbClr val="FFC000"/>
                    </a:solidFill>
                  </a:tcPr>
                </a:tc>
                <a:tc>
                  <a:txBody>
                    <a:bodyPr/>
                    <a:lstStyle/>
                    <a:p>
                      <a:pPr algn="ctr"/>
                      <a:r>
                        <a:rPr lang="ru-RU" sz="2000" dirty="0" smtClean="0">
                          <a:solidFill>
                            <a:schemeClr val="tx1"/>
                          </a:solidFill>
                        </a:rPr>
                        <a:t>ИСПОЛНЯЕМЫЕ,</a:t>
                      </a:r>
                      <a:r>
                        <a:rPr lang="ru-RU" sz="2000" baseline="0" dirty="0" smtClean="0">
                          <a:solidFill>
                            <a:schemeClr val="tx1"/>
                          </a:solidFill>
                        </a:rPr>
                        <a:t> </a:t>
                      </a:r>
                    </a:p>
                    <a:p>
                      <a:pPr algn="ctr"/>
                      <a:r>
                        <a:rPr lang="ru-RU" sz="2000" baseline="0" dirty="0" smtClean="0">
                          <a:solidFill>
                            <a:schemeClr val="tx1"/>
                          </a:solidFill>
                        </a:rPr>
                        <a:t>в РАБОТЕ</a:t>
                      </a:r>
                      <a:endParaRPr lang="ru-RU" sz="2000" dirty="0">
                        <a:solidFill>
                          <a:schemeClr val="tx1"/>
                        </a:solidFill>
                      </a:endParaRPr>
                    </a:p>
                  </a:txBody>
                  <a:tcPr anchor="ctr">
                    <a:solidFill>
                      <a:srgbClr val="00B0F0"/>
                    </a:solidFill>
                  </a:tcPr>
                </a:tc>
                <a:tc>
                  <a:txBody>
                    <a:bodyPr/>
                    <a:lstStyle/>
                    <a:p>
                      <a:pPr algn="ctr"/>
                      <a:r>
                        <a:rPr lang="ru-RU" sz="2400" dirty="0" smtClean="0">
                          <a:solidFill>
                            <a:schemeClr val="tx1"/>
                          </a:solidFill>
                        </a:rPr>
                        <a:t>АРХИВ</a:t>
                      </a:r>
                      <a:endParaRPr lang="ru-RU" sz="2400" dirty="0">
                        <a:solidFill>
                          <a:schemeClr val="tx1"/>
                        </a:solidFill>
                      </a:endParaRPr>
                    </a:p>
                  </a:txBody>
                  <a:tcPr anchor="ctr">
                    <a:solidFill>
                      <a:schemeClr val="accent1"/>
                    </a:solidFill>
                  </a:tcP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2065527307"/>
              </p:ext>
            </p:extLst>
          </p:nvPr>
        </p:nvGraphicFramePr>
        <p:xfrm>
          <a:off x="522513" y="1502229"/>
          <a:ext cx="4175113" cy="457200"/>
        </p:xfrm>
        <a:graphic>
          <a:graphicData uri="http://schemas.openxmlformats.org/drawingml/2006/table">
            <a:tbl>
              <a:tblPr firstRow="1" bandRow="1">
                <a:tableStyleId>{5C22544A-7EE6-4342-B048-85BDC9FD1C3A}</a:tableStyleId>
              </a:tblPr>
              <a:tblGrid>
                <a:gridCol w="4175113">
                  <a:extLst>
                    <a:ext uri="{9D8B030D-6E8A-4147-A177-3AD203B41FA5}">
                      <a16:colId xmlns:a16="http://schemas.microsoft.com/office/drawing/2014/main" val="781837115"/>
                    </a:ext>
                  </a:extLst>
                </a:gridCol>
              </a:tblGrid>
              <a:tr h="418393">
                <a:tc>
                  <a:txBody>
                    <a:bodyPr/>
                    <a:lstStyle/>
                    <a:p>
                      <a:pPr algn="ctr"/>
                      <a:r>
                        <a:rPr lang="ru-RU" sz="2400" dirty="0" smtClean="0">
                          <a:solidFill>
                            <a:schemeClr val="tx1"/>
                          </a:solidFill>
                        </a:rPr>
                        <a:t>01 марта 2026 10 ч 12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3869063519"/>
              </p:ext>
            </p:extLst>
          </p:nvPr>
        </p:nvGraphicFramePr>
        <p:xfrm>
          <a:off x="457200" y="2024743"/>
          <a:ext cx="5894612" cy="9405257"/>
        </p:xfrm>
        <a:graphic>
          <a:graphicData uri="http://schemas.openxmlformats.org/drawingml/2006/table">
            <a:tbl>
              <a:tblPr firstRow="1" bandRow="1">
                <a:tableStyleId>{5C22544A-7EE6-4342-B048-85BDC9FD1C3A}</a:tableStyleId>
              </a:tblPr>
              <a:tblGrid>
                <a:gridCol w="5894612">
                  <a:extLst>
                    <a:ext uri="{9D8B030D-6E8A-4147-A177-3AD203B41FA5}">
                      <a16:colId xmlns:a16="http://schemas.microsoft.com/office/drawing/2014/main" val="47972225"/>
                    </a:ext>
                  </a:extLst>
                </a:gridCol>
              </a:tblGrid>
              <a:tr h="9405257">
                <a:tc>
                  <a:txBody>
                    <a:bodyPr/>
                    <a:lstStyle/>
                    <a:p>
                      <a:r>
                        <a:rPr lang="ru-RU" sz="2400" dirty="0" smtClean="0">
                          <a:solidFill>
                            <a:schemeClr val="tx1"/>
                          </a:solidFill>
                        </a:rPr>
                        <a:t>Предложение</a:t>
                      </a:r>
                      <a:r>
                        <a:rPr lang="ru-RU" sz="2400" baseline="0" dirty="0" smtClean="0">
                          <a:solidFill>
                            <a:schemeClr val="tx1"/>
                          </a:solidFill>
                        </a:rPr>
                        <a:t> №…</a:t>
                      </a:r>
                    </a:p>
                    <a:p>
                      <a:r>
                        <a:rPr lang="ru-RU" sz="2400" baseline="0" dirty="0" smtClean="0">
                          <a:solidFill>
                            <a:schemeClr val="tx1"/>
                          </a:solidFill>
                        </a:rPr>
                        <a:t>рейтинг…</a:t>
                      </a:r>
                    </a:p>
                    <a:p>
                      <a:r>
                        <a:rPr lang="ru-RU" sz="2400" baseline="0" dirty="0" smtClean="0">
                          <a:solidFill>
                            <a:schemeClr val="tx1"/>
                          </a:solidFill>
                        </a:rPr>
                        <a:t>Автор (</a:t>
                      </a:r>
                      <a:r>
                        <a:rPr lang="ru-RU" sz="2400" i="1" baseline="0" dirty="0" smtClean="0">
                          <a:solidFill>
                            <a:schemeClr val="tx1"/>
                          </a:solidFill>
                        </a:rPr>
                        <a:t>ФИО, должность</a:t>
                      </a:r>
                      <a:r>
                        <a:rPr lang="ru-RU" sz="2400" baseline="0" dirty="0" smtClean="0">
                          <a:solidFill>
                            <a:schemeClr val="tx1"/>
                          </a:solidFill>
                        </a:rPr>
                        <a:t>)</a:t>
                      </a:r>
                    </a:p>
                    <a:p>
                      <a:r>
                        <a:rPr lang="ru-RU" sz="2400" baseline="0" dirty="0" smtClean="0">
                          <a:solidFill>
                            <a:schemeClr val="tx1"/>
                          </a:solidFill>
                        </a:rPr>
                        <a:t>Соавтор (</a:t>
                      </a:r>
                      <a:r>
                        <a:rPr lang="ru-RU" sz="2400" i="1" baseline="0" dirty="0" smtClean="0">
                          <a:solidFill>
                            <a:schemeClr val="tx1"/>
                          </a:solidFill>
                        </a:rPr>
                        <a:t>ФИО, должность</a:t>
                      </a:r>
                      <a:r>
                        <a:rPr lang="ru-RU" sz="2400" baseline="0" dirty="0" smtClean="0">
                          <a:solidFill>
                            <a:schemeClr val="tx1"/>
                          </a:solidFill>
                        </a:rPr>
                        <a:t>)</a:t>
                      </a:r>
                    </a:p>
                    <a:p>
                      <a:r>
                        <a:rPr lang="ru-RU" sz="2400" baseline="0" dirty="0" smtClean="0">
                          <a:solidFill>
                            <a:schemeClr val="tx1"/>
                          </a:solidFill>
                        </a:rPr>
                        <a:t>Проблема:_____________________</a:t>
                      </a:r>
                    </a:p>
                    <a:p>
                      <a:endParaRPr lang="ru-RU" sz="2400" baseline="0" dirty="0" smtClean="0">
                        <a:solidFill>
                          <a:schemeClr val="tx1"/>
                        </a:solidFill>
                      </a:endParaRPr>
                    </a:p>
                    <a:p>
                      <a:r>
                        <a:rPr lang="ru-RU" sz="2400" baseline="0" dirty="0" smtClean="0">
                          <a:solidFill>
                            <a:schemeClr val="tx1"/>
                          </a:solidFill>
                        </a:rPr>
                        <a:t>Предложение, идея:_________________________</a:t>
                      </a:r>
                    </a:p>
                    <a:p>
                      <a:endParaRPr lang="ru-RU" sz="2400" baseline="0" dirty="0" smtClean="0">
                        <a:solidFill>
                          <a:schemeClr val="tx1"/>
                        </a:solidFill>
                      </a:endParaRPr>
                    </a:p>
                    <a:p>
                      <a:r>
                        <a:rPr lang="ru-RU" sz="2400" baseline="0" dirty="0" smtClean="0">
                          <a:solidFill>
                            <a:schemeClr val="tx1"/>
                          </a:solidFill>
                        </a:rPr>
                        <a:t>Как выполнить:_________________</a:t>
                      </a:r>
                    </a:p>
                    <a:p>
                      <a:r>
                        <a:rPr lang="ru-RU" sz="2400" baseline="0" dirty="0" smtClean="0">
                          <a:solidFill>
                            <a:schemeClr val="tx1"/>
                          </a:solidFill>
                        </a:rPr>
                        <a:t>Требуемые ресурсы:_______________________</a:t>
                      </a:r>
                    </a:p>
                    <a:p>
                      <a:r>
                        <a:rPr lang="ru-RU" sz="2400" u="sng" baseline="0" dirty="0" smtClean="0">
                          <a:solidFill>
                            <a:schemeClr val="tx1"/>
                          </a:solidFill>
                        </a:rPr>
                        <a:t>отправить на согласование </a:t>
                      </a:r>
                    </a:p>
                    <a:p>
                      <a:r>
                        <a:rPr lang="ru-RU" sz="2400" u="sng" baseline="0" dirty="0" smtClean="0">
                          <a:solidFill>
                            <a:schemeClr val="tx1"/>
                          </a:solidFill>
                        </a:rPr>
                        <a:t>комментарии</a:t>
                      </a:r>
                    </a:p>
                    <a:p>
                      <a:pPr algn="l"/>
                      <a:r>
                        <a:rPr lang="ru-RU" sz="2400" u="sng" baseline="0" dirty="0" smtClean="0">
                          <a:solidFill>
                            <a:schemeClr val="tx1"/>
                          </a:solidFill>
                        </a:rPr>
                        <a:t>мой комментарий</a:t>
                      </a:r>
                      <a:endParaRPr lang="ru-RU" sz="3200" u="sng" baseline="0" dirty="0" smtClean="0">
                        <a:solidFill>
                          <a:schemeClr val="tx1"/>
                        </a:solidFill>
                      </a:endParaRPr>
                    </a:p>
                    <a:p>
                      <a:pPr algn="ctr"/>
                      <a:endParaRPr lang="ru-RU" sz="1800" baseline="0" dirty="0" smtClean="0">
                        <a:solidFill>
                          <a:schemeClr val="tx1"/>
                        </a:solidFill>
                      </a:endParaRPr>
                    </a:p>
                    <a:p>
                      <a:pPr algn="ctr"/>
                      <a:r>
                        <a:rPr lang="ru-RU" sz="1800" i="0" u="sng" baseline="0" dirty="0" smtClean="0">
                          <a:solidFill>
                            <a:schemeClr val="tx1"/>
                          </a:solidFill>
                        </a:rPr>
                        <a:t>Все согласования (</a:t>
                      </a:r>
                      <a:r>
                        <a:rPr lang="ru-RU" sz="1800" baseline="0" dirty="0" smtClean="0">
                          <a:solidFill>
                            <a:schemeClr val="tx1"/>
                          </a:solidFill>
                        </a:rPr>
                        <a:t>03.03.2026 14:23 </a:t>
                      </a:r>
                      <a:r>
                        <a:rPr lang="ru-RU" sz="1800" baseline="0" dirty="0" err="1" smtClean="0">
                          <a:solidFill>
                            <a:schemeClr val="tx1"/>
                          </a:solidFill>
                        </a:rPr>
                        <a:t>вед.инж</a:t>
                      </a:r>
                      <a:r>
                        <a:rPr lang="ru-RU" sz="1800" baseline="0" dirty="0" smtClean="0">
                          <a:solidFill>
                            <a:schemeClr val="tx1"/>
                          </a:solidFill>
                        </a:rPr>
                        <a:t> </a:t>
                      </a:r>
                      <a:r>
                        <a:rPr lang="en-US" sz="1800" baseline="0" dirty="0" smtClean="0">
                          <a:solidFill>
                            <a:schemeClr val="tx1"/>
                          </a:solidFill>
                        </a:rPr>
                        <a:t>IT </a:t>
                      </a:r>
                      <a:r>
                        <a:rPr lang="ru-RU" sz="1800" baseline="0" dirty="0" smtClean="0">
                          <a:solidFill>
                            <a:schemeClr val="tx1"/>
                          </a:solidFill>
                        </a:rPr>
                        <a:t>Попов. С.В., .</a:t>
                      </a:r>
                      <a:r>
                        <a:rPr lang="ru-RU" sz="1800" baseline="0" dirty="0" err="1" smtClean="0">
                          <a:solidFill>
                            <a:schemeClr val="tx1"/>
                          </a:solidFill>
                        </a:rPr>
                        <a:t>др</a:t>
                      </a:r>
                      <a:r>
                        <a:rPr lang="ru-RU" sz="1800" baseline="0" dirty="0" smtClean="0">
                          <a:solidFill>
                            <a:schemeClr val="tx1"/>
                          </a:solidFill>
                        </a:rPr>
                        <a:t>)</a:t>
                      </a:r>
                      <a:endParaRPr lang="ru-RU" sz="3200" baseline="0" dirty="0" smtClean="0">
                        <a:solidFill>
                          <a:schemeClr val="tx1"/>
                        </a:solidFill>
                      </a:endParaRPr>
                    </a:p>
                    <a:p>
                      <a:pPr algn="ctr"/>
                      <a:r>
                        <a:rPr lang="ru-RU" sz="2400" baseline="0" dirty="0" smtClean="0">
                          <a:solidFill>
                            <a:schemeClr val="tx1"/>
                          </a:solidFill>
                        </a:rPr>
                        <a:t>голосование:</a:t>
                      </a:r>
                    </a:p>
                    <a:p>
                      <a:pPr algn="ctr"/>
                      <a:r>
                        <a:rPr lang="ru-RU" sz="2400" baseline="0" dirty="0" smtClean="0">
                          <a:solidFill>
                            <a:schemeClr val="tx1"/>
                          </a:solidFill>
                        </a:rPr>
                        <a:t>за     против  воздержался</a:t>
                      </a:r>
                    </a:p>
                    <a:p>
                      <a:pPr algn="l"/>
                      <a:r>
                        <a:rPr lang="ru-RU" sz="3200" dirty="0" smtClean="0">
                          <a:solidFill>
                            <a:schemeClr val="tx1"/>
                          </a:solidFill>
                        </a:rPr>
                        <a:t>             </a:t>
                      </a:r>
                      <a:r>
                        <a:rPr lang="ru-RU" sz="2400" dirty="0" smtClean="0">
                          <a:solidFill>
                            <a:schemeClr val="tx1"/>
                          </a:solidFill>
                        </a:rPr>
                        <a:t>15               4                  2</a:t>
                      </a:r>
                      <a:endParaRPr lang="ru-RU" sz="2400" dirty="0">
                        <a:solidFill>
                          <a:schemeClr val="tx1"/>
                        </a:solidFill>
                      </a:endParaRPr>
                    </a:p>
                  </a:txBody>
                  <a:tcPr/>
                </a:tc>
                <a:extLst>
                  <a:ext uri="{0D108BD9-81ED-4DB2-BD59-A6C34878D82A}">
                    <a16:rowId xmlns:a16="http://schemas.microsoft.com/office/drawing/2014/main" val="3699655430"/>
                  </a:ext>
                </a:extLst>
              </a:tr>
            </a:tbl>
          </a:graphicData>
        </a:graphic>
      </p:graphicFrame>
      <p:graphicFrame>
        <p:nvGraphicFramePr>
          <p:cNvPr id="8" name="Таблица 7"/>
          <p:cNvGraphicFramePr>
            <a:graphicFrameLocks noGrp="1"/>
          </p:cNvGraphicFramePr>
          <p:nvPr>
            <p:extLst>
              <p:ext uri="{D42A27DB-BD31-4B8C-83A1-F6EECF244321}">
                <p14:modId xmlns:p14="http://schemas.microsoft.com/office/powerpoint/2010/main" val="354473888"/>
              </p:ext>
            </p:extLst>
          </p:nvPr>
        </p:nvGraphicFramePr>
        <p:xfrm>
          <a:off x="4294414" y="2057401"/>
          <a:ext cx="2057398" cy="516142"/>
        </p:xfrm>
        <a:graphic>
          <a:graphicData uri="http://schemas.openxmlformats.org/drawingml/2006/table">
            <a:tbl>
              <a:tblPr firstRow="1" bandRow="1">
                <a:tableStyleId>{5C22544A-7EE6-4342-B048-85BDC9FD1C3A}</a:tableStyleId>
              </a:tblPr>
              <a:tblGrid>
                <a:gridCol w="2057398">
                  <a:extLst>
                    <a:ext uri="{9D8B030D-6E8A-4147-A177-3AD203B41FA5}">
                      <a16:colId xmlns:a16="http://schemas.microsoft.com/office/drawing/2014/main" val="121150993"/>
                    </a:ext>
                  </a:extLst>
                </a:gridCol>
              </a:tblGrid>
              <a:tr h="516142">
                <a:tc>
                  <a:txBody>
                    <a:bodyPr/>
                    <a:lstStyle/>
                    <a:p>
                      <a:pPr algn="ctr"/>
                      <a:r>
                        <a:rPr lang="ru-RU" sz="2000" dirty="0" smtClean="0">
                          <a:solidFill>
                            <a:schemeClr val="tx1"/>
                          </a:solidFill>
                        </a:rPr>
                        <a:t>анонимно</a:t>
                      </a:r>
                      <a:endParaRPr lang="ru-RU" sz="2000" dirty="0">
                        <a:solidFill>
                          <a:schemeClr val="tx1"/>
                        </a:solidFill>
                      </a:endParaRPr>
                    </a:p>
                  </a:txBody>
                  <a:tcPr anchor="ctr">
                    <a:solidFill>
                      <a:srgbClr val="FFFF00"/>
                    </a:solidFill>
                  </a:tcPr>
                </a:tc>
                <a:extLst>
                  <a:ext uri="{0D108BD9-81ED-4DB2-BD59-A6C34878D82A}">
                    <a16:rowId xmlns:a16="http://schemas.microsoft.com/office/drawing/2014/main" val="3611746982"/>
                  </a:ext>
                </a:extLst>
              </a:tr>
            </a:tbl>
          </a:graphicData>
        </a:graphic>
      </p:graphicFrame>
      <p:sp>
        <p:nvSpPr>
          <p:cNvPr id="9" name="Улыбающееся лицо 8"/>
          <p:cNvSpPr/>
          <p:nvPr/>
        </p:nvSpPr>
        <p:spPr>
          <a:xfrm>
            <a:off x="1061357" y="9925075"/>
            <a:ext cx="734785" cy="636815"/>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4">
                  <a:lumMod val="60000"/>
                  <a:lumOff val="40000"/>
                </a:schemeClr>
              </a:solidFill>
            </a:endParaRPr>
          </a:p>
        </p:txBody>
      </p:sp>
      <p:sp>
        <p:nvSpPr>
          <p:cNvPr id="20" name="Знак запрета 19"/>
          <p:cNvSpPr/>
          <p:nvPr/>
        </p:nvSpPr>
        <p:spPr>
          <a:xfrm>
            <a:off x="2400299" y="9835269"/>
            <a:ext cx="751113" cy="726621"/>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2" name="Стрелка влево 11"/>
          <p:cNvSpPr/>
          <p:nvPr/>
        </p:nvSpPr>
        <p:spPr>
          <a:xfrm>
            <a:off x="547007" y="267787"/>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Управляющая кнопка: сведения 13">
            <a:hlinkClick r:id="" action="ppaction://noaction" highlightClick="1"/>
          </p:cNvPr>
          <p:cNvSpPr/>
          <p:nvPr/>
        </p:nvSpPr>
        <p:spPr>
          <a:xfrm>
            <a:off x="5963120" y="10949336"/>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Стрелка вниз 10"/>
          <p:cNvSpPr/>
          <p:nvPr/>
        </p:nvSpPr>
        <p:spPr>
          <a:xfrm>
            <a:off x="5766024" y="4560349"/>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6" name="Рисунок 15"/>
          <p:cNvPicPr>
            <a:picLocks noChangeAspect="1"/>
          </p:cNvPicPr>
          <p:nvPr/>
        </p:nvPicPr>
        <p:blipFill>
          <a:blip r:embed="rId2"/>
          <a:stretch>
            <a:fillRect/>
          </a:stretch>
        </p:blipFill>
        <p:spPr>
          <a:xfrm>
            <a:off x="5787364" y="3374495"/>
            <a:ext cx="536494" cy="518205"/>
          </a:xfrm>
          <a:prstGeom prst="rect">
            <a:avLst/>
          </a:prstGeom>
        </p:spPr>
      </p:pic>
      <p:pic>
        <p:nvPicPr>
          <p:cNvPr id="17" name="Рисунок 16"/>
          <p:cNvPicPr>
            <a:picLocks noChangeAspect="1"/>
          </p:cNvPicPr>
          <p:nvPr/>
        </p:nvPicPr>
        <p:blipFill>
          <a:blip r:embed="rId2"/>
          <a:stretch>
            <a:fillRect/>
          </a:stretch>
        </p:blipFill>
        <p:spPr>
          <a:xfrm>
            <a:off x="5764465" y="5367565"/>
            <a:ext cx="536494" cy="518205"/>
          </a:xfrm>
          <a:prstGeom prst="rect">
            <a:avLst/>
          </a:prstGeom>
        </p:spPr>
      </p:pic>
      <p:pic>
        <p:nvPicPr>
          <p:cNvPr id="18" name="Рисунок 17"/>
          <p:cNvPicPr>
            <a:picLocks noChangeAspect="1"/>
          </p:cNvPicPr>
          <p:nvPr/>
        </p:nvPicPr>
        <p:blipFill>
          <a:blip r:embed="rId2"/>
          <a:stretch>
            <a:fillRect/>
          </a:stretch>
        </p:blipFill>
        <p:spPr>
          <a:xfrm>
            <a:off x="5817326" y="5998207"/>
            <a:ext cx="536494" cy="518205"/>
          </a:xfrm>
          <a:prstGeom prst="rect">
            <a:avLst/>
          </a:prstGeom>
        </p:spPr>
      </p:pic>
      <p:sp>
        <p:nvSpPr>
          <p:cNvPr id="21" name="Загнутый угол 20"/>
          <p:cNvSpPr/>
          <p:nvPr/>
        </p:nvSpPr>
        <p:spPr>
          <a:xfrm>
            <a:off x="5299944" y="3424281"/>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Загнутый угол 21"/>
          <p:cNvSpPr/>
          <p:nvPr/>
        </p:nvSpPr>
        <p:spPr>
          <a:xfrm>
            <a:off x="5257828" y="4566964"/>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Загнутый угол 22"/>
          <p:cNvSpPr/>
          <p:nvPr/>
        </p:nvSpPr>
        <p:spPr>
          <a:xfrm>
            <a:off x="5299943" y="5346274"/>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Загнутый угол 23"/>
          <p:cNvSpPr/>
          <p:nvPr/>
        </p:nvSpPr>
        <p:spPr>
          <a:xfrm>
            <a:off x="5323113" y="6047993"/>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Блок-схема: ИЛИ 12"/>
          <p:cNvSpPr/>
          <p:nvPr/>
        </p:nvSpPr>
        <p:spPr>
          <a:xfrm>
            <a:off x="3832640" y="9892255"/>
            <a:ext cx="612648" cy="612648"/>
          </a:xfrm>
          <a:prstGeom prst="flowChartOr">
            <a:avLst/>
          </a:prstGeom>
          <a:solidFill>
            <a:srgbClr val="E6E6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Блок-схема: несколько документов 14"/>
          <p:cNvSpPr/>
          <p:nvPr/>
        </p:nvSpPr>
        <p:spPr>
          <a:xfrm>
            <a:off x="6039183" y="208776"/>
            <a:ext cx="499455" cy="481302"/>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7" name="Рисунок 26"/>
          <p:cNvPicPr>
            <a:picLocks noChangeAspect="1"/>
          </p:cNvPicPr>
          <p:nvPr/>
        </p:nvPicPr>
        <p:blipFill>
          <a:blip r:embed="rId3"/>
          <a:stretch>
            <a:fillRect/>
          </a:stretch>
        </p:blipFill>
        <p:spPr>
          <a:xfrm>
            <a:off x="4697626" y="10090913"/>
            <a:ext cx="1475699" cy="807930"/>
          </a:xfrm>
          <a:prstGeom prst="rect">
            <a:avLst/>
          </a:prstGeom>
        </p:spPr>
      </p:pic>
      <p:sp>
        <p:nvSpPr>
          <p:cNvPr id="7" name="Прямоугольник 6"/>
          <p:cNvSpPr/>
          <p:nvPr/>
        </p:nvSpPr>
        <p:spPr>
          <a:xfrm>
            <a:off x="2939172" y="2024743"/>
            <a:ext cx="1363754" cy="38256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Редакция 2</a:t>
            </a:r>
            <a:endParaRPr lang="ru-RU" dirty="0"/>
          </a:p>
        </p:txBody>
      </p:sp>
      <p:sp>
        <p:nvSpPr>
          <p:cNvPr id="28" name="Управляющая кнопка: далее 27">
            <a:hlinkClick r:id="" action="ppaction://hlinkshowjump?jump=nextslide" highlightClick="1"/>
          </p:cNvPr>
          <p:cNvSpPr/>
          <p:nvPr/>
        </p:nvSpPr>
        <p:spPr>
          <a:xfrm>
            <a:off x="5467470" y="9321229"/>
            <a:ext cx="687332" cy="699191"/>
          </a:xfrm>
          <a:prstGeom prst="actionButtonForwardNex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Прямоугольник 32"/>
          <p:cNvSpPr/>
          <p:nvPr/>
        </p:nvSpPr>
        <p:spPr>
          <a:xfrm>
            <a:off x="4697627" y="1578504"/>
            <a:ext cx="1654186" cy="3957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ПОИСК /</a:t>
            </a:r>
            <a:endParaRPr lang="ru-RU" dirty="0"/>
          </a:p>
        </p:txBody>
      </p:sp>
      <p:sp>
        <p:nvSpPr>
          <p:cNvPr id="34" name="Прямоугольник 33"/>
          <p:cNvSpPr/>
          <p:nvPr/>
        </p:nvSpPr>
        <p:spPr>
          <a:xfrm>
            <a:off x="4322628" y="6516412"/>
            <a:ext cx="1870399" cy="397158"/>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На согласовании</a:t>
            </a:r>
            <a:endParaRPr lang="ru-RU" dirty="0"/>
          </a:p>
        </p:txBody>
      </p:sp>
    </p:spTree>
    <p:extLst>
      <p:ext uri="{BB962C8B-B14F-4D97-AF65-F5344CB8AC3E}">
        <p14:creationId xmlns:p14="http://schemas.microsoft.com/office/powerpoint/2010/main" val="11467910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93914" y="124896"/>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6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БАЗА ПРЕДЛОЖЕНИЙ</a:t>
            </a:r>
            <a:endParaRPr kumimoji="0" lang="ru-RU" sz="36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aphicFrame>
        <p:nvGraphicFramePr>
          <p:cNvPr id="4" name="Таблица 3"/>
          <p:cNvGraphicFramePr>
            <a:graphicFrameLocks noGrp="1"/>
          </p:cNvGraphicFramePr>
          <p:nvPr>
            <p:extLst/>
          </p:nvPr>
        </p:nvGraphicFramePr>
        <p:xfrm>
          <a:off x="522513" y="783771"/>
          <a:ext cx="5829300" cy="70104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4096374418"/>
                    </a:ext>
                  </a:extLst>
                </a:gridCol>
                <a:gridCol w="2204358">
                  <a:extLst>
                    <a:ext uri="{9D8B030D-6E8A-4147-A177-3AD203B41FA5}">
                      <a16:colId xmlns:a16="http://schemas.microsoft.com/office/drawing/2014/main" val="3004465261"/>
                    </a:ext>
                  </a:extLst>
                </a:gridCol>
                <a:gridCol w="1681842">
                  <a:extLst>
                    <a:ext uri="{9D8B030D-6E8A-4147-A177-3AD203B41FA5}">
                      <a16:colId xmlns:a16="http://schemas.microsoft.com/office/drawing/2014/main" val="495450802"/>
                    </a:ext>
                  </a:extLst>
                </a:gridCol>
              </a:tblGrid>
              <a:tr h="636815">
                <a:tc>
                  <a:txBody>
                    <a:bodyPr/>
                    <a:lstStyle/>
                    <a:p>
                      <a:pPr algn="ctr"/>
                      <a:r>
                        <a:rPr lang="ru-RU" sz="1400" b="1" dirty="0" smtClean="0">
                          <a:solidFill>
                            <a:schemeClr val="tx1"/>
                          </a:solidFill>
                        </a:rPr>
                        <a:t>ОБСУЖДАЕМЫЕ</a:t>
                      </a:r>
                      <a:r>
                        <a:rPr lang="ru-RU" sz="2000" dirty="0" smtClean="0">
                          <a:solidFill>
                            <a:schemeClr val="tx1"/>
                          </a:solidFill>
                        </a:rPr>
                        <a:t> и согласованные</a:t>
                      </a:r>
                      <a:endParaRPr lang="ru-RU" sz="2000" dirty="0">
                        <a:solidFill>
                          <a:schemeClr val="tx1"/>
                        </a:solidFill>
                      </a:endParaRPr>
                    </a:p>
                  </a:txBody>
                  <a:tcPr anchor="ctr">
                    <a:solidFill>
                      <a:srgbClr val="FFC000"/>
                    </a:solidFill>
                  </a:tcPr>
                </a:tc>
                <a:tc>
                  <a:txBody>
                    <a:bodyPr/>
                    <a:lstStyle/>
                    <a:p>
                      <a:pPr algn="ctr"/>
                      <a:r>
                        <a:rPr lang="ru-RU" sz="2000" dirty="0" smtClean="0">
                          <a:solidFill>
                            <a:schemeClr val="tx1"/>
                          </a:solidFill>
                        </a:rPr>
                        <a:t>ИСПОЛНЯЕМЫЕ,</a:t>
                      </a:r>
                      <a:r>
                        <a:rPr lang="ru-RU" sz="2000" baseline="0" dirty="0" smtClean="0">
                          <a:solidFill>
                            <a:schemeClr val="tx1"/>
                          </a:solidFill>
                        </a:rPr>
                        <a:t> </a:t>
                      </a:r>
                    </a:p>
                    <a:p>
                      <a:pPr algn="ctr"/>
                      <a:r>
                        <a:rPr lang="ru-RU" sz="2000" baseline="0" dirty="0" smtClean="0">
                          <a:solidFill>
                            <a:schemeClr val="tx1"/>
                          </a:solidFill>
                        </a:rPr>
                        <a:t>в РАБОТЕ</a:t>
                      </a:r>
                      <a:endParaRPr lang="ru-RU" sz="2000" dirty="0">
                        <a:solidFill>
                          <a:schemeClr val="tx1"/>
                        </a:solidFill>
                      </a:endParaRPr>
                    </a:p>
                  </a:txBody>
                  <a:tcPr anchor="ctr">
                    <a:solidFill>
                      <a:schemeClr val="accent1">
                        <a:lumMod val="40000"/>
                        <a:lumOff val="60000"/>
                      </a:schemeClr>
                    </a:solidFill>
                  </a:tcPr>
                </a:tc>
                <a:tc>
                  <a:txBody>
                    <a:bodyPr/>
                    <a:lstStyle/>
                    <a:p>
                      <a:pPr algn="ctr"/>
                      <a:r>
                        <a:rPr lang="ru-RU" sz="2400" dirty="0" smtClean="0">
                          <a:solidFill>
                            <a:schemeClr val="tx1"/>
                          </a:solidFill>
                        </a:rPr>
                        <a:t>АРХИВ</a:t>
                      </a:r>
                      <a:endParaRPr lang="ru-RU" sz="2400" dirty="0">
                        <a:solidFill>
                          <a:schemeClr val="tx1"/>
                        </a:solidFill>
                      </a:endParaRPr>
                    </a:p>
                  </a:txBody>
                  <a:tcPr anchor="ctr">
                    <a:solidFill>
                      <a:schemeClr val="accent1">
                        <a:lumMod val="40000"/>
                        <a:lumOff val="60000"/>
                      </a:schemeClr>
                    </a:solidFill>
                  </a:tcP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3389671950"/>
              </p:ext>
            </p:extLst>
          </p:nvPr>
        </p:nvGraphicFramePr>
        <p:xfrm>
          <a:off x="522514" y="1502229"/>
          <a:ext cx="4063084" cy="457200"/>
        </p:xfrm>
        <a:graphic>
          <a:graphicData uri="http://schemas.openxmlformats.org/drawingml/2006/table">
            <a:tbl>
              <a:tblPr firstRow="1" bandRow="1">
                <a:tableStyleId>{5C22544A-7EE6-4342-B048-85BDC9FD1C3A}</a:tableStyleId>
              </a:tblPr>
              <a:tblGrid>
                <a:gridCol w="4063084">
                  <a:extLst>
                    <a:ext uri="{9D8B030D-6E8A-4147-A177-3AD203B41FA5}">
                      <a16:colId xmlns:a16="http://schemas.microsoft.com/office/drawing/2014/main" val="781837115"/>
                    </a:ext>
                  </a:extLst>
                </a:gridCol>
              </a:tblGrid>
              <a:tr h="418393">
                <a:tc>
                  <a:txBody>
                    <a:bodyPr/>
                    <a:lstStyle/>
                    <a:p>
                      <a:pPr algn="ctr"/>
                      <a:r>
                        <a:rPr lang="ru-RU" sz="2400" dirty="0" smtClean="0">
                          <a:solidFill>
                            <a:schemeClr val="tx1"/>
                          </a:solidFill>
                        </a:rPr>
                        <a:t>01 марта 2026 10 ч 12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2107163565"/>
              </p:ext>
            </p:extLst>
          </p:nvPr>
        </p:nvGraphicFramePr>
        <p:xfrm>
          <a:off x="457200" y="2024743"/>
          <a:ext cx="5894612" cy="9405257"/>
        </p:xfrm>
        <a:graphic>
          <a:graphicData uri="http://schemas.openxmlformats.org/drawingml/2006/table">
            <a:tbl>
              <a:tblPr firstRow="1" bandRow="1">
                <a:tableStyleId>{5C22544A-7EE6-4342-B048-85BDC9FD1C3A}</a:tableStyleId>
              </a:tblPr>
              <a:tblGrid>
                <a:gridCol w="5894612">
                  <a:extLst>
                    <a:ext uri="{9D8B030D-6E8A-4147-A177-3AD203B41FA5}">
                      <a16:colId xmlns:a16="http://schemas.microsoft.com/office/drawing/2014/main" val="47972225"/>
                    </a:ext>
                  </a:extLst>
                </a:gridCol>
              </a:tblGrid>
              <a:tr h="9405257">
                <a:tc>
                  <a:txBody>
                    <a:bodyPr/>
                    <a:lstStyle/>
                    <a:p>
                      <a:r>
                        <a:rPr lang="ru-RU" sz="2400" dirty="0" smtClean="0">
                          <a:solidFill>
                            <a:schemeClr val="tx1"/>
                          </a:solidFill>
                        </a:rPr>
                        <a:t>Предложение</a:t>
                      </a:r>
                      <a:r>
                        <a:rPr lang="ru-RU" sz="2400" baseline="0" dirty="0" smtClean="0">
                          <a:solidFill>
                            <a:schemeClr val="tx1"/>
                          </a:solidFill>
                        </a:rPr>
                        <a:t> №…</a:t>
                      </a:r>
                    </a:p>
                    <a:p>
                      <a:r>
                        <a:rPr lang="ru-RU" sz="2400" baseline="0" dirty="0" smtClean="0">
                          <a:solidFill>
                            <a:schemeClr val="tx1"/>
                          </a:solidFill>
                        </a:rPr>
                        <a:t>рейтинг…</a:t>
                      </a:r>
                    </a:p>
                    <a:p>
                      <a:r>
                        <a:rPr lang="ru-RU" sz="2400" baseline="0" dirty="0" smtClean="0">
                          <a:solidFill>
                            <a:schemeClr val="tx1"/>
                          </a:solidFill>
                        </a:rPr>
                        <a:t>Автор (</a:t>
                      </a:r>
                      <a:r>
                        <a:rPr lang="ru-RU" sz="2400" i="1" baseline="0" dirty="0" smtClean="0">
                          <a:solidFill>
                            <a:schemeClr val="tx1"/>
                          </a:solidFill>
                        </a:rPr>
                        <a:t>ФИО, должность</a:t>
                      </a:r>
                      <a:r>
                        <a:rPr lang="ru-RU" sz="2400" baseline="0" dirty="0" smtClean="0">
                          <a:solidFill>
                            <a:schemeClr val="tx1"/>
                          </a:solidFill>
                        </a:rPr>
                        <a:t>)</a:t>
                      </a:r>
                    </a:p>
                    <a:p>
                      <a:r>
                        <a:rPr lang="ru-RU" sz="2400" baseline="0" dirty="0" smtClean="0">
                          <a:solidFill>
                            <a:schemeClr val="tx1"/>
                          </a:solidFill>
                        </a:rPr>
                        <a:t>Соавтор (</a:t>
                      </a:r>
                      <a:r>
                        <a:rPr lang="ru-RU" sz="2400" i="1" baseline="0" dirty="0" smtClean="0">
                          <a:solidFill>
                            <a:schemeClr val="tx1"/>
                          </a:solidFill>
                        </a:rPr>
                        <a:t>ФИО, должность</a:t>
                      </a:r>
                      <a:r>
                        <a:rPr lang="ru-RU" sz="2400" baseline="0" dirty="0" smtClean="0">
                          <a:solidFill>
                            <a:schemeClr val="tx1"/>
                          </a:solidFill>
                        </a:rPr>
                        <a:t>)</a:t>
                      </a:r>
                    </a:p>
                    <a:p>
                      <a:r>
                        <a:rPr lang="ru-RU" sz="2400" baseline="0" dirty="0" smtClean="0">
                          <a:solidFill>
                            <a:schemeClr val="tx1"/>
                          </a:solidFill>
                        </a:rPr>
                        <a:t>Проблема:_____________________</a:t>
                      </a:r>
                    </a:p>
                    <a:p>
                      <a:endParaRPr lang="ru-RU" sz="2400" baseline="0" dirty="0" smtClean="0">
                        <a:solidFill>
                          <a:schemeClr val="tx1"/>
                        </a:solidFill>
                      </a:endParaRPr>
                    </a:p>
                    <a:p>
                      <a:r>
                        <a:rPr lang="ru-RU" sz="2400" baseline="0" dirty="0" smtClean="0">
                          <a:solidFill>
                            <a:schemeClr val="tx1"/>
                          </a:solidFill>
                        </a:rPr>
                        <a:t>Предложение, идея:_________________________</a:t>
                      </a:r>
                    </a:p>
                    <a:p>
                      <a:endParaRPr lang="ru-RU" sz="2400" baseline="0" dirty="0" smtClean="0">
                        <a:solidFill>
                          <a:schemeClr val="tx1"/>
                        </a:solidFill>
                      </a:endParaRPr>
                    </a:p>
                    <a:p>
                      <a:r>
                        <a:rPr lang="ru-RU" sz="2400" baseline="0" dirty="0" smtClean="0">
                          <a:solidFill>
                            <a:schemeClr val="tx1"/>
                          </a:solidFill>
                        </a:rPr>
                        <a:t>Как выполнить:_________________</a:t>
                      </a:r>
                    </a:p>
                    <a:p>
                      <a:r>
                        <a:rPr lang="ru-RU" sz="2400" baseline="0" dirty="0" smtClean="0">
                          <a:solidFill>
                            <a:schemeClr val="tx1"/>
                          </a:solidFill>
                        </a:rPr>
                        <a:t>Требуемые ресурсы:_______________________</a:t>
                      </a:r>
                    </a:p>
                    <a:p>
                      <a:r>
                        <a:rPr lang="ru-RU" sz="2400" u="sng" baseline="0" dirty="0" smtClean="0">
                          <a:solidFill>
                            <a:schemeClr val="tx1"/>
                          </a:solidFill>
                        </a:rPr>
                        <a:t>отправить на согласование </a:t>
                      </a:r>
                    </a:p>
                    <a:p>
                      <a:r>
                        <a:rPr lang="ru-RU" sz="2400" u="sng" baseline="0" dirty="0" smtClean="0">
                          <a:solidFill>
                            <a:schemeClr val="tx1"/>
                          </a:solidFill>
                        </a:rPr>
                        <a:t>комментарии</a:t>
                      </a:r>
                    </a:p>
                    <a:p>
                      <a:pPr algn="ctr"/>
                      <a:endParaRPr lang="ru-RU" sz="1800" baseline="0" dirty="0" smtClean="0">
                        <a:solidFill>
                          <a:schemeClr val="tx1"/>
                        </a:solidFill>
                      </a:endParaRPr>
                    </a:p>
                    <a:p>
                      <a:pPr algn="l"/>
                      <a:endParaRPr lang="ru-RU" sz="2400" i="0" u="sng" baseline="0" dirty="0" smtClean="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ru-RU" sz="2400" i="0" u="sng" baseline="0" dirty="0" smtClean="0">
                          <a:solidFill>
                            <a:schemeClr val="tx1"/>
                          </a:solidFill>
                        </a:rPr>
                        <a:t>согласовано           </a:t>
                      </a:r>
                      <a:r>
                        <a:rPr kumimoji="0" lang="ru-RU" sz="2400" b="1" i="0" u="sng" strike="noStrike" kern="1200" cap="none" spc="0" normalizeH="0" baseline="0" noProof="0" dirty="0" smtClean="0">
                          <a:ln>
                            <a:noFill/>
                          </a:ln>
                          <a:solidFill>
                            <a:prstClr val="black"/>
                          </a:solidFill>
                          <a:effectLst/>
                          <a:uLnTx/>
                          <a:uFillTx/>
                          <a:latin typeface="+mn-lt"/>
                          <a:ea typeface="+mn-ea"/>
                          <a:cs typeface="+mn-cs"/>
                        </a:rPr>
                        <a:t>мой комментарий</a:t>
                      </a:r>
                      <a:endParaRPr kumimoji="0" lang="ru-RU" sz="3200" b="1" i="0" u="sng" strike="noStrike" kern="1200" cap="none" spc="0" normalizeH="0" baseline="0" noProof="0" dirty="0" smtClean="0">
                        <a:ln>
                          <a:noFill/>
                        </a:ln>
                        <a:solidFill>
                          <a:prstClr val="black"/>
                        </a:solidFill>
                        <a:effectLst/>
                        <a:uLnTx/>
                        <a:uFillTx/>
                        <a:latin typeface="+mn-lt"/>
                        <a:ea typeface="+mn-ea"/>
                        <a:cs typeface="+mn-cs"/>
                      </a:endParaRPr>
                    </a:p>
                    <a:p>
                      <a:pPr algn="l"/>
                      <a:endParaRPr lang="ru-RU" sz="2400" i="0" u="sng" baseline="0" dirty="0" smtClean="0">
                        <a:solidFill>
                          <a:schemeClr val="tx1"/>
                        </a:solidFill>
                      </a:endParaRPr>
                    </a:p>
                    <a:p>
                      <a:pPr algn="l"/>
                      <a:endParaRPr lang="ru-RU" sz="2400" i="0" u="sng" baseline="0" dirty="0" smtClean="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ru-RU" sz="2400" i="0" u="sng" baseline="0" dirty="0" smtClean="0">
                          <a:solidFill>
                            <a:schemeClr val="tx1"/>
                          </a:solidFill>
                        </a:rPr>
                        <a:t>отказ                        </a:t>
                      </a:r>
                      <a:r>
                        <a:rPr kumimoji="0" lang="ru-RU" sz="2400" b="1" i="0" u="sng" strike="noStrike" kern="1200" cap="none" spc="0" normalizeH="0" baseline="0" noProof="0" dirty="0" smtClean="0">
                          <a:ln>
                            <a:noFill/>
                          </a:ln>
                          <a:solidFill>
                            <a:prstClr val="black"/>
                          </a:solidFill>
                          <a:effectLst/>
                          <a:uLnTx/>
                          <a:uFillTx/>
                          <a:latin typeface="+mn-lt"/>
                          <a:ea typeface="+mn-ea"/>
                          <a:cs typeface="+mn-cs"/>
                        </a:rPr>
                        <a:t>мой комментарий</a:t>
                      </a:r>
                      <a:endParaRPr lang="ru-RU" sz="3200" baseline="0" dirty="0" smtClean="0">
                        <a:solidFill>
                          <a:schemeClr val="tx1"/>
                        </a:solidFill>
                      </a:endParaRPr>
                    </a:p>
                    <a:p>
                      <a:pPr algn="l"/>
                      <a:endParaRPr lang="ru-RU" sz="3200" u="none" baseline="0" dirty="0" smtClean="0">
                        <a:solidFill>
                          <a:schemeClr val="tx1"/>
                        </a:solidFill>
                      </a:endParaRPr>
                    </a:p>
                    <a:p>
                      <a:pPr algn="l"/>
                      <a:r>
                        <a:rPr lang="ru-RU" sz="2400" u="sng" baseline="0" dirty="0" smtClean="0">
                          <a:solidFill>
                            <a:schemeClr val="tx1"/>
                          </a:solidFill>
                        </a:rPr>
                        <a:t>список согласований и отказов</a:t>
                      </a:r>
                      <a:r>
                        <a:rPr lang="ru-RU" sz="2400" u="sng" dirty="0" smtClean="0">
                          <a:solidFill>
                            <a:schemeClr val="tx1"/>
                          </a:solidFill>
                        </a:rPr>
                        <a:t>                           </a:t>
                      </a:r>
                      <a:endParaRPr lang="ru-RU" sz="2400" u="sng" dirty="0">
                        <a:solidFill>
                          <a:schemeClr val="tx1"/>
                        </a:solidFill>
                      </a:endParaRPr>
                    </a:p>
                  </a:txBody>
                  <a:tcPr/>
                </a:tc>
                <a:extLst>
                  <a:ext uri="{0D108BD9-81ED-4DB2-BD59-A6C34878D82A}">
                    <a16:rowId xmlns:a16="http://schemas.microsoft.com/office/drawing/2014/main" val="3699655430"/>
                  </a:ext>
                </a:extLst>
              </a:tr>
            </a:tbl>
          </a:graphicData>
        </a:graphic>
      </p:graphicFrame>
      <p:graphicFrame>
        <p:nvGraphicFramePr>
          <p:cNvPr id="8" name="Таблица 7"/>
          <p:cNvGraphicFramePr>
            <a:graphicFrameLocks noGrp="1"/>
          </p:cNvGraphicFramePr>
          <p:nvPr>
            <p:extLst/>
          </p:nvPr>
        </p:nvGraphicFramePr>
        <p:xfrm>
          <a:off x="4294414" y="2057401"/>
          <a:ext cx="2057398" cy="516142"/>
        </p:xfrm>
        <a:graphic>
          <a:graphicData uri="http://schemas.openxmlformats.org/drawingml/2006/table">
            <a:tbl>
              <a:tblPr firstRow="1" bandRow="1">
                <a:tableStyleId>{5C22544A-7EE6-4342-B048-85BDC9FD1C3A}</a:tableStyleId>
              </a:tblPr>
              <a:tblGrid>
                <a:gridCol w="2057398">
                  <a:extLst>
                    <a:ext uri="{9D8B030D-6E8A-4147-A177-3AD203B41FA5}">
                      <a16:colId xmlns:a16="http://schemas.microsoft.com/office/drawing/2014/main" val="121150993"/>
                    </a:ext>
                  </a:extLst>
                </a:gridCol>
              </a:tblGrid>
              <a:tr h="516142">
                <a:tc>
                  <a:txBody>
                    <a:bodyPr/>
                    <a:lstStyle/>
                    <a:p>
                      <a:pPr algn="ctr"/>
                      <a:r>
                        <a:rPr lang="ru-RU" sz="2000" dirty="0" smtClean="0">
                          <a:solidFill>
                            <a:schemeClr val="tx1"/>
                          </a:solidFill>
                        </a:rPr>
                        <a:t>анонимно</a:t>
                      </a:r>
                      <a:endParaRPr lang="ru-RU" sz="2000" dirty="0">
                        <a:solidFill>
                          <a:schemeClr val="tx1"/>
                        </a:solidFill>
                      </a:endParaRPr>
                    </a:p>
                  </a:txBody>
                  <a:tcPr anchor="ctr">
                    <a:solidFill>
                      <a:srgbClr val="FFFF00"/>
                    </a:solidFill>
                  </a:tcPr>
                </a:tc>
                <a:extLst>
                  <a:ext uri="{0D108BD9-81ED-4DB2-BD59-A6C34878D82A}">
                    <a16:rowId xmlns:a16="http://schemas.microsoft.com/office/drawing/2014/main" val="3611746982"/>
                  </a:ext>
                </a:extLst>
              </a:tr>
            </a:tbl>
          </a:graphicData>
        </a:graphic>
      </p:graphicFrame>
      <p:sp>
        <p:nvSpPr>
          <p:cNvPr id="12" name="Стрелка влево 11"/>
          <p:cNvSpPr/>
          <p:nvPr/>
        </p:nvSpPr>
        <p:spPr>
          <a:xfrm>
            <a:off x="547007" y="267787"/>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4" name="Управляющая кнопка: сведения 13">
            <a:hlinkClick r:id="" action="ppaction://noaction" highlightClick="1"/>
          </p:cNvPr>
          <p:cNvSpPr/>
          <p:nvPr/>
        </p:nvSpPr>
        <p:spPr>
          <a:xfrm>
            <a:off x="5920038" y="11012608"/>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1" name="Стрелка вниз 10"/>
          <p:cNvSpPr/>
          <p:nvPr/>
        </p:nvSpPr>
        <p:spPr>
          <a:xfrm>
            <a:off x="5766024" y="4560349"/>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pic>
        <p:nvPicPr>
          <p:cNvPr id="16" name="Рисунок 15"/>
          <p:cNvPicPr>
            <a:picLocks noChangeAspect="1"/>
          </p:cNvPicPr>
          <p:nvPr/>
        </p:nvPicPr>
        <p:blipFill>
          <a:blip r:embed="rId2"/>
          <a:stretch>
            <a:fillRect/>
          </a:stretch>
        </p:blipFill>
        <p:spPr>
          <a:xfrm>
            <a:off x="5787364" y="3374495"/>
            <a:ext cx="536494" cy="518205"/>
          </a:xfrm>
          <a:prstGeom prst="rect">
            <a:avLst/>
          </a:prstGeom>
        </p:spPr>
      </p:pic>
      <p:pic>
        <p:nvPicPr>
          <p:cNvPr id="17" name="Рисунок 16"/>
          <p:cNvPicPr>
            <a:picLocks noChangeAspect="1"/>
          </p:cNvPicPr>
          <p:nvPr/>
        </p:nvPicPr>
        <p:blipFill>
          <a:blip r:embed="rId2"/>
          <a:stretch>
            <a:fillRect/>
          </a:stretch>
        </p:blipFill>
        <p:spPr>
          <a:xfrm>
            <a:off x="5764465" y="5367565"/>
            <a:ext cx="536494" cy="518205"/>
          </a:xfrm>
          <a:prstGeom prst="rect">
            <a:avLst/>
          </a:prstGeom>
        </p:spPr>
      </p:pic>
      <p:pic>
        <p:nvPicPr>
          <p:cNvPr id="18" name="Рисунок 17"/>
          <p:cNvPicPr>
            <a:picLocks noChangeAspect="1"/>
          </p:cNvPicPr>
          <p:nvPr/>
        </p:nvPicPr>
        <p:blipFill>
          <a:blip r:embed="rId2"/>
          <a:stretch>
            <a:fillRect/>
          </a:stretch>
        </p:blipFill>
        <p:spPr>
          <a:xfrm>
            <a:off x="5817326" y="5998207"/>
            <a:ext cx="536494" cy="518205"/>
          </a:xfrm>
          <a:prstGeom prst="rect">
            <a:avLst/>
          </a:prstGeom>
        </p:spPr>
      </p:pic>
      <p:sp>
        <p:nvSpPr>
          <p:cNvPr id="21" name="Загнутый угол 20"/>
          <p:cNvSpPr/>
          <p:nvPr/>
        </p:nvSpPr>
        <p:spPr>
          <a:xfrm>
            <a:off x="5299944" y="3424281"/>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2" name="Загнутый угол 21"/>
          <p:cNvSpPr/>
          <p:nvPr/>
        </p:nvSpPr>
        <p:spPr>
          <a:xfrm>
            <a:off x="5257828" y="4566964"/>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3" name="Загнутый угол 22"/>
          <p:cNvSpPr/>
          <p:nvPr/>
        </p:nvSpPr>
        <p:spPr>
          <a:xfrm>
            <a:off x="5299943" y="5346274"/>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4" name="Загнутый угол 23"/>
          <p:cNvSpPr/>
          <p:nvPr/>
        </p:nvSpPr>
        <p:spPr>
          <a:xfrm>
            <a:off x="5323113" y="6047993"/>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5" name="Блок-схема: несколько документов 14"/>
          <p:cNvSpPr/>
          <p:nvPr/>
        </p:nvSpPr>
        <p:spPr>
          <a:xfrm>
            <a:off x="6039183" y="208776"/>
            <a:ext cx="499455" cy="481302"/>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7" name="Прямоугольник 6"/>
          <p:cNvSpPr/>
          <p:nvPr/>
        </p:nvSpPr>
        <p:spPr>
          <a:xfrm>
            <a:off x="2408465" y="7848598"/>
            <a:ext cx="408214" cy="40413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b="1"/>
          </a:p>
        </p:txBody>
      </p:sp>
      <p:sp>
        <p:nvSpPr>
          <p:cNvPr id="25" name="Прямоугольник 24"/>
          <p:cNvSpPr/>
          <p:nvPr/>
        </p:nvSpPr>
        <p:spPr>
          <a:xfrm>
            <a:off x="2408465" y="8963570"/>
            <a:ext cx="408214" cy="40413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p:cNvSpPr txBox="1"/>
          <p:nvPr/>
        </p:nvSpPr>
        <p:spPr>
          <a:xfrm>
            <a:off x="5490640" y="11219436"/>
            <a:ext cx="184731" cy="369332"/>
          </a:xfrm>
          <a:prstGeom prst="rect">
            <a:avLst/>
          </a:prstGeom>
          <a:noFill/>
        </p:spPr>
        <p:txBody>
          <a:bodyPr wrap="none" rtlCol="0">
            <a:spAutoFit/>
          </a:bodyPr>
          <a:lstStyle/>
          <a:p>
            <a:endParaRPr lang="ru-RU" dirty="0"/>
          </a:p>
        </p:txBody>
      </p:sp>
      <p:sp>
        <p:nvSpPr>
          <p:cNvPr id="28" name="Скругленный прямоугольник 27"/>
          <p:cNvSpPr/>
          <p:nvPr/>
        </p:nvSpPr>
        <p:spPr>
          <a:xfrm>
            <a:off x="4585597" y="10382041"/>
            <a:ext cx="1300503" cy="837395"/>
          </a:xfrm>
          <a:prstGeom prst="roundRect">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Вернуть карточку</a:t>
            </a:r>
            <a:endParaRPr lang="ru-RU" dirty="0"/>
          </a:p>
        </p:txBody>
      </p:sp>
      <p:sp>
        <p:nvSpPr>
          <p:cNvPr id="29" name="Управляющая кнопка: далее 28">
            <a:hlinkClick r:id="" action="ppaction://hlinkshowjump?jump=nextslide" highlightClick="1"/>
          </p:cNvPr>
          <p:cNvSpPr/>
          <p:nvPr/>
        </p:nvSpPr>
        <p:spPr>
          <a:xfrm>
            <a:off x="4609740" y="6576562"/>
            <a:ext cx="534486" cy="690734"/>
          </a:xfrm>
          <a:prstGeom prst="actionButtonForwardNex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Прямоугольник 30"/>
          <p:cNvSpPr/>
          <p:nvPr/>
        </p:nvSpPr>
        <p:spPr>
          <a:xfrm>
            <a:off x="3020786" y="2143686"/>
            <a:ext cx="1282140" cy="26362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Редакция 2</a:t>
            </a:r>
            <a:endParaRPr lang="ru-RU" dirty="0"/>
          </a:p>
        </p:txBody>
      </p:sp>
      <p:sp>
        <p:nvSpPr>
          <p:cNvPr id="32" name="Прямоугольник 31"/>
          <p:cNvSpPr/>
          <p:nvPr/>
        </p:nvSpPr>
        <p:spPr>
          <a:xfrm>
            <a:off x="4585597" y="1452151"/>
            <a:ext cx="1745631" cy="5072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ПОИСК/</a:t>
            </a:r>
            <a:endParaRPr lang="ru-RU" dirty="0"/>
          </a:p>
        </p:txBody>
      </p:sp>
      <p:sp>
        <p:nvSpPr>
          <p:cNvPr id="33" name="Прямоугольник 32"/>
          <p:cNvSpPr/>
          <p:nvPr/>
        </p:nvSpPr>
        <p:spPr>
          <a:xfrm>
            <a:off x="3437163" y="10420592"/>
            <a:ext cx="914400" cy="798844"/>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сохранить</a:t>
            </a:r>
            <a:endParaRPr lang="ru-RU" dirty="0"/>
          </a:p>
        </p:txBody>
      </p:sp>
    </p:spTree>
    <p:extLst>
      <p:ext uri="{BB962C8B-B14F-4D97-AF65-F5344CB8AC3E}">
        <p14:creationId xmlns:p14="http://schemas.microsoft.com/office/powerpoint/2010/main" val="20679069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32682" y="267787"/>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6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БАЗА ПРЕДЛОЖЕНИЙ</a:t>
            </a:r>
            <a:endParaRPr kumimoji="0" lang="ru-RU" sz="36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aphicFrame>
        <p:nvGraphicFramePr>
          <p:cNvPr id="4" name="Таблица 3"/>
          <p:cNvGraphicFramePr>
            <a:graphicFrameLocks noGrp="1"/>
          </p:cNvGraphicFramePr>
          <p:nvPr>
            <p:extLst>
              <p:ext uri="{D42A27DB-BD31-4B8C-83A1-F6EECF244321}">
                <p14:modId xmlns:p14="http://schemas.microsoft.com/office/powerpoint/2010/main" val="3189953427"/>
              </p:ext>
            </p:extLst>
          </p:nvPr>
        </p:nvGraphicFramePr>
        <p:xfrm>
          <a:off x="522513" y="910764"/>
          <a:ext cx="5829300" cy="76200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4096374418"/>
                    </a:ext>
                  </a:extLst>
                </a:gridCol>
                <a:gridCol w="2204358">
                  <a:extLst>
                    <a:ext uri="{9D8B030D-6E8A-4147-A177-3AD203B41FA5}">
                      <a16:colId xmlns:a16="http://schemas.microsoft.com/office/drawing/2014/main" val="3004465261"/>
                    </a:ext>
                  </a:extLst>
                </a:gridCol>
                <a:gridCol w="1681842">
                  <a:extLst>
                    <a:ext uri="{9D8B030D-6E8A-4147-A177-3AD203B41FA5}">
                      <a16:colId xmlns:a16="http://schemas.microsoft.com/office/drawing/2014/main" val="495450802"/>
                    </a:ext>
                  </a:extLst>
                </a:gridCol>
              </a:tblGrid>
              <a:tr h="636815">
                <a:tc>
                  <a:txBody>
                    <a:bodyPr/>
                    <a:lstStyle/>
                    <a:p>
                      <a:pPr algn="ctr"/>
                      <a:r>
                        <a:rPr lang="ru-RU" sz="1400" b="1" dirty="0" smtClean="0">
                          <a:solidFill>
                            <a:schemeClr val="tx1"/>
                          </a:solidFill>
                        </a:rPr>
                        <a:t>ОБСУЖДАЕМЫЕ и</a:t>
                      </a:r>
                      <a:r>
                        <a:rPr lang="ru-RU" sz="2400" dirty="0" smtClean="0">
                          <a:solidFill>
                            <a:schemeClr val="tx1"/>
                          </a:solidFill>
                        </a:rPr>
                        <a:t> </a:t>
                      </a:r>
                      <a:r>
                        <a:rPr lang="ru-RU" sz="2000" dirty="0" smtClean="0">
                          <a:solidFill>
                            <a:schemeClr val="tx1"/>
                          </a:solidFill>
                        </a:rPr>
                        <a:t>согласованные</a:t>
                      </a:r>
                      <a:endParaRPr lang="ru-RU" sz="2000" dirty="0">
                        <a:solidFill>
                          <a:schemeClr val="tx1"/>
                        </a:solidFill>
                      </a:endParaRPr>
                    </a:p>
                  </a:txBody>
                  <a:tcPr anchor="ctr">
                    <a:solidFill>
                      <a:srgbClr val="00B0F0"/>
                    </a:solidFill>
                  </a:tcPr>
                </a:tc>
                <a:tc>
                  <a:txBody>
                    <a:bodyPr/>
                    <a:lstStyle/>
                    <a:p>
                      <a:pPr algn="ctr"/>
                      <a:r>
                        <a:rPr lang="ru-RU" sz="2000" dirty="0" smtClean="0">
                          <a:solidFill>
                            <a:schemeClr val="tx1"/>
                          </a:solidFill>
                        </a:rPr>
                        <a:t>ИСПОЛНЯЕМЫЕ,</a:t>
                      </a:r>
                      <a:r>
                        <a:rPr lang="ru-RU" sz="2000" baseline="0" dirty="0" smtClean="0">
                          <a:solidFill>
                            <a:schemeClr val="tx1"/>
                          </a:solidFill>
                        </a:rPr>
                        <a:t> </a:t>
                      </a:r>
                    </a:p>
                    <a:p>
                      <a:pPr algn="ctr"/>
                      <a:r>
                        <a:rPr lang="ru-RU" sz="2000" baseline="0" dirty="0" smtClean="0">
                          <a:solidFill>
                            <a:schemeClr val="tx1"/>
                          </a:solidFill>
                        </a:rPr>
                        <a:t>в РАБОТЕ</a:t>
                      </a:r>
                      <a:endParaRPr lang="ru-RU" sz="2000" dirty="0">
                        <a:solidFill>
                          <a:schemeClr val="tx1"/>
                        </a:solidFill>
                      </a:endParaRPr>
                    </a:p>
                  </a:txBody>
                  <a:tcPr anchor="ctr">
                    <a:solidFill>
                      <a:srgbClr val="00B050"/>
                    </a:solidFill>
                  </a:tcPr>
                </a:tc>
                <a:tc>
                  <a:txBody>
                    <a:bodyPr/>
                    <a:lstStyle/>
                    <a:p>
                      <a:pPr algn="ctr"/>
                      <a:r>
                        <a:rPr lang="ru-RU" sz="2400" dirty="0" smtClean="0">
                          <a:solidFill>
                            <a:schemeClr val="tx1"/>
                          </a:solidFill>
                        </a:rPr>
                        <a:t>АРХИВ</a:t>
                      </a:r>
                      <a:endParaRPr lang="ru-RU" sz="2400" dirty="0">
                        <a:solidFill>
                          <a:schemeClr val="tx1"/>
                        </a:solidFill>
                      </a:endParaRPr>
                    </a:p>
                  </a:txBody>
                  <a:tcPr anchor="ctr">
                    <a:solidFill>
                      <a:schemeClr val="accent1"/>
                    </a:solidFill>
                  </a:tcP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nvPr>
        </p:nvGraphicFramePr>
        <p:xfrm>
          <a:off x="547007" y="1764751"/>
          <a:ext cx="4065816" cy="457200"/>
        </p:xfrm>
        <a:graphic>
          <a:graphicData uri="http://schemas.openxmlformats.org/drawingml/2006/table">
            <a:tbl>
              <a:tblPr firstRow="1" bandRow="1">
                <a:tableStyleId>{5C22544A-7EE6-4342-B048-85BDC9FD1C3A}</a:tableStyleId>
              </a:tblPr>
              <a:tblGrid>
                <a:gridCol w="4065816">
                  <a:extLst>
                    <a:ext uri="{9D8B030D-6E8A-4147-A177-3AD203B41FA5}">
                      <a16:colId xmlns:a16="http://schemas.microsoft.com/office/drawing/2014/main" val="781837115"/>
                    </a:ext>
                  </a:extLst>
                </a:gridCol>
              </a:tblGrid>
              <a:tr h="457200">
                <a:tc>
                  <a:txBody>
                    <a:bodyPr/>
                    <a:lstStyle/>
                    <a:p>
                      <a:pPr algn="ctr"/>
                      <a:r>
                        <a:rPr lang="ru-RU" sz="2400" dirty="0" smtClean="0">
                          <a:solidFill>
                            <a:schemeClr val="tx1"/>
                          </a:solidFill>
                        </a:rPr>
                        <a:t>01 марта 2026</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3" name="Таблица 2"/>
          <p:cNvGraphicFramePr>
            <a:graphicFrameLocks noGrp="1"/>
          </p:cNvGraphicFramePr>
          <p:nvPr>
            <p:extLst/>
          </p:nvPr>
        </p:nvGraphicFramePr>
        <p:xfrm>
          <a:off x="4669972" y="1779239"/>
          <a:ext cx="1627466" cy="413220"/>
        </p:xfrm>
        <a:graphic>
          <a:graphicData uri="http://schemas.openxmlformats.org/drawingml/2006/table">
            <a:tbl>
              <a:tblPr firstRow="1" bandRow="1">
                <a:tableStyleId>{5C22544A-7EE6-4342-B048-85BDC9FD1C3A}</a:tableStyleId>
              </a:tblPr>
              <a:tblGrid>
                <a:gridCol w="1627466">
                  <a:extLst>
                    <a:ext uri="{9D8B030D-6E8A-4147-A177-3AD203B41FA5}">
                      <a16:colId xmlns:a16="http://schemas.microsoft.com/office/drawing/2014/main" val="3566676932"/>
                    </a:ext>
                  </a:extLst>
                </a:gridCol>
              </a:tblGrid>
              <a:tr h="413220">
                <a:tc>
                  <a:txBody>
                    <a:bodyPr/>
                    <a:lstStyle/>
                    <a:p>
                      <a:r>
                        <a:rPr lang="ru-RU" dirty="0" smtClean="0"/>
                        <a:t>поиск</a:t>
                      </a:r>
                      <a:endParaRPr lang="ru-RU" dirty="0"/>
                    </a:p>
                  </a:txBody>
                  <a:tcPr/>
                </a:tc>
                <a:extLst>
                  <a:ext uri="{0D108BD9-81ED-4DB2-BD59-A6C34878D82A}">
                    <a16:rowId xmlns:a16="http://schemas.microsoft.com/office/drawing/2014/main" val="1940349864"/>
                  </a:ext>
                </a:extLst>
              </a:tr>
            </a:tbl>
          </a:graphicData>
        </a:graphic>
      </p:graphicFrame>
      <p:sp>
        <p:nvSpPr>
          <p:cNvPr id="12" name="Стрелка влево 11"/>
          <p:cNvSpPr/>
          <p:nvPr/>
        </p:nvSpPr>
        <p:spPr>
          <a:xfrm>
            <a:off x="547007" y="267787"/>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4" name="Управляющая кнопка: сведения 13">
            <a:hlinkClick r:id="" action="ppaction://noaction" highlightClick="1"/>
          </p:cNvPr>
          <p:cNvSpPr/>
          <p:nvPr/>
        </p:nvSpPr>
        <p:spPr>
          <a:xfrm>
            <a:off x="6116741" y="11349386"/>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7" name="Прямоугольник 26"/>
          <p:cNvSpPr/>
          <p:nvPr/>
        </p:nvSpPr>
        <p:spPr>
          <a:xfrm>
            <a:off x="554087" y="5820730"/>
            <a:ext cx="5774925" cy="121236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в</a:t>
            </a:r>
            <a:r>
              <a:rPr kumimoji="0" lang="ru-RU" sz="2400" b="1" i="0" u="none" strike="noStrike" kern="1200" cap="none" spc="0" normalizeH="0" noProof="0" dirty="0" smtClean="0">
                <a:ln>
                  <a:noFill/>
                </a:ln>
                <a:solidFill>
                  <a:prstClr val="black"/>
                </a:solidFill>
                <a:effectLst/>
                <a:uLnTx/>
                <a:uFillTx/>
                <a:latin typeface="Calibri" panose="020F0502020204030204" pitchFamily="34" charset="0"/>
                <a:ea typeface="+mn-ea"/>
                <a:cs typeface="+mn-cs"/>
              </a:rPr>
              <a:t> работе</a:t>
            </a:r>
            <a:endParaRPr kumimoji="0" lang="ru-RU"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12 от 30.07.2025 12:47 </a:t>
            </a:r>
            <a:r>
              <a:rPr kumimoji="0" lang="ru-RU" sz="2400" b="1" i="0" u="none" strike="noStrike" kern="1200" cap="none" spc="0" normalizeH="0" baseline="0" noProof="0" dirty="0" err="1" smtClean="0">
                <a:ln>
                  <a:noFill/>
                </a:ln>
                <a:solidFill>
                  <a:prstClr val="black"/>
                </a:solidFill>
                <a:effectLst/>
                <a:uLnTx/>
                <a:uFillTx/>
                <a:latin typeface="Calibri" panose="020F0502020204030204" pitchFamily="34" charset="0"/>
                <a:ea typeface="+mn-ea"/>
                <a:cs typeface="+mn-cs"/>
              </a:rPr>
              <a:t>инж</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a:t>
            </a:r>
            <a:r>
              <a:rPr kumimoji="0" lang="en-US"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IT </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Петров С.Н. «Внедрение системы регуляции…»</a:t>
            </a:r>
          </a:p>
        </p:txBody>
      </p:sp>
      <p:sp>
        <p:nvSpPr>
          <p:cNvPr id="28" name="Прямоугольник 27"/>
          <p:cNvSpPr/>
          <p:nvPr/>
        </p:nvSpPr>
        <p:spPr>
          <a:xfrm>
            <a:off x="595147" y="3720766"/>
            <a:ext cx="5782006" cy="140987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в</a:t>
            </a:r>
            <a:r>
              <a:rPr kumimoji="0" lang="ru-RU" sz="2400" b="1" i="0" u="none" strike="noStrike" kern="1200" cap="none" spc="0" normalizeH="0" noProof="0" dirty="0" smtClean="0">
                <a:ln>
                  <a:noFill/>
                </a:ln>
                <a:solidFill>
                  <a:prstClr val="black"/>
                </a:solidFill>
                <a:effectLst/>
                <a:uLnTx/>
                <a:uFillTx/>
                <a:latin typeface="Calibri" panose="020F0502020204030204" pitchFamily="34" charset="0"/>
                <a:ea typeface="+mn-ea"/>
                <a:cs typeface="+mn-cs"/>
              </a:rPr>
              <a:t>              </a:t>
            </a:r>
            <a:r>
              <a:rPr kumimoji="0" lang="ru-RU" sz="2400" b="1" i="0" u="none" strike="noStrike" kern="1200" cap="none" spc="0" normalizeH="0" noProof="0" dirty="0" err="1" smtClean="0">
                <a:ln>
                  <a:noFill/>
                </a:ln>
                <a:solidFill>
                  <a:prstClr val="black"/>
                </a:solidFill>
                <a:effectLst/>
                <a:uLnTx/>
                <a:uFillTx/>
                <a:latin typeface="Calibri" panose="020F0502020204030204" pitchFamily="34" charset="0"/>
                <a:ea typeface="+mn-ea"/>
                <a:cs typeface="+mn-cs"/>
              </a:rPr>
              <a:t>в</a:t>
            </a:r>
            <a:r>
              <a:rPr kumimoji="0" lang="ru-RU" sz="2400" b="1" i="0" u="none" strike="noStrike" kern="1200" cap="none" spc="0" normalizeH="0" noProof="0" dirty="0" smtClean="0">
                <a:ln>
                  <a:noFill/>
                </a:ln>
                <a:solidFill>
                  <a:prstClr val="black"/>
                </a:solidFill>
                <a:effectLst/>
                <a:uLnTx/>
                <a:uFillTx/>
                <a:latin typeface="Calibri" panose="020F0502020204030204" pitchFamily="34" charset="0"/>
                <a:ea typeface="+mn-ea"/>
                <a:cs typeface="+mn-cs"/>
              </a:rPr>
              <a:t> работе</a:t>
            </a:r>
            <a:endParaRPr kumimoji="0" lang="ru-RU"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lvl="0" algn="ctr" defTabSz="685800"/>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11 от </a:t>
            </a:r>
            <a:r>
              <a:rPr lang="ru-RU" sz="2400" b="1" dirty="0">
                <a:solidFill>
                  <a:prstClr val="black"/>
                </a:solidFill>
              </a:rPr>
              <a:t>29.07.2025 </a:t>
            </a:r>
            <a:r>
              <a:rPr lang="ru-RU" sz="2400" b="1" dirty="0" smtClean="0">
                <a:solidFill>
                  <a:prstClr val="black"/>
                </a:solidFill>
              </a:rPr>
              <a:t>11:46 </a:t>
            </a:r>
          </a:p>
          <a:p>
            <a:pPr lvl="0" algn="ctr" defTabSz="685800"/>
            <a:r>
              <a:rPr lang="ru-RU" sz="2400" b="1" dirty="0" smtClean="0">
                <a:solidFill>
                  <a:prstClr val="black"/>
                </a:solidFill>
              </a:rPr>
              <a:t>Анонимно </a:t>
            </a:r>
            <a:endPar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endParaRPr>
          </a:p>
        </p:txBody>
      </p:sp>
      <p:pic>
        <p:nvPicPr>
          <p:cNvPr id="32" name="Рисунок 31"/>
          <p:cNvPicPr>
            <a:picLocks noChangeAspect="1"/>
          </p:cNvPicPr>
          <p:nvPr/>
        </p:nvPicPr>
        <p:blipFill>
          <a:blip r:embed="rId2"/>
          <a:stretch>
            <a:fillRect/>
          </a:stretch>
        </p:blipFill>
        <p:spPr>
          <a:xfrm>
            <a:off x="3873364" y="10702058"/>
            <a:ext cx="2206943" cy="932769"/>
          </a:xfrm>
          <a:prstGeom prst="rect">
            <a:avLst/>
          </a:prstGeom>
        </p:spPr>
      </p:pic>
      <p:sp>
        <p:nvSpPr>
          <p:cNvPr id="6" name="TextBox 5"/>
          <p:cNvSpPr txBox="1"/>
          <p:nvPr/>
        </p:nvSpPr>
        <p:spPr>
          <a:xfrm>
            <a:off x="734786" y="10009413"/>
            <a:ext cx="5345521"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b="1" u="sng" dirty="0" smtClean="0">
                <a:solidFill>
                  <a:prstClr val="black"/>
                </a:solidFill>
                <a:latin typeface="Calibri" panose="020F0502020204030204" pitchFamily="34" charset="0"/>
              </a:rPr>
              <a:t>Списки п</a:t>
            </a:r>
            <a:r>
              <a:rPr kumimoji="0" lang="ru-RU" sz="1800" b="1" i="0" u="sng" strike="noStrike" kern="1200" cap="none" spc="0" normalizeH="0" baseline="0" noProof="0" dirty="0" err="1" smtClean="0">
                <a:ln>
                  <a:noFill/>
                </a:ln>
                <a:solidFill>
                  <a:prstClr val="black"/>
                </a:solidFill>
                <a:effectLst/>
                <a:uLnTx/>
                <a:uFillTx/>
                <a:latin typeface="Calibri" panose="020F0502020204030204" pitchFamily="34" charset="0"/>
                <a:ea typeface="+mn-ea"/>
                <a:cs typeface="+mn-cs"/>
              </a:rPr>
              <a:t>редложений</a:t>
            </a:r>
            <a:r>
              <a:rPr kumimoji="0" lang="ru-RU" sz="1800" b="1" i="0" u="sng"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по адресатам</a:t>
            </a:r>
            <a:endParaRPr kumimoji="0" lang="ru-RU" sz="1800" b="1" i="0" u="sng"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7" name="Скругленный прямоугольник 6"/>
          <p:cNvSpPr/>
          <p:nvPr/>
        </p:nvSpPr>
        <p:spPr>
          <a:xfrm>
            <a:off x="547007" y="10702058"/>
            <a:ext cx="2828946" cy="9144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Предложить корректировку исполняемого</a:t>
            </a:r>
            <a:endParaRPr lang="ru-RU" b="1" dirty="0">
              <a:solidFill>
                <a:schemeClr val="tx1"/>
              </a:solidFill>
            </a:endParaRPr>
          </a:p>
        </p:txBody>
      </p:sp>
      <p:sp>
        <p:nvSpPr>
          <p:cNvPr id="8" name="Стрелка вниз 7"/>
          <p:cNvSpPr/>
          <p:nvPr/>
        </p:nvSpPr>
        <p:spPr>
          <a:xfrm>
            <a:off x="6086696" y="8702037"/>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Стрелка вверх 8"/>
          <p:cNvSpPr/>
          <p:nvPr/>
        </p:nvSpPr>
        <p:spPr>
          <a:xfrm>
            <a:off x="6120353" y="7233977"/>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p:cNvSpPr txBox="1"/>
          <p:nvPr/>
        </p:nvSpPr>
        <p:spPr>
          <a:xfrm>
            <a:off x="1224643" y="2583920"/>
            <a:ext cx="4523014" cy="584775"/>
          </a:xfrm>
          <a:prstGeom prst="rect">
            <a:avLst/>
          </a:prstGeom>
          <a:noFill/>
        </p:spPr>
        <p:txBody>
          <a:bodyPr wrap="square" rtlCol="0">
            <a:spAutoFit/>
          </a:bodyPr>
          <a:lstStyle/>
          <a:p>
            <a:pPr algn="ctr"/>
            <a:r>
              <a:rPr lang="ru-RU" sz="3200" b="1" u="sng" dirty="0" smtClean="0"/>
              <a:t>Нашего предприятия</a:t>
            </a:r>
            <a:endParaRPr lang="ru-RU" sz="3200" b="1" u="sng" dirty="0"/>
          </a:p>
        </p:txBody>
      </p:sp>
      <p:sp>
        <p:nvSpPr>
          <p:cNvPr id="11" name="TextBox 10"/>
          <p:cNvSpPr txBox="1"/>
          <p:nvPr/>
        </p:nvSpPr>
        <p:spPr>
          <a:xfrm>
            <a:off x="2448842" y="3138065"/>
            <a:ext cx="2163981" cy="461665"/>
          </a:xfrm>
          <a:prstGeom prst="rect">
            <a:avLst/>
          </a:prstGeom>
          <a:noFill/>
        </p:spPr>
        <p:txBody>
          <a:bodyPr wrap="square" rtlCol="0">
            <a:spAutoFit/>
          </a:bodyPr>
          <a:lstStyle/>
          <a:p>
            <a:r>
              <a:rPr lang="ru-RU" sz="2400" b="1" u="sng" dirty="0" smtClean="0">
                <a:solidFill>
                  <a:prstClr val="black"/>
                </a:solidFill>
              </a:rPr>
              <a:t>Бухгалтерия</a:t>
            </a:r>
            <a:r>
              <a:rPr lang="ru-RU" sz="2400" b="1" dirty="0" smtClean="0">
                <a:solidFill>
                  <a:prstClr val="black"/>
                </a:solidFill>
              </a:rPr>
              <a:t> </a:t>
            </a:r>
            <a:endParaRPr lang="ru-RU" dirty="0"/>
          </a:p>
        </p:txBody>
      </p:sp>
      <p:sp>
        <p:nvSpPr>
          <p:cNvPr id="13" name="TextBox 12"/>
          <p:cNvSpPr txBox="1"/>
          <p:nvPr/>
        </p:nvSpPr>
        <p:spPr>
          <a:xfrm>
            <a:off x="1943101" y="5251681"/>
            <a:ext cx="3298370" cy="461665"/>
          </a:xfrm>
          <a:prstGeom prst="rect">
            <a:avLst/>
          </a:prstGeom>
          <a:noFill/>
        </p:spPr>
        <p:txBody>
          <a:bodyPr wrap="square" rtlCol="0">
            <a:spAutoFit/>
          </a:bodyPr>
          <a:lstStyle/>
          <a:p>
            <a:pPr algn="ctr"/>
            <a:r>
              <a:rPr lang="ru-RU" sz="2400" b="1" u="sng" dirty="0" smtClean="0"/>
              <a:t>производство</a:t>
            </a:r>
            <a:endParaRPr lang="ru-RU" sz="2400" b="1" u="sng" dirty="0"/>
          </a:p>
        </p:txBody>
      </p:sp>
      <p:sp>
        <p:nvSpPr>
          <p:cNvPr id="16" name="TextBox 15"/>
          <p:cNvSpPr txBox="1"/>
          <p:nvPr/>
        </p:nvSpPr>
        <p:spPr>
          <a:xfrm>
            <a:off x="1065438" y="7828757"/>
            <a:ext cx="4743450" cy="461665"/>
          </a:xfrm>
          <a:prstGeom prst="rect">
            <a:avLst/>
          </a:prstGeom>
          <a:noFill/>
        </p:spPr>
        <p:txBody>
          <a:bodyPr wrap="square" rtlCol="0">
            <a:spAutoFit/>
          </a:bodyPr>
          <a:lstStyle/>
          <a:p>
            <a:pPr algn="ctr"/>
            <a:r>
              <a:rPr lang="ru-RU" sz="2400" b="1" u="sng" dirty="0" smtClean="0"/>
              <a:t>клиентов</a:t>
            </a:r>
            <a:endParaRPr lang="ru-RU" sz="2400" b="1" u="sng" dirty="0"/>
          </a:p>
        </p:txBody>
      </p:sp>
      <p:sp>
        <p:nvSpPr>
          <p:cNvPr id="17" name="TextBox 16"/>
          <p:cNvSpPr txBox="1"/>
          <p:nvPr/>
        </p:nvSpPr>
        <p:spPr>
          <a:xfrm>
            <a:off x="1624693" y="8850460"/>
            <a:ext cx="3722914" cy="461665"/>
          </a:xfrm>
          <a:prstGeom prst="rect">
            <a:avLst/>
          </a:prstGeom>
          <a:noFill/>
        </p:spPr>
        <p:txBody>
          <a:bodyPr wrap="square" rtlCol="0">
            <a:spAutoFit/>
          </a:bodyPr>
          <a:lstStyle/>
          <a:p>
            <a:r>
              <a:rPr lang="ru-RU" sz="2400" b="1" u="sng" dirty="0" smtClean="0"/>
              <a:t>Смежных предприятий</a:t>
            </a:r>
            <a:endParaRPr lang="ru-RU" sz="2400" b="1" u="sng" dirty="0"/>
          </a:p>
        </p:txBody>
      </p:sp>
    </p:spTree>
    <p:extLst>
      <p:ext uri="{BB962C8B-B14F-4D97-AF65-F5344CB8AC3E}">
        <p14:creationId xmlns:p14="http://schemas.microsoft.com/office/powerpoint/2010/main" val="34093357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93914" y="124896"/>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6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БАЗА ПРЕДЛОЖЕНИЙ</a:t>
            </a:r>
            <a:endParaRPr kumimoji="0" lang="ru-RU" sz="36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aphicFrame>
        <p:nvGraphicFramePr>
          <p:cNvPr id="4" name="Таблица 3"/>
          <p:cNvGraphicFramePr>
            <a:graphicFrameLocks noGrp="1"/>
          </p:cNvGraphicFramePr>
          <p:nvPr>
            <p:extLst>
              <p:ext uri="{D42A27DB-BD31-4B8C-83A1-F6EECF244321}">
                <p14:modId xmlns:p14="http://schemas.microsoft.com/office/powerpoint/2010/main" val="2908190925"/>
              </p:ext>
            </p:extLst>
          </p:nvPr>
        </p:nvGraphicFramePr>
        <p:xfrm>
          <a:off x="522513" y="783771"/>
          <a:ext cx="5829300" cy="70104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4096374418"/>
                    </a:ext>
                  </a:extLst>
                </a:gridCol>
                <a:gridCol w="2204358">
                  <a:extLst>
                    <a:ext uri="{9D8B030D-6E8A-4147-A177-3AD203B41FA5}">
                      <a16:colId xmlns:a16="http://schemas.microsoft.com/office/drawing/2014/main" val="3004465261"/>
                    </a:ext>
                  </a:extLst>
                </a:gridCol>
                <a:gridCol w="1681842">
                  <a:extLst>
                    <a:ext uri="{9D8B030D-6E8A-4147-A177-3AD203B41FA5}">
                      <a16:colId xmlns:a16="http://schemas.microsoft.com/office/drawing/2014/main" val="495450802"/>
                    </a:ext>
                  </a:extLst>
                </a:gridCol>
              </a:tblGrid>
              <a:tr h="636815">
                <a:tc>
                  <a:txBody>
                    <a:bodyPr/>
                    <a:lstStyle/>
                    <a:p>
                      <a:pPr algn="ctr"/>
                      <a:r>
                        <a:rPr lang="ru-RU" sz="1400" b="1" dirty="0" smtClean="0">
                          <a:solidFill>
                            <a:schemeClr val="tx1"/>
                          </a:solidFill>
                        </a:rPr>
                        <a:t>ОБСУЖДАЕМЫЕ</a:t>
                      </a:r>
                      <a:r>
                        <a:rPr lang="ru-RU" sz="2000" dirty="0" smtClean="0">
                          <a:solidFill>
                            <a:schemeClr val="tx1"/>
                          </a:solidFill>
                        </a:rPr>
                        <a:t> и согласованные</a:t>
                      </a:r>
                      <a:endParaRPr lang="ru-RU" sz="2000" dirty="0">
                        <a:solidFill>
                          <a:schemeClr val="tx1"/>
                        </a:solidFill>
                      </a:endParaRPr>
                    </a:p>
                  </a:txBody>
                  <a:tcPr anchor="ctr">
                    <a:solidFill>
                      <a:schemeClr val="accent1">
                        <a:lumMod val="40000"/>
                        <a:lumOff val="60000"/>
                      </a:schemeClr>
                    </a:solidFill>
                  </a:tcPr>
                </a:tc>
                <a:tc>
                  <a:txBody>
                    <a:bodyPr/>
                    <a:lstStyle/>
                    <a:p>
                      <a:pPr algn="ctr"/>
                      <a:r>
                        <a:rPr lang="ru-RU" sz="2000" dirty="0" smtClean="0">
                          <a:solidFill>
                            <a:schemeClr val="tx1"/>
                          </a:solidFill>
                        </a:rPr>
                        <a:t>ИСПОЛНЯЕМЫЕ,</a:t>
                      </a:r>
                      <a:r>
                        <a:rPr lang="ru-RU" sz="2000" baseline="0" dirty="0" smtClean="0">
                          <a:solidFill>
                            <a:schemeClr val="tx1"/>
                          </a:solidFill>
                        </a:rPr>
                        <a:t> </a:t>
                      </a:r>
                    </a:p>
                    <a:p>
                      <a:pPr algn="ctr"/>
                      <a:r>
                        <a:rPr lang="ru-RU" sz="2000" baseline="0" dirty="0" smtClean="0">
                          <a:solidFill>
                            <a:schemeClr val="tx1"/>
                          </a:solidFill>
                        </a:rPr>
                        <a:t>в РАБОТЕ</a:t>
                      </a:r>
                      <a:endParaRPr lang="ru-RU" sz="2000" dirty="0">
                        <a:solidFill>
                          <a:schemeClr val="tx1"/>
                        </a:solidFill>
                      </a:endParaRPr>
                    </a:p>
                  </a:txBody>
                  <a:tcPr anchor="ctr">
                    <a:solidFill>
                      <a:srgbClr val="00B050"/>
                    </a:solidFill>
                  </a:tcPr>
                </a:tc>
                <a:tc>
                  <a:txBody>
                    <a:bodyPr/>
                    <a:lstStyle/>
                    <a:p>
                      <a:pPr algn="ctr"/>
                      <a:r>
                        <a:rPr lang="ru-RU" sz="2400" baseline="0" dirty="0" smtClean="0">
                          <a:solidFill>
                            <a:schemeClr val="tx1"/>
                          </a:solidFill>
                        </a:rPr>
                        <a:t> </a:t>
                      </a:r>
                      <a:r>
                        <a:rPr lang="ru-RU" sz="2400" dirty="0" smtClean="0">
                          <a:solidFill>
                            <a:schemeClr val="tx1"/>
                          </a:solidFill>
                        </a:rPr>
                        <a:t>АРХИВ</a:t>
                      </a:r>
                      <a:endParaRPr lang="ru-RU" sz="2400" dirty="0">
                        <a:solidFill>
                          <a:schemeClr val="tx1"/>
                        </a:solidFill>
                      </a:endParaRPr>
                    </a:p>
                  </a:txBody>
                  <a:tcPr anchor="ctr">
                    <a:solidFill>
                      <a:schemeClr val="accent1">
                        <a:lumMod val="40000"/>
                        <a:lumOff val="60000"/>
                      </a:schemeClr>
                    </a:solidFill>
                  </a:tcP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3838562218"/>
              </p:ext>
            </p:extLst>
          </p:nvPr>
        </p:nvGraphicFramePr>
        <p:xfrm>
          <a:off x="522513" y="1502229"/>
          <a:ext cx="4098473" cy="457200"/>
        </p:xfrm>
        <a:graphic>
          <a:graphicData uri="http://schemas.openxmlformats.org/drawingml/2006/table">
            <a:tbl>
              <a:tblPr firstRow="1" bandRow="1">
                <a:tableStyleId>{5C22544A-7EE6-4342-B048-85BDC9FD1C3A}</a:tableStyleId>
              </a:tblPr>
              <a:tblGrid>
                <a:gridCol w="4098473">
                  <a:extLst>
                    <a:ext uri="{9D8B030D-6E8A-4147-A177-3AD203B41FA5}">
                      <a16:colId xmlns:a16="http://schemas.microsoft.com/office/drawing/2014/main" val="781837115"/>
                    </a:ext>
                  </a:extLst>
                </a:gridCol>
              </a:tblGrid>
              <a:tr h="418393">
                <a:tc>
                  <a:txBody>
                    <a:bodyPr/>
                    <a:lstStyle/>
                    <a:p>
                      <a:pPr algn="ctr"/>
                      <a:r>
                        <a:rPr lang="ru-RU" sz="2400" dirty="0" smtClean="0">
                          <a:solidFill>
                            <a:schemeClr val="tx1"/>
                          </a:solidFill>
                        </a:rPr>
                        <a:t>01 марта 2025 10 ч 12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2816697801"/>
              </p:ext>
            </p:extLst>
          </p:nvPr>
        </p:nvGraphicFramePr>
        <p:xfrm>
          <a:off x="457200" y="2024743"/>
          <a:ext cx="5894612" cy="9405257"/>
        </p:xfrm>
        <a:graphic>
          <a:graphicData uri="http://schemas.openxmlformats.org/drawingml/2006/table">
            <a:tbl>
              <a:tblPr firstRow="1" bandRow="1">
                <a:tableStyleId>{5C22544A-7EE6-4342-B048-85BDC9FD1C3A}</a:tableStyleId>
              </a:tblPr>
              <a:tblGrid>
                <a:gridCol w="5894612">
                  <a:extLst>
                    <a:ext uri="{9D8B030D-6E8A-4147-A177-3AD203B41FA5}">
                      <a16:colId xmlns:a16="http://schemas.microsoft.com/office/drawing/2014/main" val="47972225"/>
                    </a:ext>
                  </a:extLst>
                </a:gridCol>
              </a:tblGrid>
              <a:tr h="9405257">
                <a:tc>
                  <a:txBody>
                    <a:bodyPr/>
                    <a:lstStyle/>
                    <a:p>
                      <a:r>
                        <a:rPr lang="ru-RU" sz="2400" dirty="0" smtClean="0">
                          <a:solidFill>
                            <a:schemeClr val="tx1"/>
                          </a:solidFill>
                        </a:rPr>
                        <a:t>Предложение</a:t>
                      </a:r>
                      <a:r>
                        <a:rPr lang="ru-RU" sz="2400" baseline="0" dirty="0" smtClean="0">
                          <a:solidFill>
                            <a:schemeClr val="tx1"/>
                          </a:solidFill>
                        </a:rPr>
                        <a:t> №…</a:t>
                      </a:r>
                    </a:p>
                    <a:p>
                      <a:r>
                        <a:rPr lang="ru-RU" sz="2400" baseline="0" dirty="0" smtClean="0">
                          <a:solidFill>
                            <a:schemeClr val="tx1"/>
                          </a:solidFill>
                        </a:rPr>
                        <a:t>рейтинг…</a:t>
                      </a:r>
                    </a:p>
                    <a:p>
                      <a:r>
                        <a:rPr lang="ru-RU" sz="2400" baseline="0" dirty="0" smtClean="0">
                          <a:solidFill>
                            <a:schemeClr val="tx1"/>
                          </a:solidFill>
                        </a:rPr>
                        <a:t>Автор (</a:t>
                      </a:r>
                      <a:r>
                        <a:rPr lang="ru-RU" sz="2400" i="1" baseline="0" dirty="0" smtClean="0">
                          <a:solidFill>
                            <a:schemeClr val="tx1"/>
                          </a:solidFill>
                        </a:rPr>
                        <a:t>ФИО, должность</a:t>
                      </a:r>
                      <a:r>
                        <a:rPr lang="ru-RU" sz="2400" baseline="0" dirty="0" smtClean="0">
                          <a:solidFill>
                            <a:schemeClr val="tx1"/>
                          </a:solidFill>
                        </a:rPr>
                        <a:t>)</a:t>
                      </a:r>
                    </a:p>
                    <a:p>
                      <a:r>
                        <a:rPr lang="ru-RU" sz="2400" baseline="0" dirty="0" smtClean="0">
                          <a:solidFill>
                            <a:schemeClr val="tx1"/>
                          </a:solidFill>
                        </a:rPr>
                        <a:t>Соавтор (</a:t>
                      </a:r>
                      <a:r>
                        <a:rPr lang="ru-RU" sz="2400" i="1" baseline="0" dirty="0" smtClean="0">
                          <a:solidFill>
                            <a:schemeClr val="tx1"/>
                          </a:solidFill>
                        </a:rPr>
                        <a:t>ФИО, должность</a:t>
                      </a:r>
                      <a:r>
                        <a:rPr lang="ru-RU" sz="2400" baseline="0" dirty="0" smtClean="0">
                          <a:solidFill>
                            <a:schemeClr val="tx1"/>
                          </a:solidFill>
                        </a:rPr>
                        <a:t>)</a:t>
                      </a:r>
                    </a:p>
                    <a:p>
                      <a:r>
                        <a:rPr lang="ru-RU" sz="2400" baseline="0" dirty="0" smtClean="0">
                          <a:solidFill>
                            <a:schemeClr val="tx1"/>
                          </a:solidFill>
                        </a:rPr>
                        <a:t>Проблема:_____________________</a:t>
                      </a:r>
                    </a:p>
                    <a:p>
                      <a:endParaRPr lang="ru-RU" sz="2400" baseline="0" dirty="0" smtClean="0">
                        <a:solidFill>
                          <a:schemeClr val="tx1"/>
                        </a:solidFill>
                      </a:endParaRPr>
                    </a:p>
                    <a:p>
                      <a:r>
                        <a:rPr lang="ru-RU" sz="2400" baseline="0" dirty="0" smtClean="0">
                          <a:solidFill>
                            <a:schemeClr val="tx1"/>
                          </a:solidFill>
                        </a:rPr>
                        <a:t>Предложение, идея:_________________________</a:t>
                      </a:r>
                    </a:p>
                    <a:p>
                      <a:endParaRPr lang="ru-RU" sz="2400" baseline="0" dirty="0" smtClean="0">
                        <a:solidFill>
                          <a:schemeClr val="tx1"/>
                        </a:solidFill>
                      </a:endParaRPr>
                    </a:p>
                    <a:p>
                      <a:r>
                        <a:rPr lang="ru-RU" sz="2400" baseline="0" dirty="0" smtClean="0">
                          <a:solidFill>
                            <a:schemeClr val="tx1"/>
                          </a:solidFill>
                        </a:rPr>
                        <a:t>Как выполнить:_________________</a:t>
                      </a:r>
                    </a:p>
                    <a:p>
                      <a:r>
                        <a:rPr lang="ru-RU" sz="2400" baseline="0" dirty="0" smtClean="0">
                          <a:solidFill>
                            <a:schemeClr val="tx1"/>
                          </a:solidFill>
                        </a:rPr>
                        <a:t>Требуемые ресурсы:_______________________</a:t>
                      </a:r>
                    </a:p>
                    <a:p>
                      <a:r>
                        <a:rPr lang="ru-RU" sz="2400" u="sng" baseline="0" dirty="0" smtClean="0">
                          <a:solidFill>
                            <a:schemeClr val="tx1"/>
                          </a:solidFill>
                        </a:rPr>
                        <a:t>Согласование </a:t>
                      </a:r>
                    </a:p>
                    <a:p>
                      <a:r>
                        <a:rPr lang="ru-RU" sz="2400" u="sng" baseline="0" dirty="0" smtClean="0">
                          <a:solidFill>
                            <a:schemeClr val="tx1"/>
                          </a:solidFill>
                        </a:rPr>
                        <a:t>комментарии</a:t>
                      </a:r>
                    </a:p>
                    <a:p>
                      <a:pPr algn="l"/>
                      <a:r>
                        <a:rPr lang="ru-RU" sz="2400" u="sng" baseline="0" dirty="0" smtClean="0">
                          <a:solidFill>
                            <a:schemeClr val="tx1"/>
                          </a:solidFill>
                        </a:rPr>
                        <a:t>мой комментарий</a:t>
                      </a:r>
                      <a:endParaRPr lang="ru-RU" sz="3200" u="sng" baseline="0" dirty="0" smtClean="0">
                        <a:solidFill>
                          <a:schemeClr val="tx1"/>
                        </a:solidFill>
                      </a:endParaRPr>
                    </a:p>
                    <a:p>
                      <a:pPr algn="l"/>
                      <a:r>
                        <a:rPr lang="ru-RU" sz="2400" u="sng" baseline="0" dirty="0" smtClean="0">
                          <a:solidFill>
                            <a:schemeClr val="tx1"/>
                          </a:solidFill>
                        </a:rPr>
                        <a:t>предложения по корректировке</a:t>
                      </a:r>
                      <a:endParaRPr lang="en-US" sz="2400" u="sng" baseline="0" dirty="0" smtClean="0">
                        <a:solidFill>
                          <a:schemeClr val="tx1"/>
                        </a:solidFill>
                      </a:endParaRPr>
                    </a:p>
                    <a:p>
                      <a:pPr algn="ctr"/>
                      <a:endParaRPr lang="ru-RU" sz="1800" baseline="0" dirty="0" smtClean="0">
                        <a:solidFill>
                          <a:schemeClr val="tx1"/>
                        </a:solidFill>
                      </a:endParaRPr>
                    </a:p>
                    <a:p>
                      <a:pPr algn="ctr"/>
                      <a:r>
                        <a:rPr lang="ru-RU" sz="1800" baseline="0" dirty="0" smtClean="0">
                          <a:solidFill>
                            <a:schemeClr val="tx1"/>
                          </a:solidFill>
                        </a:rPr>
                        <a:t>Согласовано 03.03.2026 14:23 </a:t>
                      </a:r>
                      <a:r>
                        <a:rPr lang="ru-RU" sz="1800" baseline="0" dirty="0" err="1" smtClean="0">
                          <a:solidFill>
                            <a:schemeClr val="tx1"/>
                          </a:solidFill>
                        </a:rPr>
                        <a:t>вед.инж</a:t>
                      </a:r>
                      <a:r>
                        <a:rPr lang="ru-RU" sz="1800" baseline="0" dirty="0" smtClean="0">
                          <a:solidFill>
                            <a:schemeClr val="tx1"/>
                          </a:solidFill>
                        </a:rPr>
                        <a:t> </a:t>
                      </a:r>
                      <a:r>
                        <a:rPr lang="en-US" sz="1800" baseline="0" dirty="0" smtClean="0">
                          <a:solidFill>
                            <a:schemeClr val="tx1"/>
                          </a:solidFill>
                        </a:rPr>
                        <a:t>IT</a:t>
                      </a:r>
                      <a:r>
                        <a:rPr lang="ru-RU" sz="1800" baseline="0" dirty="0" smtClean="0">
                          <a:solidFill>
                            <a:schemeClr val="tx1"/>
                          </a:solidFill>
                        </a:rPr>
                        <a:t> Попов. С.В.</a:t>
                      </a:r>
                      <a:endParaRPr lang="ru-RU" sz="3200" baseline="0" dirty="0" smtClean="0">
                        <a:solidFill>
                          <a:schemeClr val="tx1"/>
                        </a:solidFill>
                      </a:endParaRPr>
                    </a:p>
                    <a:p>
                      <a:pPr algn="ctr"/>
                      <a:r>
                        <a:rPr lang="ru-RU" sz="2000" u="sng" baseline="0" dirty="0" smtClean="0">
                          <a:solidFill>
                            <a:schemeClr val="tx1"/>
                          </a:solidFill>
                        </a:rPr>
                        <a:t>нажать при завершении исполнения</a:t>
                      </a:r>
                    </a:p>
                    <a:p>
                      <a:pPr algn="ctr"/>
                      <a:r>
                        <a:rPr lang="ru-RU" sz="3200" baseline="0" dirty="0" smtClean="0">
                          <a:solidFill>
                            <a:schemeClr val="tx1"/>
                          </a:solidFill>
                        </a:rPr>
                        <a:t>за     против  воздержался</a:t>
                      </a:r>
                    </a:p>
                    <a:p>
                      <a:pPr algn="l"/>
                      <a:r>
                        <a:rPr lang="ru-RU" sz="3200" dirty="0" smtClean="0">
                          <a:solidFill>
                            <a:schemeClr val="tx1"/>
                          </a:solidFill>
                        </a:rPr>
                        <a:t>             </a:t>
                      </a:r>
                      <a:r>
                        <a:rPr lang="ru-RU" sz="2400" dirty="0" smtClean="0">
                          <a:solidFill>
                            <a:schemeClr val="tx1"/>
                          </a:solidFill>
                        </a:rPr>
                        <a:t>15               4                  2</a:t>
                      </a:r>
                      <a:endParaRPr lang="ru-RU" sz="2400" dirty="0">
                        <a:solidFill>
                          <a:schemeClr val="tx1"/>
                        </a:solidFill>
                      </a:endParaRPr>
                    </a:p>
                  </a:txBody>
                  <a:tcPr/>
                </a:tc>
                <a:extLst>
                  <a:ext uri="{0D108BD9-81ED-4DB2-BD59-A6C34878D82A}">
                    <a16:rowId xmlns:a16="http://schemas.microsoft.com/office/drawing/2014/main" val="3699655430"/>
                  </a:ext>
                </a:extLst>
              </a:tr>
            </a:tbl>
          </a:graphicData>
        </a:graphic>
      </p:graphicFrame>
      <p:graphicFrame>
        <p:nvGraphicFramePr>
          <p:cNvPr id="8" name="Таблица 7"/>
          <p:cNvGraphicFramePr>
            <a:graphicFrameLocks noGrp="1"/>
          </p:cNvGraphicFramePr>
          <p:nvPr>
            <p:extLst/>
          </p:nvPr>
        </p:nvGraphicFramePr>
        <p:xfrm>
          <a:off x="4294414" y="2057401"/>
          <a:ext cx="2057398" cy="516142"/>
        </p:xfrm>
        <a:graphic>
          <a:graphicData uri="http://schemas.openxmlformats.org/drawingml/2006/table">
            <a:tbl>
              <a:tblPr firstRow="1" bandRow="1">
                <a:tableStyleId>{5C22544A-7EE6-4342-B048-85BDC9FD1C3A}</a:tableStyleId>
              </a:tblPr>
              <a:tblGrid>
                <a:gridCol w="2057398">
                  <a:extLst>
                    <a:ext uri="{9D8B030D-6E8A-4147-A177-3AD203B41FA5}">
                      <a16:colId xmlns:a16="http://schemas.microsoft.com/office/drawing/2014/main" val="121150993"/>
                    </a:ext>
                  </a:extLst>
                </a:gridCol>
              </a:tblGrid>
              <a:tr h="516142">
                <a:tc>
                  <a:txBody>
                    <a:bodyPr/>
                    <a:lstStyle/>
                    <a:p>
                      <a:pPr algn="ctr"/>
                      <a:r>
                        <a:rPr lang="ru-RU" sz="2000" dirty="0" smtClean="0">
                          <a:solidFill>
                            <a:schemeClr val="tx1"/>
                          </a:solidFill>
                        </a:rPr>
                        <a:t>анонимно</a:t>
                      </a:r>
                      <a:endParaRPr lang="ru-RU" sz="2000" dirty="0">
                        <a:solidFill>
                          <a:schemeClr val="tx1"/>
                        </a:solidFill>
                      </a:endParaRPr>
                    </a:p>
                  </a:txBody>
                  <a:tcPr anchor="ctr">
                    <a:solidFill>
                      <a:srgbClr val="FFFF00"/>
                    </a:solidFill>
                  </a:tcPr>
                </a:tc>
                <a:extLst>
                  <a:ext uri="{0D108BD9-81ED-4DB2-BD59-A6C34878D82A}">
                    <a16:rowId xmlns:a16="http://schemas.microsoft.com/office/drawing/2014/main" val="3611746982"/>
                  </a:ext>
                </a:extLst>
              </a:tr>
            </a:tbl>
          </a:graphicData>
        </a:graphic>
      </p:graphicFrame>
      <p:sp>
        <p:nvSpPr>
          <p:cNvPr id="9" name="Улыбающееся лицо 8"/>
          <p:cNvSpPr/>
          <p:nvPr/>
        </p:nvSpPr>
        <p:spPr>
          <a:xfrm>
            <a:off x="1061357" y="9925075"/>
            <a:ext cx="734785" cy="636815"/>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42BA97">
                  <a:lumMod val="60000"/>
                  <a:lumOff val="40000"/>
                </a:srgbClr>
              </a:solidFill>
              <a:effectLst/>
              <a:uLnTx/>
              <a:uFillTx/>
              <a:latin typeface="Calibri" panose="020F0502020204030204" pitchFamily="34" charset="0"/>
              <a:ea typeface="+mn-ea"/>
              <a:cs typeface="+mn-cs"/>
            </a:endParaRPr>
          </a:p>
        </p:txBody>
      </p:sp>
      <p:sp>
        <p:nvSpPr>
          <p:cNvPr id="20" name="Знак запрета 19"/>
          <p:cNvSpPr/>
          <p:nvPr/>
        </p:nvSpPr>
        <p:spPr>
          <a:xfrm>
            <a:off x="2400299" y="9835269"/>
            <a:ext cx="751113" cy="726621"/>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2" name="Стрелка влево 11"/>
          <p:cNvSpPr/>
          <p:nvPr/>
        </p:nvSpPr>
        <p:spPr>
          <a:xfrm>
            <a:off x="547007" y="267787"/>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4" name="Управляющая кнопка: сведения 13">
            <a:hlinkClick r:id="" action="ppaction://noaction" highlightClick="1"/>
          </p:cNvPr>
          <p:cNvSpPr/>
          <p:nvPr/>
        </p:nvSpPr>
        <p:spPr>
          <a:xfrm>
            <a:off x="5906685" y="10877792"/>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1" name="Стрелка вниз 10"/>
          <p:cNvSpPr/>
          <p:nvPr/>
        </p:nvSpPr>
        <p:spPr>
          <a:xfrm>
            <a:off x="5766024" y="4560349"/>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pic>
        <p:nvPicPr>
          <p:cNvPr id="16" name="Рисунок 15"/>
          <p:cNvPicPr>
            <a:picLocks noChangeAspect="1"/>
          </p:cNvPicPr>
          <p:nvPr/>
        </p:nvPicPr>
        <p:blipFill>
          <a:blip r:embed="rId2"/>
          <a:stretch>
            <a:fillRect/>
          </a:stretch>
        </p:blipFill>
        <p:spPr>
          <a:xfrm>
            <a:off x="5787364" y="3374495"/>
            <a:ext cx="536494" cy="518205"/>
          </a:xfrm>
          <a:prstGeom prst="rect">
            <a:avLst/>
          </a:prstGeom>
        </p:spPr>
      </p:pic>
      <p:pic>
        <p:nvPicPr>
          <p:cNvPr id="17" name="Рисунок 16"/>
          <p:cNvPicPr>
            <a:picLocks noChangeAspect="1"/>
          </p:cNvPicPr>
          <p:nvPr/>
        </p:nvPicPr>
        <p:blipFill>
          <a:blip r:embed="rId2"/>
          <a:stretch>
            <a:fillRect/>
          </a:stretch>
        </p:blipFill>
        <p:spPr>
          <a:xfrm>
            <a:off x="5764465" y="5367565"/>
            <a:ext cx="536494" cy="518205"/>
          </a:xfrm>
          <a:prstGeom prst="rect">
            <a:avLst/>
          </a:prstGeom>
        </p:spPr>
      </p:pic>
      <p:pic>
        <p:nvPicPr>
          <p:cNvPr id="18" name="Рисунок 17"/>
          <p:cNvPicPr>
            <a:picLocks noChangeAspect="1"/>
          </p:cNvPicPr>
          <p:nvPr/>
        </p:nvPicPr>
        <p:blipFill>
          <a:blip r:embed="rId2"/>
          <a:stretch>
            <a:fillRect/>
          </a:stretch>
        </p:blipFill>
        <p:spPr>
          <a:xfrm>
            <a:off x="5817326" y="5998207"/>
            <a:ext cx="536494" cy="518205"/>
          </a:xfrm>
          <a:prstGeom prst="rect">
            <a:avLst/>
          </a:prstGeom>
        </p:spPr>
      </p:pic>
      <p:sp>
        <p:nvSpPr>
          <p:cNvPr id="21" name="Загнутый угол 20"/>
          <p:cNvSpPr/>
          <p:nvPr/>
        </p:nvSpPr>
        <p:spPr>
          <a:xfrm>
            <a:off x="5299944" y="3424281"/>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2" name="Загнутый угол 21"/>
          <p:cNvSpPr/>
          <p:nvPr/>
        </p:nvSpPr>
        <p:spPr>
          <a:xfrm>
            <a:off x="5257828" y="4566964"/>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3" name="Загнутый угол 22"/>
          <p:cNvSpPr/>
          <p:nvPr/>
        </p:nvSpPr>
        <p:spPr>
          <a:xfrm>
            <a:off x="5299943" y="5346274"/>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4" name="Загнутый угол 23"/>
          <p:cNvSpPr/>
          <p:nvPr/>
        </p:nvSpPr>
        <p:spPr>
          <a:xfrm>
            <a:off x="5323113" y="6047993"/>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3" name="Блок-схема: ИЛИ 12"/>
          <p:cNvSpPr/>
          <p:nvPr/>
        </p:nvSpPr>
        <p:spPr>
          <a:xfrm>
            <a:off x="3832640" y="9892255"/>
            <a:ext cx="612648" cy="612648"/>
          </a:xfrm>
          <a:prstGeom prst="flowChartOr">
            <a:avLst/>
          </a:prstGeom>
          <a:solidFill>
            <a:srgbClr val="E6E6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5" name="Блок-схема: несколько документов 14"/>
          <p:cNvSpPr/>
          <p:nvPr/>
        </p:nvSpPr>
        <p:spPr>
          <a:xfrm>
            <a:off x="6039183" y="208776"/>
            <a:ext cx="499455" cy="481302"/>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pic>
        <p:nvPicPr>
          <p:cNvPr id="27" name="Рисунок 26"/>
          <p:cNvPicPr>
            <a:picLocks noChangeAspect="1"/>
          </p:cNvPicPr>
          <p:nvPr/>
        </p:nvPicPr>
        <p:blipFill>
          <a:blip r:embed="rId3"/>
          <a:stretch>
            <a:fillRect/>
          </a:stretch>
        </p:blipFill>
        <p:spPr>
          <a:xfrm>
            <a:off x="4402556" y="10529849"/>
            <a:ext cx="1475699" cy="807930"/>
          </a:xfrm>
          <a:prstGeom prst="rect">
            <a:avLst/>
          </a:prstGeom>
        </p:spPr>
      </p:pic>
      <p:sp>
        <p:nvSpPr>
          <p:cNvPr id="3" name="Прямоугольник 2"/>
          <p:cNvSpPr/>
          <p:nvPr/>
        </p:nvSpPr>
        <p:spPr>
          <a:xfrm>
            <a:off x="4620986" y="1484811"/>
            <a:ext cx="1702872" cy="4477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ПОИСК/</a:t>
            </a:r>
            <a:endParaRPr lang="ru-RU" dirty="0"/>
          </a:p>
        </p:txBody>
      </p:sp>
    </p:spTree>
    <p:extLst>
      <p:ext uri="{BB962C8B-B14F-4D97-AF65-F5344CB8AC3E}">
        <p14:creationId xmlns:p14="http://schemas.microsoft.com/office/powerpoint/2010/main" val="28627278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93914" y="124896"/>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6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БАЗА ПРЕДЛОЖЕНИЙ</a:t>
            </a:r>
            <a:endParaRPr kumimoji="0" lang="ru-RU" sz="36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aphicFrame>
        <p:nvGraphicFramePr>
          <p:cNvPr id="4" name="Таблица 3"/>
          <p:cNvGraphicFramePr>
            <a:graphicFrameLocks noGrp="1"/>
          </p:cNvGraphicFramePr>
          <p:nvPr>
            <p:extLst>
              <p:ext uri="{D42A27DB-BD31-4B8C-83A1-F6EECF244321}">
                <p14:modId xmlns:p14="http://schemas.microsoft.com/office/powerpoint/2010/main" val="3080049728"/>
              </p:ext>
            </p:extLst>
          </p:nvPr>
        </p:nvGraphicFramePr>
        <p:xfrm>
          <a:off x="522513" y="783771"/>
          <a:ext cx="5829300" cy="70104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4096374418"/>
                    </a:ext>
                  </a:extLst>
                </a:gridCol>
                <a:gridCol w="2204358">
                  <a:extLst>
                    <a:ext uri="{9D8B030D-6E8A-4147-A177-3AD203B41FA5}">
                      <a16:colId xmlns:a16="http://schemas.microsoft.com/office/drawing/2014/main" val="3004465261"/>
                    </a:ext>
                  </a:extLst>
                </a:gridCol>
                <a:gridCol w="1681842">
                  <a:extLst>
                    <a:ext uri="{9D8B030D-6E8A-4147-A177-3AD203B41FA5}">
                      <a16:colId xmlns:a16="http://schemas.microsoft.com/office/drawing/2014/main" val="495450802"/>
                    </a:ext>
                  </a:extLst>
                </a:gridCol>
              </a:tblGrid>
              <a:tr h="636815">
                <a:tc>
                  <a:txBody>
                    <a:bodyPr/>
                    <a:lstStyle/>
                    <a:p>
                      <a:pPr algn="ctr"/>
                      <a:r>
                        <a:rPr lang="ru-RU" sz="1400" b="1" dirty="0" smtClean="0">
                          <a:solidFill>
                            <a:schemeClr val="tx1"/>
                          </a:solidFill>
                        </a:rPr>
                        <a:t>ОБСУЖДАЕМЫЕ</a:t>
                      </a:r>
                      <a:r>
                        <a:rPr lang="ru-RU" sz="2000" dirty="0" smtClean="0">
                          <a:solidFill>
                            <a:schemeClr val="tx1"/>
                          </a:solidFill>
                        </a:rPr>
                        <a:t> и согласованные</a:t>
                      </a:r>
                      <a:endParaRPr lang="ru-RU" sz="2000" dirty="0">
                        <a:solidFill>
                          <a:schemeClr val="tx1"/>
                        </a:solidFill>
                      </a:endParaRPr>
                    </a:p>
                  </a:txBody>
                  <a:tcPr anchor="ctr">
                    <a:solidFill>
                      <a:schemeClr val="accent1">
                        <a:lumMod val="40000"/>
                        <a:lumOff val="60000"/>
                      </a:schemeClr>
                    </a:solidFill>
                  </a:tcPr>
                </a:tc>
                <a:tc>
                  <a:txBody>
                    <a:bodyPr/>
                    <a:lstStyle/>
                    <a:p>
                      <a:pPr algn="ctr"/>
                      <a:r>
                        <a:rPr lang="ru-RU" sz="2000" dirty="0" smtClean="0">
                          <a:solidFill>
                            <a:schemeClr val="tx1"/>
                          </a:solidFill>
                        </a:rPr>
                        <a:t>ИСПОЛНЯЕМЫЕ,</a:t>
                      </a:r>
                      <a:r>
                        <a:rPr lang="ru-RU" sz="2000" baseline="0" dirty="0" smtClean="0">
                          <a:solidFill>
                            <a:schemeClr val="tx1"/>
                          </a:solidFill>
                        </a:rPr>
                        <a:t> </a:t>
                      </a:r>
                    </a:p>
                    <a:p>
                      <a:pPr algn="ctr"/>
                      <a:r>
                        <a:rPr lang="ru-RU" sz="2000" baseline="0" dirty="0" smtClean="0">
                          <a:solidFill>
                            <a:schemeClr val="tx1"/>
                          </a:solidFill>
                        </a:rPr>
                        <a:t>в РАБОТЕ</a:t>
                      </a:r>
                      <a:endParaRPr lang="ru-RU" sz="2000" dirty="0">
                        <a:solidFill>
                          <a:schemeClr val="tx1"/>
                        </a:solidFill>
                      </a:endParaRPr>
                    </a:p>
                  </a:txBody>
                  <a:tcPr anchor="ctr">
                    <a:solidFill>
                      <a:srgbClr val="00B050"/>
                    </a:solidFill>
                  </a:tcPr>
                </a:tc>
                <a:tc>
                  <a:txBody>
                    <a:bodyPr/>
                    <a:lstStyle/>
                    <a:p>
                      <a:pPr algn="ctr"/>
                      <a:r>
                        <a:rPr lang="ru-RU" sz="2400" baseline="0" dirty="0" smtClean="0">
                          <a:solidFill>
                            <a:schemeClr val="tx1"/>
                          </a:solidFill>
                        </a:rPr>
                        <a:t> </a:t>
                      </a:r>
                      <a:r>
                        <a:rPr lang="ru-RU" sz="2400" dirty="0" smtClean="0">
                          <a:solidFill>
                            <a:schemeClr val="tx1"/>
                          </a:solidFill>
                        </a:rPr>
                        <a:t>АРХИВ</a:t>
                      </a:r>
                      <a:endParaRPr lang="ru-RU" sz="2400" dirty="0">
                        <a:solidFill>
                          <a:schemeClr val="tx1"/>
                        </a:solidFill>
                      </a:endParaRPr>
                    </a:p>
                  </a:txBody>
                  <a:tcPr anchor="ctr">
                    <a:solidFill>
                      <a:schemeClr val="accent1">
                        <a:lumMod val="40000"/>
                        <a:lumOff val="60000"/>
                      </a:schemeClr>
                    </a:solidFill>
                  </a:tcP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4196169506"/>
              </p:ext>
            </p:extLst>
          </p:nvPr>
        </p:nvGraphicFramePr>
        <p:xfrm>
          <a:off x="522513" y="1502229"/>
          <a:ext cx="4180116" cy="457200"/>
        </p:xfrm>
        <a:graphic>
          <a:graphicData uri="http://schemas.openxmlformats.org/drawingml/2006/table">
            <a:tbl>
              <a:tblPr firstRow="1" bandRow="1">
                <a:tableStyleId>{5C22544A-7EE6-4342-B048-85BDC9FD1C3A}</a:tableStyleId>
              </a:tblPr>
              <a:tblGrid>
                <a:gridCol w="4180116">
                  <a:extLst>
                    <a:ext uri="{9D8B030D-6E8A-4147-A177-3AD203B41FA5}">
                      <a16:colId xmlns:a16="http://schemas.microsoft.com/office/drawing/2014/main" val="781837115"/>
                    </a:ext>
                  </a:extLst>
                </a:gridCol>
              </a:tblGrid>
              <a:tr h="418393">
                <a:tc>
                  <a:txBody>
                    <a:bodyPr/>
                    <a:lstStyle/>
                    <a:p>
                      <a:pPr algn="ctr"/>
                      <a:r>
                        <a:rPr lang="ru-RU" sz="2400" dirty="0" smtClean="0">
                          <a:solidFill>
                            <a:schemeClr val="tx1"/>
                          </a:solidFill>
                        </a:rPr>
                        <a:t>01 марта 2026 10 ч 12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1306222363"/>
              </p:ext>
            </p:extLst>
          </p:nvPr>
        </p:nvGraphicFramePr>
        <p:xfrm>
          <a:off x="457200" y="2024743"/>
          <a:ext cx="5894612" cy="9405257"/>
        </p:xfrm>
        <a:graphic>
          <a:graphicData uri="http://schemas.openxmlformats.org/drawingml/2006/table">
            <a:tbl>
              <a:tblPr firstRow="1" bandRow="1">
                <a:tableStyleId>{5C22544A-7EE6-4342-B048-85BDC9FD1C3A}</a:tableStyleId>
              </a:tblPr>
              <a:tblGrid>
                <a:gridCol w="5894612">
                  <a:extLst>
                    <a:ext uri="{9D8B030D-6E8A-4147-A177-3AD203B41FA5}">
                      <a16:colId xmlns:a16="http://schemas.microsoft.com/office/drawing/2014/main" val="47972225"/>
                    </a:ext>
                  </a:extLst>
                </a:gridCol>
              </a:tblGrid>
              <a:tr h="9405257">
                <a:tc>
                  <a:txBody>
                    <a:bodyPr/>
                    <a:lstStyle/>
                    <a:p>
                      <a:r>
                        <a:rPr lang="ru-RU" sz="2400" dirty="0" smtClean="0">
                          <a:solidFill>
                            <a:schemeClr val="tx1"/>
                          </a:solidFill>
                        </a:rPr>
                        <a:t>Предложение</a:t>
                      </a:r>
                      <a:r>
                        <a:rPr lang="ru-RU" sz="2400" baseline="0" dirty="0" smtClean="0">
                          <a:solidFill>
                            <a:schemeClr val="tx1"/>
                          </a:solidFill>
                        </a:rPr>
                        <a:t> №…</a:t>
                      </a:r>
                    </a:p>
                    <a:p>
                      <a:r>
                        <a:rPr lang="ru-RU" sz="2400" baseline="0" dirty="0" smtClean="0">
                          <a:solidFill>
                            <a:schemeClr val="tx1"/>
                          </a:solidFill>
                        </a:rPr>
                        <a:t>рейтинг…</a:t>
                      </a:r>
                    </a:p>
                    <a:p>
                      <a:r>
                        <a:rPr lang="ru-RU" sz="2400" baseline="0" dirty="0" smtClean="0">
                          <a:solidFill>
                            <a:schemeClr val="tx1"/>
                          </a:solidFill>
                        </a:rPr>
                        <a:t>карточка предложения</a:t>
                      </a:r>
                    </a:p>
                    <a:p>
                      <a:pPr algn="ctr"/>
                      <a:endParaRPr lang="ru-RU" sz="2400" baseline="0" dirty="0" smtClean="0">
                        <a:solidFill>
                          <a:schemeClr val="tx1"/>
                        </a:solidFill>
                      </a:endParaRPr>
                    </a:p>
                    <a:p>
                      <a:pPr algn="ctr"/>
                      <a:r>
                        <a:rPr lang="ru-RU" sz="2400" baseline="0" dirty="0" smtClean="0">
                          <a:solidFill>
                            <a:schemeClr val="tx1"/>
                          </a:solidFill>
                        </a:rPr>
                        <a:t>Успешно выполнено, отчет</a:t>
                      </a:r>
                    </a:p>
                    <a:p>
                      <a:pPr algn="l"/>
                      <a:r>
                        <a:rPr lang="ru-RU" sz="1800" baseline="0" dirty="0" smtClean="0">
                          <a:solidFill>
                            <a:schemeClr val="tx1"/>
                          </a:solidFill>
                        </a:rPr>
                        <a:t>                                   «Отчет»   «загрузить данные»</a:t>
                      </a:r>
                    </a:p>
                    <a:p>
                      <a:pPr algn="ctr"/>
                      <a:endParaRPr lang="ru-RU" sz="1800" baseline="0" dirty="0" smtClean="0">
                        <a:solidFill>
                          <a:schemeClr val="tx1"/>
                        </a:solidFill>
                      </a:endParaRPr>
                    </a:p>
                    <a:p>
                      <a:pPr algn="ctr"/>
                      <a:endParaRPr lang="ru-RU" sz="1800" baseline="0" dirty="0" smtClean="0">
                        <a:solidFill>
                          <a:schemeClr val="tx1"/>
                        </a:solidFill>
                      </a:endParaRPr>
                    </a:p>
                    <a:p>
                      <a:pPr algn="ctr"/>
                      <a:endParaRPr lang="ru-RU" sz="1800" baseline="0" dirty="0" smtClean="0">
                        <a:solidFill>
                          <a:schemeClr val="tx1"/>
                        </a:solidFill>
                      </a:endParaRPr>
                    </a:p>
                    <a:p>
                      <a:pPr algn="ctr"/>
                      <a:r>
                        <a:rPr lang="ru-RU" sz="2400" baseline="0" dirty="0" smtClean="0">
                          <a:solidFill>
                            <a:schemeClr val="tx1"/>
                          </a:solidFill>
                        </a:rPr>
                        <a:t>Не выполнено, отчет, </a:t>
                      </a:r>
                    </a:p>
                    <a:p>
                      <a:pPr algn="ctr"/>
                      <a:r>
                        <a:rPr lang="ru-RU" sz="2400" baseline="0" dirty="0" smtClean="0">
                          <a:solidFill>
                            <a:schemeClr val="tx1"/>
                          </a:solidFill>
                        </a:rPr>
                        <a:t>причины невыполнения</a:t>
                      </a:r>
                    </a:p>
                  </a:txBody>
                  <a:tcPr/>
                </a:tc>
                <a:extLst>
                  <a:ext uri="{0D108BD9-81ED-4DB2-BD59-A6C34878D82A}">
                    <a16:rowId xmlns:a16="http://schemas.microsoft.com/office/drawing/2014/main" val="3699655430"/>
                  </a:ext>
                </a:extLst>
              </a:tr>
            </a:tbl>
          </a:graphicData>
        </a:graphic>
      </p:graphicFrame>
      <p:graphicFrame>
        <p:nvGraphicFramePr>
          <p:cNvPr id="8" name="Таблица 7"/>
          <p:cNvGraphicFramePr>
            <a:graphicFrameLocks noGrp="1"/>
          </p:cNvGraphicFramePr>
          <p:nvPr>
            <p:extLst/>
          </p:nvPr>
        </p:nvGraphicFramePr>
        <p:xfrm>
          <a:off x="4294414" y="2057401"/>
          <a:ext cx="2057398" cy="516142"/>
        </p:xfrm>
        <a:graphic>
          <a:graphicData uri="http://schemas.openxmlformats.org/drawingml/2006/table">
            <a:tbl>
              <a:tblPr firstRow="1" bandRow="1">
                <a:tableStyleId>{5C22544A-7EE6-4342-B048-85BDC9FD1C3A}</a:tableStyleId>
              </a:tblPr>
              <a:tblGrid>
                <a:gridCol w="2057398">
                  <a:extLst>
                    <a:ext uri="{9D8B030D-6E8A-4147-A177-3AD203B41FA5}">
                      <a16:colId xmlns:a16="http://schemas.microsoft.com/office/drawing/2014/main" val="121150993"/>
                    </a:ext>
                  </a:extLst>
                </a:gridCol>
              </a:tblGrid>
              <a:tr h="516142">
                <a:tc>
                  <a:txBody>
                    <a:bodyPr/>
                    <a:lstStyle/>
                    <a:p>
                      <a:pPr algn="ctr"/>
                      <a:r>
                        <a:rPr lang="ru-RU" sz="2000" dirty="0" smtClean="0">
                          <a:solidFill>
                            <a:schemeClr val="tx1"/>
                          </a:solidFill>
                        </a:rPr>
                        <a:t>анонимно</a:t>
                      </a:r>
                      <a:endParaRPr lang="ru-RU" sz="2000" dirty="0">
                        <a:solidFill>
                          <a:schemeClr val="tx1"/>
                        </a:solidFill>
                      </a:endParaRPr>
                    </a:p>
                  </a:txBody>
                  <a:tcPr anchor="ctr">
                    <a:solidFill>
                      <a:srgbClr val="FFFF00"/>
                    </a:solidFill>
                  </a:tcPr>
                </a:tc>
                <a:extLst>
                  <a:ext uri="{0D108BD9-81ED-4DB2-BD59-A6C34878D82A}">
                    <a16:rowId xmlns:a16="http://schemas.microsoft.com/office/drawing/2014/main" val="3611746982"/>
                  </a:ext>
                </a:extLst>
              </a:tr>
            </a:tbl>
          </a:graphicData>
        </a:graphic>
      </p:graphicFrame>
      <p:sp>
        <p:nvSpPr>
          <p:cNvPr id="12" name="Стрелка влево 11"/>
          <p:cNvSpPr/>
          <p:nvPr/>
        </p:nvSpPr>
        <p:spPr>
          <a:xfrm>
            <a:off x="547007" y="267787"/>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4" name="Управляющая кнопка: сведения 13">
            <a:hlinkClick r:id="" action="ppaction://noaction" highlightClick="1"/>
          </p:cNvPr>
          <p:cNvSpPr/>
          <p:nvPr/>
        </p:nvSpPr>
        <p:spPr>
          <a:xfrm>
            <a:off x="5906685" y="10877792"/>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1" name="Стрелка вниз 10"/>
          <p:cNvSpPr/>
          <p:nvPr/>
        </p:nvSpPr>
        <p:spPr>
          <a:xfrm>
            <a:off x="3335664" y="5939817"/>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pic>
        <p:nvPicPr>
          <p:cNvPr id="16" name="Рисунок 15"/>
          <p:cNvPicPr>
            <a:picLocks noChangeAspect="1"/>
          </p:cNvPicPr>
          <p:nvPr/>
        </p:nvPicPr>
        <p:blipFill>
          <a:blip r:embed="rId2"/>
          <a:stretch>
            <a:fillRect/>
          </a:stretch>
        </p:blipFill>
        <p:spPr>
          <a:xfrm>
            <a:off x="3372922" y="4244807"/>
            <a:ext cx="536494" cy="518205"/>
          </a:xfrm>
          <a:prstGeom prst="rect">
            <a:avLst/>
          </a:prstGeom>
        </p:spPr>
      </p:pic>
      <p:sp>
        <p:nvSpPr>
          <p:cNvPr id="21" name="Загнутый угол 20"/>
          <p:cNvSpPr/>
          <p:nvPr/>
        </p:nvSpPr>
        <p:spPr>
          <a:xfrm>
            <a:off x="3716073" y="2677887"/>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2" name="Загнутый угол 21"/>
          <p:cNvSpPr/>
          <p:nvPr/>
        </p:nvSpPr>
        <p:spPr>
          <a:xfrm>
            <a:off x="2640099" y="5943533"/>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5" name="Блок-схема: несколько документов 14"/>
          <p:cNvSpPr/>
          <p:nvPr/>
        </p:nvSpPr>
        <p:spPr>
          <a:xfrm>
            <a:off x="6039183" y="208776"/>
            <a:ext cx="499455" cy="481302"/>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pic>
        <p:nvPicPr>
          <p:cNvPr id="27" name="Рисунок 26"/>
          <p:cNvPicPr>
            <a:picLocks noChangeAspect="1"/>
          </p:cNvPicPr>
          <p:nvPr/>
        </p:nvPicPr>
        <p:blipFill>
          <a:blip r:embed="rId3"/>
          <a:stretch>
            <a:fillRect/>
          </a:stretch>
        </p:blipFill>
        <p:spPr>
          <a:xfrm>
            <a:off x="4402556" y="10529849"/>
            <a:ext cx="1475699" cy="807930"/>
          </a:xfrm>
          <a:prstGeom prst="rect">
            <a:avLst/>
          </a:prstGeom>
        </p:spPr>
      </p:pic>
      <p:sp>
        <p:nvSpPr>
          <p:cNvPr id="25" name="Загнутый угол 24"/>
          <p:cNvSpPr/>
          <p:nvPr/>
        </p:nvSpPr>
        <p:spPr>
          <a:xfrm>
            <a:off x="2697693" y="4244807"/>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3" name="Прямоугольник 2"/>
          <p:cNvSpPr/>
          <p:nvPr/>
        </p:nvSpPr>
        <p:spPr>
          <a:xfrm>
            <a:off x="2073729" y="7159245"/>
            <a:ext cx="3004458" cy="129193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smtClean="0">
                <a:solidFill>
                  <a:schemeClr val="tx1"/>
                </a:solidFill>
              </a:rPr>
              <a:t>Отправить в архив</a:t>
            </a:r>
            <a:endParaRPr lang="ru-RU" sz="2400" b="1" dirty="0">
              <a:solidFill>
                <a:schemeClr val="tx1"/>
              </a:solidFill>
            </a:endParaRPr>
          </a:p>
        </p:txBody>
      </p:sp>
      <p:sp>
        <p:nvSpPr>
          <p:cNvPr id="7" name="Прямоугольник 6"/>
          <p:cNvSpPr/>
          <p:nvPr/>
        </p:nvSpPr>
        <p:spPr>
          <a:xfrm>
            <a:off x="5323113" y="3440642"/>
            <a:ext cx="408215" cy="41863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0" name="Рисунок 9"/>
          <p:cNvPicPr>
            <a:picLocks noChangeAspect="1"/>
          </p:cNvPicPr>
          <p:nvPr/>
        </p:nvPicPr>
        <p:blipFill>
          <a:blip r:embed="rId4"/>
          <a:stretch>
            <a:fillRect/>
          </a:stretch>
        </p:blipFill>
        <p:spPr>
          <a:xfrm>
            <a:off x="5323113" y="5075240"/>
            <a:ext cx="426757" cy="438950"/>
          </a:xfrm>
          <a:prstGeom prst="rect">
            <a:avLst/>
          </a:prstGeom>
        </p:spPr>
      </p:pic>
      <p:sp>
        <p:nvSpPr>
          <p:cNvPr id="19" name="Прямоугольник 18"/>
          <p:cNvSpPr/>
          <p:nvPr/>
        </p:nvSpPr>
        <p:spPr>
          <a:xfrm>
            <a:off x="4702628" y="1517469"/>
            <a:ext cx="1628599" cy="441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ПОИСК</a:t>
            </a:r>
            <a:endParaRPr lang="ru-RU" dirty="0"/>
          </a:p>
        </p:txBody>
      </p:sp>
    </p:spTree>
    <p:extLst>
      <p:ext uri="{BB962C8B-B14F-4D97-AF65-F5344CB8AC3E}">
        <p14:creationId xmlns:p14="http://schemas.microsoft.com/office/powerpoint/2010/main" val="16644289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28181" y="194375"/>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6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БАЗА ПРЕДЛОЖЕНИЙ</a:t>
            </a:r>
            <a:endParaRPr kumimoji="0" lang="ru-RU" sz="36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aphicFrame>
        <p:nvGraphicFramePr>
          <p:cNvPr id="4" name="Таблица 3"/>
          <p:cNvGraphicFramePr>
            <a:graphicFrameLocks noGrp="1"/>
          </p:cNvGraphicFramePr>
          <p:nvPr>
            <p:extLst>
              <p:ext uri="{D42A27DB-BD31-4B8C-83A1-F6EECF244321}">
                <p14:modId xmlns:p14="http://schemas.microsoft.com/office/powerpoint/2010/main" val="1409782725"/>
              </p:ext>
            </p:extLst>
          </p:nvPr>
        </p:nvGraphicFramePr>
        <p:xfrm>
          <a:off x="522513" y="910764"/>
          <a:ext cx="5829300" cy="76200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4096374418"/>
                    </a:ext>
                  </a:extLst>
                </a:gridCol>
                <a:gridCol w="2204358">
                  <a:extLst>
                    <a:ext uri="{9D8B030D-6E8A-4147-A177-3AD203B41FA5}">
                      <a16:colId xmlns:a16="http://schemas.microsoft.com/office/drawing/2014/main" val="3004465261"/>
                    </a:ext>
                  </a:extLst>
                </a:gridCol>
                <a:gridCol w="1681842">
                  <a:extLst>
                    <a:ext uri="{9D8B030D-6E8A-4147-A177-3AD203B41FA5}">
                      <a16:colId xmlns:a16="http://schemas.microsoft.com/office/drawing/2014/main" val="495450802"/>
                    </a:ext>
                  </a:extLst>
                </a:gridCol>
              </a:tblGrid>
              <a:tr h="636815">
                <a:tc>
                  <a:txBody>
                    <a:bodyPr/>
                    <a:lstStyle/>
                    <a:p>
                      <a:pPr algn="ctr"/>
                      <a:r>
                        <a:rPr lang="ru-RU" sz="1400" b="1" dirty="0" smtClean="0">
                          <a:solidFill>
                            <a:schemeClr val="tx1"/>
                          </a:solidFill>
                        </a:rPr>
                        <a:t>ОБСУЖДАЕМЫЕ и</a:t>
                      </a:r>
                      <a:r>
                        <a:rPr lang="ru-RU" sz="2400" dirty="0" smtClean="0">
                          <a:solidFill>
                            <a:schemeClr val="tx1"/>
                          </a:solidFill>
                        </a:rPr>
                        <a:t> </a:t>
                      </a:r>
                      <a:r>
                        <a:rPr lang="ru-RU" sz="2000" dirty="0" smtClean="0">
                          <a:solidFill>
                            <a:schemeClr val="tx1"/>
                          </a:solidFill>
                        </a:rPr>
                        <a:t>согласованные</a:t>
                      </a:r>
                      <a:endParaRPr lang="ru-RU" sz="2000" dirty="0">
                        <a:solidFill>
                          <a:schemeClr val="tx1"/>
                        </a:solidFill>
                      </a:endParaRPr>
                    </a:p>
                  </a:txBody>
                  <a:tcPr anchor="ctr">
                    <a:solidFill>
                      <a:srgbClr val="00B0F0"/>
                    </a:solidFill>
                  </a:tcPr>
                </a:tc>
                <a:tc>
                  <a:txBody>
                    <a:bodyPr/>
                    <a:lstStyle/>
                    <a:p>
                      <a:pPr algn="ctr"/>
                      <a:r>
                        <a:rPr lang="ru-RU" sz="2000" dirty="0" smtClean="0">
                          <a:solidFill>
                            <a:schemeClr val="tx1"/>
                          </a:solidFill>
                        </a:rPr>
                        <a:t>ИСПОЛНЯЕМЫЕ,</a:t>
                      </a:r>
                      <a:r>
                        <a:rPr lang="ru-RU" sz="2000" baseline="0" dirty="0" smtClean="0">
                          <a:solidFill>
                            <a:schemeClr val="tx1"/>
                          </a:solidFill>
                        </a:rPr>
                        <a:t> </a:t>
                      </a:r>
                    </a:p>
                    <a:p>
                      <a:pPr algn="ctr"/>
                      <a:r>
                        <a:rPr lang="ru-RU" sz="2000" baseline="0" dirty="0" smtClean="0">
                          <a:solidFill>
                            <a:schemeClr val="tx1"/>
                          </a:solidFill>
                        </a:rPr>
                        <a:t>в РАБОТЕ</a:t>
                      </a:r>
                      <a:endParaRPr lang="ru-RU" sz="2000" dirty="0">
                        <a:solidFill>
                          <a:schemeClr val="tx1"/>
                        </a:solidFill>
                      </a:endParaRPr>
                    </a:p>
                  </a:txBody>
                  <a:tcPr anchor="ctr">
                    <a:solidFill>
                      <a:srgbClr val="00B0F0"/>
                    </a:solidFill>
                  </a:tcPr>
                </a:tc>
                <a:tc>
                  <a:txBody>
                    <a:bodyPr/>
                    <a:lstStyle/>
                    <a:p>
                      <a:pPr algn="ctr"/>
                      <a:r>
                        <a:rPr lang="ru-RU" sz="2400" dirty="0" smtClean="0">
                          <a:solidFill>
                            <a:schemeClr val="tx1"/>
                          </a:solidFill>
                        </a:rPr>
                        <a:t>АРХИВ</a:t>
                      </a:r>
                      <a:endParaRPr lang="ru-RU" sz="2400" dirty="0">
                        <a:solidFill>
                          <a:schemeClr val="tx1"/>
                        </a:solidFill>
                      </a:endParaRPr>
                    </a:p>
                  </a:txBody>
                  <a:tcPr anchor="ctr">
                    <a:solidFill>
                      <a:srgbClr val="C00000"/>
                    </a:solidFill>
                  </a:tcP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nvPr>
        </p:nvGraphicFramePr>
        <p:xfrm>
          <a:off x="547007" y="1764751"/>
          <a:ext cx="4065816" cy="457200"/>
        </p:xfrm>
        <a:graphic>
          <a:graphicData uri="http://schemas.openxmlformats.org/drawingml/2006/table">
            <a:tbl>
              <a:tblPr firstRow="1" bandRow="1">
                <a:tableStyleId>{5C22544A-7EE6-4342-B048-85BDC9FD1C3A}</a:tableStyleId>
              </a:tblPr>
              <a:tblGrid>
                <a:gridCol w="4065816">
                  <a:extLst>
                    <a:ext uri="{9D8B030D-6E8A-4147-A177-3AD203B41FA5}">
                      <a16:colId xmlns:a16="http://schemas.microsoft.com/office/drawing/2014/main" val="781837115"/>
                    </a:ext>
                  </a:extLst>
                </a:gridCol>
              </a:tblGrid>
              <a:tr h="457200">
                <a:tc>
                  <a:txBody>
                    <a:bodyPr/>
                    <a:lstStyle/>
                    <a:p>
                      <a:pPr algn="ctr"/>
                      <a:r>
                        <a:rPr lang="ru-RU" sz="2400" dirty="0" smtClean="0">
                          <a:solidFill>
                            <a:schemeClr val="tx1"/>
                          </a:solidFill>
                        </a:rPr>
                        <a:t>01 марта 2026</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3" name="Таблица 2"/>
          <p:cNvGraphicFramePr>
            <a:graphicFrameLocks noGrp="1"/>
          </p:cNvGraphicFramePr>
          <p:nvPr>
            <p:extLst/>
          </p:nvPr>
        </p:nvGraphicFramePr>
        <p:xfrm>
          <a:off x="4669972" y="1779239"/>
          <a:ext cx="1627466" cy="413220"/>
        </p:xfrm>
        <a:graphic>
          <a:graphicData uri="http://schemas.openxmlformats.org/drawingml/2006/table">
            <a:tbl>
              <a:tblPr firstRow="1" bandRow="1">
                <a:tableStyleId>{5C22544A-7EE6-4342-B048-85BDC9FD1C3A}</a:tableStyleId>
              </a:tblPr>
              <a:tblGrid>
                <a:gridCol w="1627466">
                  <a:extLst>
                    <a:ext uri="{9D8B030D-6E8A-4147-A177-3AD203B41FA5}">
                      <a16:colId xmlns:a16="http://schemas.microsoft.com/office/drawing/2014/main" val="3566676932"/>
                    </a:ext>
                  </a:extLst>
                </a:gridCol>
              </a:tblGrid>
              <a:tr h="413220">
                <a:tc>
                  <a:txBody>
                    <a:bodyPr/>
                    <a:lstStyle/>
                    <a:p>
                      <a:r>
                        <a:rPr lang="ru-RU" dirty="0" smtClean="0"/>
                        <a:t>поиск</a:t>
                      </a:r>
                      <a:endParaRPr lang="ru-RU" dirty="0"/>
                    </a:p>
                  </a:txBody>
                  <a:tcPr/>
                </a:tc>
                <a:extLst>
                  <a:ext uri="{0D108BD9-81ED-4DB2-BD59-A6C34878D82A}">
                    <a16:rowId xmlns:a16="http://schemas.microsoft.com/office/drawing/2014/main" val="1940349864"/>
                  </a:ext>
                </a:extLst>
              </a:tr>
            </a:tbl>
          </a:graphicData>
        </a:graphic>
      </p:graphicFrame>
      <p:sp>
        <p:nvSpPr>
          <p:cNvPr id="12" name="Стрелка влево 11"/>
          <p:cNvSpPr/>
          <p:nvPr/>
        </p:nvSpPr>
        <p:spPr>
          <a:xfrm>
            <a:off x="547007" y="267787"/>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4" name="Управляющая кнопка: сведения 13">
            <a:hlinkClick r:id="" action="ppaction://noaction" highlightClick="1"/>
          </p:cNvPr>
          <p:cNvSpPr/>
          <p:nvPr/>
        </p:nvSpPr>
        <p:spPr>
          <a:xfrm>
            <a:off x="6235803" y="11349386"/>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7" name="Прямоугольник 26"/>
          <p:cNvSpPr/>
          <p:nvPr/>
        </p:nvSpPr>
        <p:spPr>
          <a:xfrm>
            <a:off x="583969" y="4904110"/>
            <a:ext cx="5774925" cy="210306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685800" rtl="0" eaLnBrk="1" fontAlgn="auto" latinLnBrk="0" hangingPunct="1">
              <a:lnSpc>
                <a:spcPct val="100000"/>
              </a:lnSpc>
              <a:spcBef>
                <a:spcPts val="0"/>
              </a:spcBef>
              <a:spcAft>
                <a:spcPts val="0"/>
              </a:spcAft>
              <a:buClrTx/>
              <a:buSzTx/>
              <a:buFontTx/>
              <a:buNone/>
              <a:tabLst/>
              <a:defRPr/>
            </a:pPr>
            <a:r>
              <a:rPr lang="ru-RU" sz="2400" b="1" dirty="0" smtClean="0">
                <a:solidFill>
                  <a:schemeClr val="tx1"/>
                </a:solidFill>
                <a:latin typeface="Calibri" panose="020F0502020204030204" pitchFamily="34" charset="0"/>
              </a:rPr>
              <a:t>Отдел качества  </a:t>
            </a:r>
            <a:r>
              <a:rPr lang="ru-RU" sz="2400" b="1" dirty="0" smtClean="0">
                <a:solidFill>
                  <a:srgbClr val="FF0000"/>
                </a:solidFill>
                <a:latin typeface="Calibri" panose="020F0502020204030204" pitchFamily="34" charset="0"/>
              </a:rPr>
              <a:t>н</a:t>
            </a:r>
            <a:r>
              <a:rPr kumimoji="0" lang="ru-RU" sz="2400" b="1" i="0" u="none" strike="noStrike" kern="1200" cap="none" spc="0" normalizeH="0" baseline="0" noProof="0" dirty="0" smtClean="0">
                <a:ln>
                  <a:noFill/>
                </a:ln>
                <a:solidFill>
                  <a:srgbClr val="FF0000"/>
                </a:solidFill>
                <a:effectLst/>
                <a:uLnTx/>
                <a:uFillTx/>
                <a:latin typeface="Calibri" panose="020F0502020204030204" pitchFamily="34" charset="0"/>
                <a:ea typeface="+mn-ea"/>
                <a:cs typeface="+mn-cs"/>
              </a:rPr>
              <a:t>е</a:t>
            </a:r>
            <a:r>
              <a:rPr kumimoji="0" lang="ru-RU" sz="2400" b="1" i="0" u="none" strike="noStrike" kern="1200" cap="none" spc="0" normalizeH="0" noProof="0" dirty="0" smtClean="0">
                <a:ln>
                  <a:noFill/>
                </a:ln>
                <a:solidFill>
                  <a:srgbClr val="FF0000"/>
                </a:solidFill>
                <a:effectLst/>
                <a:uLnTx/>
                <a:uFillTx/>
                <a:latin typeface="Calibri" panose="020F0502020204030204" pitchFamily="34" charset="0"/>
                <a:ea typeface="+mn-ea"/>
                <a:cs typeface="+mn-cs"/>
              </a:rPr>
              <a:t> выполнено</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12 /30.07.2025 12:47 </a:t>
            </a:r>
            <a:r>
              <a:rPr kumimoji="0" lang="ru-RU" sz="2400" b="1" i="0" u="none" strike="noStrike" kern="1200" cap="none" spc="0" normalizeH="0" baseline="0" noProof="0" dirty="0" err="1" smtClean="0">
                <a:ln>
                  <a:noFill/>
                </a:ln>
                <a:solidFill>
                  <a:prstClr val="black"/>
                </a:solidFill>
                <a:effectLst/>
                <a:uLnTx/>
                <a:uFillTx/>
                <a:latin typeface="Calibri" panose="020F0502020204030204" pitchFamily="34" charset="0"/>
                <a:ea typeface="+mn-ea"/>
                <a:cs typeface="+mn-cs"/>
              </a:rPr>
              <a:t>инсп</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Петров С.Н. «Внедрение системы регуляции…»</a:t>
            </a:r>
          </a:p>
          <a:p>
            <a:pPr lvl="0" algn="ctr" defTabSz="685800">
              <a:defRPr/>
            </a:pPr>
            <a:r>
              <a:rPr lang="ru-RU" sz="2400" b="1" dirty="0">
                <a:solidFill>
                  <a:prstClr val="black"/>
                </a:solidFill>
              </a:rPr>
              <a:t>Завершено </a:t>
            </a:r>
            <a:r>
              <a:rPr lang="ru-RU" sz="2400" b="1" dirty="0" smtClean="0">
                <a:solidFill>
                  <a:prstClr val="black"/>
                </a:solidFill>
              </a:rPr>
              <a:t>18.09.2026/15:12</a:t>
            </a:r>
            <a:endParaRPr lang="ru-RU" sz="2400" b="1" dirty="0">
              <a:solidFill>
                <a:prstClr val="black"/>
              </a:solidFill>
            </a:endParaRPr>
          </a:p>
        </p:txBody>
      </p:sp>
      <p:sp>
        <p:nvSpPr>
          <p:cNvPr id="28" name="Прямоугольник 27"/>
          <p:cNvSpPr/>
          <p:nvPr/>
        </p:nvSpPr>
        <p:spPr>
          <a:xfrm>
            <a:off x="576888" y="2843800"/>
            <a:ext cx="5782006" cy="143624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a:t>
            </a:r>
            <a:r>
              <a:rPr kumimoji="0" lang="ru-RU" sz="2400" b="1" i="0" u="none" strike="noStrike" kern="1200" cap="none" spc="0" normalizeH="0" baseline="0" noProof="0" dirty="0" smtClean="0">
                <a:ln>
                  <a:noFill/>
                </a:ln>
                <a:solidFill>
                  <a:srgbClr val="FFFF00"/>
                </a:solidFill>
                <a:effectLst/>
                <a:uLnTx/>
                <a:uFillTx/>
                <a:latin typeface="Calibri" panose="020F0502020204030204" pitchFamily="34" charset="0"/>
                <a:ea typeface="+mn-ea"/>
                <a:cs typeface="+mn-cs"/>
              </a:rPr>
              <a:t>Анонимно</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a:t>
            </a:r>
            <a:r>
              <a:rPr kumimoji="0" lang="ru-RU" sz="2400" b="1" i="0" u="none" strike="noStrike" kern="1200" cap="none" spc="0" normalizeH="0" baseline="0" noProof="0" dirty="0" smtClean="0">
                <a:ln>
                  <a:noFill/>
                </a:ln>
                <a:solidFill>
                  <a:schemeClr val="accent2">
                    <a:lumMod val="75000"/>
                  </a:schemeClr>
                </a:solidFill>
                <a:effectLst/>
                <a:uLnTx/>
                <a:uFillTx/>
                <a:latin typeface="Calibri" panose="020F0502020204030204" pitchFamily="34" charset="0"/>
                <a:ea typeface="+mn-ea"/>
                <a:cs typeface="+mn-cs"/>
              </a:rPr>
              <a:t>выполнено</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11 от </a:t>
            </a:r>
            <a:r>
              <a:rPr kumimoji="0" lang="ru-RU"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29.07.2025 </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11:46</a:t>
            </a:r>
          </a:p>
          <a:p>
            <a:pPr marL="0" marR="0" lvl="0" indent="0" algn="ctr" defTabSz="685800" rtl="0" eaLnBrk="1" fontAlgn="auto" latinLnBrk="0" hangingPunct="1">
              <a:lnSpc>
                <a:spcPct val="100000"/>
              </a:lnSpc>
              <a:spcBef>
                <a:spcPts val="0"/>
              </a:spcBef>
              <a:spcAft>
                <a:spcPts val="0"/>
              </a:spcAft>
              <a:buClrTx/>
              <a:buSzTx/>
              <a:buFontTx/>
              <a:buNone/>
              <a:tabLst/>
              <a:defRPr/>
            </a:pPr>
            <a:r>
              <a:rPr lang="ru-RU" sz="2400" b="1" dirty="0" smtClean="0">
                <a:solidFill>
                  <a:prstClr val="black"/>
                </a:solidFill>
                <a:latin typeface="Calibri" panose="020F0502020204030204" pitchFamily="34" charset="0"/>
              </a:rPr>
              <a:t>Завершено 18.09.2026/14:18</a:t>
            </a:r>
            <a:endPar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endParaRPr>
          </a:p>
        </p:txBody>
      </p:sp>
      <p:pic>
        <p:nvPicPr>
          <p:cNvPr id="32" name="Рисунок 31"/>
          <p:cNvPicPr>
            <a:picLocks noChangeAspect="1"/>
          </p:cNvPicPr>
          <p:nvPr/>
        </p:nvPicPr>
        <p:blipFill>
          <a:blip r:embed="rId2"/>
          <a:stretch>
            <a:fillRect/>
          </a:stretch>
        </p:blipFill>
        <p:spPr>
          <a:xfrm>
            <a:off x="4669972" y="10702058"/>
            <a:ext cx="1410335" cy="932769"/>
          </a:xfrm>
          <a:prstGeom prst="rect">
            <a:avLst/>
          </a:prstGeom>
        </p:spPr>
      </p:pic>
      <p:sp>
        <p:nvSpPr>
          <p:cNvPr id="6" name="TextBox 5"/>
          <p:cNvSpPr txBox="1"/>
          <p:nvPr/>
        </p:nvSpPr>
        <p:spPr>
          <a:xfrm>
            <a:off x="791587" y="10210347"/>
            <a:ext cx="5345521" cy="369332"/>
          </a:xfrm>
          <a:prstGeom prst="rect">
            <a:avLst/>
          </a:prstGeom>
          <a:noFill/>
        </p:spPr>
        <p:txBody>
          <a:bodyPr wrap="square" rtlCol="0">
            <a:spAutoFit/>
          </a:bodyPr>
          <a:lstStyle/>
          <a:p>
            <a:pPr lvl="0" algn="ctr">
              <a:defRPr/>
            </a:pPr>
            <a:r>
              <a:rPr lang="ru-RU" b="1" u="sng">
                <a:solidFill>
                  <a:prstClr val="black"/>
                </a:solidFill>
              </a:rPr>
              <a:t>Списки предложений по адресатам</a:t>
            </a:r>
            <a:endParaRPr lang="ru-RU" b="1" u="sng" dirty="0">
              <a:solidFill>
                <a:prstClr val="black"/>
              </a:solidFill>
            </a:endParaRPr>
          </a:p>
        </p:txBody>
      </p:sp>
      <p:sp>
        <p:nvSpPr>
          <p:cNvPr id="7" name="TextBox 6"/>
          <p:cNvSpPr txBox="1"/>
          <p:nvPr/>
        </p:nvSpPr>
        <p:spPr>
          <a:xfrm>
            <a:off x="1733521" y="2351763"/>
            <a:ext cx="3461657" cy="461665"/>
          </a:xfrm>
          <a:prstGeom prst="rect">
            <a:avLst/>
          </a:prstGeom>
          <a:noFill/>
        </p:spPr>
        <p:txBody>
          <a:bodyPr wrap="square" rtlCol="0">
            <a:spAutoFit/>
          </a:bodyPr>
          <a:lstStyle/>
          <a:p>
            <a:r>
              <a:rPr lang="ru-RU" sz="2400" b="1" u="sng" dirty="0" smtClean="0"/>
              <a:t>Успешно выполненные</a:t>
            </a:r>
            <a:endParaRPr lang="ru-RU" sz="2400" b="1" u="sng" dirty="0"/>
          </a:p>
        </p:txBody>
      </p:sp>
      <p:sp>
        <p:nvSpPr>
          <p:cNvPr id="8" name="TextBox 7"/>
          <p:cNvSpPr txBox="1"/>
          <p:nvPr/>
        </p:nvSpPr>
        <p:spPr>
          <a:xfrm>
            <a:off x="1227334" y="4458805"/>
            <a:ext cx="4474029" cy="461665"/>
          </a:xfrm>
          <a:prstGeom prst="rect">
            <a:avLst/>
          </a:prstGeom>
          <a:noFill/>
        </p:spPr>
        <p:txBody>
          <a:bodyPr wrap="square" rtlCol="0">
            <a:spAutoFit/>
          </a:bodyPr>
          <a:lstStyle/>
          <a:p>
            <a:pPr algn="ctr"/>
            <a:r>
              <a:rPr lang="ru-RU" sz="2400" b="1" u="sng" dirty="0" smtClean="0"/>
              <a:t>Не выполнены</a:t>
            </a:r>
            <a:endParaRPr lang="ru-RU" sz="2400" b="1" u="sng" dirty="0"/>
          </a:p>
        </p:txBody>
      </p:sp>
      <p:sp>
        <p:nvSpPr>
          <p:cNvPr id="9" name="TextBox 8"/>
          <p:cNvSpPr txBox="1"/>
          <p:nvPr/>
        </p:nvSpPr>
        <p:spPr>
          <a:xfrm>
            <a:off x="1733521" y="7233636"/>
            <a:ext cx="3818193" cy="461665"/>
          </a:xfrm>
          <a:prstGeom prst="rect">
            <a:avLst/>
          </a:prstGeom>
          <a:noFill/>
        </p:spPr>
        <p:txBody>
          <a:bodyPr wrap="square" rtlCol="0">
            <a:spAutoFit/>
          </a:bodyPr>
          <a:lstStyle/>
          <a:p>
            <a:pPr algn="ctr"/>
            <a:r>
              <a:rPr lang="ru-RU" sz="2400" b="1" u="sng" dirty="0" smtClean="0"/>
              <a:t>отказ</a:t>
            </a:r>
            <a:endParaRPr lang="ru-RU" sz="2400" b="1" u="sng" dirty="0"/>
          </a:p>
        </p:txBody>
      </p:sp>
      <p:sp>
        <p:nvSpPr>
          <p:cNvPr id="15" name="Прямоугольник 14"/>
          <p:cNvSpPr/>
          <p:nvPr/>
        </p:nvSpPr>
        <p:spPr>
          <a:xfrm>
            <a:off x="583969" y="7663575"/>
            <a:ext cx="5774925" cy="1598221"/>
          </a:xfrm>
          <a:prstGeom prst="rect">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lang="ru-RU" sz="2400" b="1" dirty="0" smtClean="0">
                <a:solidFill>
                  <a:schemeClr val="tx1"/>
                </a:solidFill>
                <a:latin typeface="Calibri" panose="020F0502020204030204" pitchFamily="34" charset="0"/>
              </a:rPr>
              <a:t>Отдел качества                       отказ</a:t>
            </a:r>
            <a:endParaRPr kumimoji="0" lang="ru-RU" sz="2400" b="1" i="0" u="none" strike="noStrike" kern="1200" cap="none" spc="0" normalizeH="0" noProof="0" dirty="0" smtClean="0">
              <a:ln>
                <a:noFill/>
              </a:ln>
              <a:solidFill>
                <a:schemeClr val="tx1"/>
              </a:solidFill>
              <a:effectLst/>
              <a:uLnTx/>
              <a:uFillTx/>
              <a:latin typeface="Calibri" panose="020F0502020204030204" pitchFamily="34" charset="0"/>
            </a:endParaRPr>
          </a:p>
          <a:p>
            <a:pPr lvl="0" algn="ctr" defTabSz="685800">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12 от 30.07.2025 12:47 </a:t>
            </a:r>
            <a:r>
              <a:rPr kumimoji="0" lang="ru-RU" sz="2400" b="1" i="0" u="none" strike="noStrike" kern="1200" cap="none" spc="0" normalizeH="0" baseline="0" noProof="0" dirty="0" err="1" smtClean="0">
                <a:ln>
                  <a:noFill/>
                </a:ln>
                <a:solidFill>
                  <a:prstClr val="black"/>
                </a:solidFill>
                <a:effectLst/>
                <a:uLnTx/>
                <a:uFillTx/>
                <a:latin typeface="Calibri" panose="020F0502020204030204" pitchFamily="34" charset="0"/>
                <a:ea typeface="+mn-ea"/>
                <a:cs typeface="+mn-cs"/>
              </a:rPr>
              <a:t>инж</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Петров С.Н. «Внедрение системы </a:t>
            </a:r>
            <a:r>
              <a:rPr lang="ru-RU" sz="2400" b="1" dirty="0">
                <a:solidFill>
                  <a:prstClr val="black"/>
                </a:solidFill>
              </a:rPr>
              <a:t>регуляции…» Завершено 18.09.2026</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endParaRPr>
          </a:p>
        </p:txBody>
      </p:sp>
      <p:sp>
        <p:nvSpPr>
          <p:cNvPr id="11" name="Прямоугольник 10"/>
          <p:cNvSpPr/>
          <p:nvPr/>
        </p:nvSpPr>
        <p:spPr>
          <a:xfrm>
            <a:off x="583968" y="9576466"/>
            <a:ext cx="5713469" cy="511503"/>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Box 12"/>
          <p:cNvSpPr txBox="1"/>
          <p:nvPr/>
        </p:nvSpPr>
        <p:spPr>
          <a:xfrm>
            <a:off x="2807365" y="9662574"/>
            <a:ext cx="2106385" cy="461665"/>
          </a:xfrm>
          <a:prstGeom prst="rect">
            <a:avLst/>
          </a:prstGeom>
          <a:noFill/>
        </p:spPr>
        <p:txBody>
          <a:bodyPr wrap="square" rtlCol="0">
            <a:spAutoFit/>
          </a:bodyPr>
          <a:lstStyle/>
          <a:p>
            <a:r>
              <a:rPr lang="ru-RU" sz="2400" b="1" dirty="0" smtClean="0"/>
              <a:t>секретно</a:t>
            </a:r>
            <a:endParaRPr lang="ru-RU" sz="2400" b="1" dirty="0"/>
          </a:p>
        </p:txBody>
      </p:sp>
    </p:spTree>
    <p:extLst>
      <p:ext uri="{BB962C8B-B14F-4D97-AF65-F5344CB8AC3E}">
        <p14:creationId xmlns:p14="http://schemas.microsoft.com/office/powerpoint/2010/main" val="278778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93914" y="124896"/>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6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БАЗА ПРЕДЛОЖЕНИЙ</a:t>
            </a:r>
            <a:endParaRPr kumimoji="0" lang="ru-RU" sz="36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aphicFrame>
        <p:nvGraphicFramePr>
          <p:cNvPr id="4" name="Таблица 3"/>
          <p:cNvGraphicFramePr>
            <a:graphicFrameLocks noGrp="1"/>
          </p:cNvGraphicFramePr>
          <p:nvPr>
            <p:extLst>
              <p:ext uri="{D42A27DB-BD31-4B8C-83A1-F6EECF244321}">
                <p14:modId xmlns:p14="http://schemas.microsoft.com/office/powerpoint/2010/main" val="3661123338"/>
              </p:ext>
            </p:extLst>
          </p:nvPr>
        </p:nvGraphicFramePr>
        <p:xfrm>
          <a:off x="522513" y="783771"/>
          <a:ext cx="5829300" cy="70104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4096374418"/>
                    </a:ext>
                  </a:extLst>
                </a:gridCol>
                <a:gridCol w="2204358">
                  <a:extLst>
                    <a:ext uri="{9D8B030D-6E8A-4147-A177-3AD203B41FA5}">
                      <a16:colId xmlns:a16="http://schemas.microsoft.com/office/drawing/2014/main" val="3004465261"/>
                    </a:ext>
                  </a:extLst>
                </a:gridCol>
                <a:gridCol w="1681842">
                  <a:extLst>
                    <a:ext uri="{9D8B030D-6E8A-4147-A177-3AD203B41FA5}">
                      <a16:colId xmlns:a16="http://schemas.microsoft.com/office/drawing/2014/main" val="495450802"/>
                    </a:ext>
                  </a:extLst>
                </a:gridCol>
              </a:tblGrid>
              <a:tr h="636815">
                <a:tc>
                  <a:txBody>
                    <a:bodyPr/>
                    <a:lstStyle/>
                    <a:p>
                      <a:pPr algn="ctr"/>
                      <a:r>
                        <a:rPr lang="ru-RU" sz="1400" b="1" dirty="0" smtClean="0">
                          <a:solidFill>
                            <a:schemeClr val="tx1"/>
                          </a:solidFill>
                        </a:rPr>
                        <a:t>ОБСУЖДАЕМЫЕ</a:t>
                      </a:r>
                      <a:r>
                        <a:rPr lang="ru-RU" sz="2000" dirty="0" smtClean="0">
                          <a:solidFill>
                            <a:schemeClr val="tx1"/>
                          </a:solidFill>
                        </a:rPr>
                        <a:t> и согласованные</a:t>
                      </a:r>
                      <a:endParaRPr lang="ru-RU" sz="2000" dirty="0">
                        <a:solidFill>
                          <a:schemeClr val="tx1"/>
                        </a:solidFill>
                      </a:endParaRPr>
                    </a:p>
                  </a:txBody>
                  <a:tcPr anchor="ctr">
                    <a:solidFill>
                      <a:schemeClr val="accent1">
                        <a:lumMod val="40000"/>
                        <a:lumOff val="60000"/>
                      </a:schemeClr>
                    </a:solidFill>
                  </a:tcPr>
                </a:tc>
                <a:tc>
                  <a:txBody>
                    <a:bodyPr/>
                    <a:lstStyle/>
                    <a:p>
                      <a:pPr algn="ctr"/>
                      <a:r>
                        <a:rPr lang="ru-RU" sz="2000" dirty="0" smtClean="0">
                          <a:solidFill>
                            <a:schemeClr val="tx1"/>
                          </a:solidFill>
                        </a:rPr>
                        <a:t>ИСПОЛНЯЕМЫЕ,</a:t>
                      </a:r>
                      <a:r>
                        <a:rPr lang="ru-RU" sz="2000" baseline="0" dirty="0" smtClean="0">
                          <a:solidFill>
                            <a:schemeClr val="tx1"/>
                          </a:solidFill>
                        </a:rPr>
                        <a:t> </a:t>
                      </a:r>
                    </a:p>
                    <a:p>
                      <a:pPr algn="ctr"/>
                      <a:r>
                        <a:rPr lang="ru-RU" sz="2000" baseline="0" dirty="0" smtClean="0">
                          <a:solidFill>
                            <a:schemeClr val="tx1"/>
                          </a:solidFill>
                        </a:rPr>
                        <a:t>в РАБОТЕ</a:t>
                      </a:r>
                      <a:endParaRPr lang="ru-RU" sz="2000" dirty="0">
                        <a:solidFill>
                          <a:schemeClr val="tx1"/>
                        </a:solidFill>
                      </a:endParaRPr>
                    </a:p>
                  </a:txBody>
                  <a:tcPr anchor="ctr">
                    <a:solidFill>
                      <a:schemeClr val="accent1">
                        <a:lumMod val="40000"/>
                        <a:lumOff val="60000"/>
                      </a:schemeClr>
                    </a:solidFill>
                  </a:tcPr>
                </a:tc>
                <a:tc>
                  <a:txBody>
                    <a:bodyPr/>
                    <a:lstStyle/>
                    <a:p>
                      <a:pPr algn="ctr"/>
                      <a:r>
                        <a:rPr lang="ru-RU" sz="2400" dirty="0" smtClean="0">
                          <a:solidFill>
                            <a:schemeClr val="tx1"/>
                          </a:solidFill>
                        </a:rPr>
                        <a:t>АРХИВ</a:t>
                      </a:r>
                      <a:endParaRPr lang="ru-RU" sz="2400" dirty="0">
                        <a:solidFill>
                          <a:schemeClr val="tx1"/>
                        </a:solidFill>
                      </a:endParaRPr>
                    </a:p>
                  </a:txBody>
                  <a:tcPr anchor="ctr">
                    <a:solidFill>
                      <a:srgbClr val="FF0000"/>
                    </a:solidFill>
                  </a:tcP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1486835693"/>
              </p:ext>
            </p:extLst>
          </p:nvPr>
        </p:nvGraphicFramePr>
        <p:xfrm>
          <a:off x="522513" y="1502229"/>
          <a:ext cx="5806500" cy="457200"/>
        </p:xfrm>
        <a:graphic>
          <a:graphicData uri="http://schemas.openxmlformats.org/drawingml/2006/table">
            <a:tbl>
              <a:tblPr firstRow="1" bandRow="1">
                <a:tableStyleId>{5C22544A-7EE6-4342-B048-85BDC9FD1C3A}</a:tableStyleId>
              </a:tblPr>
              <a:tblGrid>
                <a:gridCol w="5806500">
                  <a:extLst>
                    <a:ext uri="{9D8B030D-6E8A-4147-A177-3AD203B41FA5}">
                      <a16:colId xmlns:a16="http://schemas.microsoft.com/office/drawing/2014/main" val="781837115"/>
                    </a:ext>
                  </a:extLst>
                </a:gridCol>
              </a:tblGrid>
              <a:tr h="418393">
                <a:tc>
                  <a:txBody>
                    <a:bodyPr/>
                    <a:lstStyle/>
                    <a:p>
                      <a:pPr algn="ctr"/>
                      <a:r>
                        <a:rPr lang="ru-RU" sz="2400" dirty="0" smtClean="0">
                          <a:solidFill>
                            <a:schemeClr val="tx1"/>
                          </a:solidFill>
                        </a:rPr>
                        <a:t>01 марта 2025/10 ч 12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655471618"/>
              </p:ext>
            </p:extLst>
          </p:nvPr>
        </p:nvGraphicFramePr>
        <p:xfrm>
          <a:off x="457200" y="2024743"/>
          <a:ext cx="5894612" cy="9405257"/>
        </p:xfrm>
        <a:graphic>
          <a:graphicData uri="http://schemas.openxmlformats.org/drawingml/2006/table">
            <a:tbl>
              <a:tblPr firstRow="1" bandRow="1">
                <a:tableStyleId>{5C22544A-7EE6-4342-B048-85BDC9FD1C3A}</a:tableStyleId>
              </a:tblPr>
              <a:tblGrid>
                <a:gridCol w="5894612">
                  <a:extLst>
                    <a:ext uri="{9D8B030D-6E8A-4147-A177-3AD203B41FA5}">
                      <a16:colId xmlns:a16="http://schemas.microsoft.com/office/drawing/2014/main" val="47972225"/>
                    </a:ext>
                  </a:extLst>
                </a:gridCol>
              </a:tblGrid>
              <a:tr h="9405257">
                <a:tc>
                  <a:txBody>
                    <a:bodyPr/>
                    <a:lstStyle/>
                    <a:p>
                      <a:r>
                        <a:rPr lang="ru-RU" sz="2400" dirty="0" smtClean="0">
                          <a:solidFill>
                            <a:schemeClr val="tx1"/>
                          </a:solidFill>
                        </a:rPr>
                        <a:t>Предложение</a:t>
                      </a:r>
                      <a:r>
                        <a:rPr lang="ru-RU" sz="2400" baseline="0" dirty="0" smtClean="0">
                          <a:solidFill>
                            <a:schemeClr val="tx1"/>
                          </a:solidFill>
                        </a:rPr>
                        <a:t> №…</a:t>
                      </a:r>
                    </a:p>
                    <a:p>
                      <a:r>
                        <a:rPr lang="ru-RU" sz="2400" baseline="0" dirty="0" smtClean="0">
                          <a:solidFill>
                            <a:schemeClr val="tx1"/>
                          </a:solidFill>
                        </a:rPr>
                        <a:t>рейтинг…</a:t>
                      </a:r>
                    </a:p>
                    <a:p>
                      <a:r>
                        <a:rPr lang="ru-RU" sz="2400" baseline="0" dirty="0" smtClean="0">
                          <a:solidFill>
                            <a:schemeClr val="tx1"/>
                          </a:solidFill>
                        </a:rPr>
                        <a:t>Автор (</a:t>
                      </a:r>
                      <a:r>
                        <a:rPr lang="ru-RU" sz="2400" i="1" baseline="0" dirty="0" smtClean="0">
                          <a:solidFill>
                            <a:schemeClr val="tx1"/>
                          </a:solidFill>
                        </a:rPr>
                        <a:t>ФИО, должность</a:t>
                      </a:r>
                      <a:r>
                        <a:rPr lang="ru-RU" sz="2400" baseline="0" dirty="0" smtClean="0">
                          <a:solidFill>
                            <a:schemeClr val="tx1"/>
                          </a:solidFill>
                        </a:rPr>
                        <a:t>)</a:t>
                      </a:r>
                    </a:p>
                    <a:p>
                      <a:r>
                        <a:rPr lang="ru-RU" sz="2400" baseline="0" dirty="0" smtClean="0">
                          <a:solidFill>
                            <a:schemeClr val="tx1"/>
                          </a:solidFill>
                        </a:rPr>
                        <a:t>Соавтор (</a:t>
                      </a:r>
                      <a:r>
                        <a:rPr lang="ru-RU" sz="2400" i="1" baseline="0" dirty="0" smtClean="0">
                          <a:solidFill>
                            <a:schemeClr val="tx1"/>
                          </a:solidFill>
                        </a:rPr>
                        <a:t>ФИО, должность</a:t>
                      </a:r>
                      <a:r>
                        <a:rPr lang="ru-RU" sz="2400" baseline="0" dirty="0" smtClean="0">
                          <a:solidFill>
                            <a:schemeClr val="tx1"/>
                          </a:solidFill>
                        </a:rPr>
                        <a:t>)</a:t>
                      </a:r>
                    </a:p>
                    <a:p>
                      <a:r>
                        <a:rPr lang="ru-RU" sz="2400" baseline="0" dirty="0" smtClean="0">
                          <a:solidFill>
                            <a:schemeClr val="tx1"/>
                          </a:solidFill>
                        </a:rPr>
                        <a:t>Проблема:_____________________</a:t>
                      </a:r>
                    </a:p>
                    <a:p>
                      <a:endParaRPr lang="ru-RU" sz="2400" baseline="0" dirty="0" smtClean="0">
                        <a:solidFill>
                          <a:schemeClr val="tx1"/>
                        </a:solidFill>
                      </a:endParaRPr>
                    </a:p>
                    <a:p>
                      <a:r>
                        <a:rPr lang="ru-RU" sz="2400" baseline="0" dirty="0" smtClean="0">
                          <a:solidFill>
                            <a:schemeClr val="tx1"/>
                          </a:solidFill>
                        </a:rPr>
                        <a:t>Предложение, идея:_________________________</a:t>
                      </a:r>
                    </a:p>
                    <a:p>
                      <a:endParaRPr lang="ru-RU" sz="2400" baseline="0" dirty="0" smtClean="0">
                        <a:solidFill>
                          <a:schemeClr val="tx1"/>
                        </a:solidFill>
                      </a:endParaRPr>
                    </a:p>
                    <a:p>
                      <a:r>
                        <a:rPr lang="ru-RU" sz="2400" baseline="0" dirty="0" smtClean="0">
                          <a:solidFill>
                            <a:schemeClr val="tx1"/>
                          </a:solidFill>
                        </a:rPr>
                        <a:t>Как выполнить:_________________</a:t>
                      </a:r>
                    </a:p>
                    <a:p>
                      <a:r>
                        <a:rPr lang="ru-RU" sz="2400" baseline="0" dirty="0" smtClean="0">
                          <a:solidFill>
                            <a:schemeClr val="tx1"/>
                          </a:solidFill>
                        </a:rPr>
                        <a:t>Требуемые ресурсы:_______________________</a:t>
                      </a:r>
                    </a:p>
                    <a:p>
                      <a:endParaRPr lang="ru-RU" sz="2400" baseline="0" dirty="0" smtClean="0">
                        <a:solidFill>
                          <a:schemeClr val="tx1"/>
                        </a:solidFill>
                      </a:endParaRPr>
                    </a:p>
                    <a:p>
                      <a:r>
                        <a:rPr lang="ru-RU" sz="2400" u="sng" baseline="0" dirty="0" smtClean="0">
                          <a:solidFill>
                            <a:schemeClr val="tx1"/>
                          </a:solidFill>
                        </a:rPr>
                        <a:t>комментарии</a:t>
                      </a:r>
                    </a:p>
                    <a:p>
                      <a:pPr algn="l"/>
                      <a:r>
                        <a:rPr lang="ru-RU" sz="2400" u="sng" baseline="0" dirty="0" smtClean="0">
                          <a:solidFill>
                            <a:schemeClr val="tx1"/>
                          </a:solidFill>
                        </a:rPr>
                        <a:t>мой комментарий</a:t>
                      </a:r>
                      <a:endParaRPr lang="ru-RU" sz="3200" u="sng" baseline="0" dirty="0" smtClean="0">
                        <a:solidFill>
                          <a:schemeClr val="tx1"/>
                        </a:solidFill>
                      </a:endParaRPr>
                    </a:p>
                    <a:p>
                      <a:pPr algn="ctr"/>
                      <a:endParaRPr lang="ru-RU" sz="1800" baseline="0" dirty="0" smtClean="0">
                        <a:solidFill>
                          <a:schemeClr val="tx1"/>
                        </a:solidFill>
                      </a:endParaRPr>
                    </a:p>
                    <a:p>
                      <a:pPr algn="ctr"/>
                      <a:r>
                        <a:rPr lang="ru-RU" sz="1800" baseline="0" dirty="0" smtClean="0">
                          <a:solidFill>
                            <a:schemeClr val="tx1"/>
                          </a:solidFill>
                        </a:rPr>
                        <a:t>Согласовано 03.03.2026 14:23 </a:t>
                      </a:r>
                      <a:r>
                        <a:rPr lang="ru-RU" sz="1800" baseline="0" dirty="0" err="1" smtClean="0">
                          <a:solidFill>
                            <a:schemeClr val="tx1"/>
                          </a:solidFill>
                        </a:rPr>
                        <a:t>вед.инж</a:t>
                      </a:r>
                      <a:r>
                        <a:rPr lang="ru-RU" sz="1800" baseline="0" dirty="0" smtClean="0">
                          <a:solidFill>
                            <a:schemeClr val="tx1"/>
                          </a:solidFill>
                        </a:rPr>
                        <a:t> Попов. С.В.</a:t>
                      </a:r>
                      <a:endParaRPr lang="ru-RU" sz="3200" baseline="0" dirty="0" smtClean="0">
                        <a:solidFill>
                          <a:schemeClr val="tx1"/>
                        </a:solidFill>
                      </a:endParaRPr>
                    </a:p>
                    <a:p>
                      <a:pPr algn="ctr"/>
                      <a:endParaRPr lang="ru-RU" sz="3200" baseline="0" dirty="0" smtClean="0">
                        <a:solidFill>
                          <a:schemeClr val="tx1"/>
                        </a:solidFill>
                      </a:endParaRPr>
                    </a:p>
                    <a:p>
                      <a:pPr algn="ctr"/>
                      <a:r>
                        <a:rPr lang="ru-RU" sz="3200" baseline="0" dirty="0" smtClean="0">
                          <a:solidFill>
                            <a:schemeClr val="tx1"/>
                          </a:solidFill>
                        </a:rPr>
                        <a:t>за     против  воздержался</a:t>
                      </a:r>
                    </a:p>
                    <a:p>
                      <a:pPr algn="l"/>
                      <a:r>
                        <a:rPr lang="ru-RU" sz="3200" dirty="0" smtClean="0">
                          <a:solidFill>
                            <a:schemeClr val="tx1"/>
                          </a:solidFill>
                        </a:rPr>
                        <a:t>             </a:t>
                      </a:r>
                      <a:r>
                        <a:rPr lang="ru-RU" sz="2400" dirty="0" smtClean="0">
                          <a:solidFill>
                            <a:schemeClr val="tx1"/>
                          </a:solidFill>
                        </a:rPr>
                        <a:t>15               4                  2</a:t>
                      </a:r>
                      <a:endParaRPr lang="ru-RU" sz="2400" dirty="0">
                        <a:solidFill>
                          <a:schemeClr val="tx1"/>
                        </a:solidFill>
                      </a:endParaRPr>
                    </a:p>
                  </a:txBody>
                  <a:tcPr/>
                </a:tc>
                <a:extLst>
                  <a:ext uri="{0D108BD9-81ED-4DB2-BD59-A6C34878D82A}">
                    <a16:rowId xmlns:a16="http://schemas.microsoft.com/office/drawing/2014/main" val="3699655430"/>
                  </a:ext>
                </a:extLst>
              </a:tr>
            </a:tbl>
          </a:graphicData>
        </a:graphic>
      </p:graphicFrame>
      <p:graphicFrame>
        <p:nvGraphicFramePr>
          <p:cNvPr id="8" name="Таблица 7"/>
          <p:cNvGraphicFramePr>
            <a:graphicFrameLocks noGrp="1"/>
          </p:cNvGraphicFramePr>
          <p:nvPr>
            <p:extLst>
              <p:ext uri="{D42A27DB-BD31-4B8C-83A1-F6EECF244321}">
                <p14:modId xmlns:p14="http://schemas.microsoft.com/office/powerpoint/2010/main" val="209471912"/>
              </p:ext>
            </p:extLst>
          </p:nvPr>
        </p:nvGraphicFramePr>
        <p:xfrm>
          <a:off x="4898571" y="2057401"/>
          <a:ext cx="1453241" cy="516142"/>
        </p:xfrm>
        <a:graphic>
          <a:graphicData uri="http://schemas.openxmlformats.org/drawingml/2006/table">
            <a:tbl>
              <a:tblPr firstRow="1" bandRow="1">
                <a:tableStyleId>{5C22544A-7EE6-4342-B048-85BDC9FD1C3A}</a:tableStyleId>
              </a:tblPr>
              <a:tblGrid>
                <a:gridCol w="1453241">
                  <a:extLst>
                    <a:ext uri="{9D8B030D-6E8A-4147-A177-3AD203B41FA5}">
                      <a16:colId xmlns:a16="http://schemas.microsoft.com/office/drawing/2014/main" val="121150993"/>
                    </a:ext>
                  </a:extLst>
                </a:gridCol>
              </a:tblGrid>
              <a:tr h="516142">
                <a:tc>
                  <a:txBody>
                    <a:bodyPr/>
                    <a:lstStyle/>
                    <a:p>
                      <a:pPr algn="ctr"/>
                      <a:r>
                        <a:rPr lang="ru-RU" sz="2000" dirty="0" smtClean="0">
                          <a:solidFill>
                            <a:schemeClr val="tx1"/>
                          </a:solidFill>
                        </a:rPr>
                        <a:t>анонимно</a:t>
                      </a:r>
                      <a:endParaRPr lang="ru-RU" sz="2000" dirty="0">
                        <a:solidFill>
                          <a:schemeClr val="tx1"/>
                        </a:solidFill>
                      </a:endParaRPr>
                    </a:p>
                  </a:txBody>
                  <a:tcPr anchor="ctr">
                    <a:solidFill>
                      <a:srgbClr val="FFFF00"/>
                    </a:solidFill>
                  </a:tcPr>
                </a:tc>
                <a:extLst>
                  <a:ext uri="{0D108BD9-81ED-4DB2-BD59-A6C34878D82A}">
                    <a16:rowId xmlns:a16="http://schemas.microsoft.com/office/drawing/2014/main" val="3611746982"/>
                  </a:ext>
                </a:extLst>
              </a:tr>
            </a:tbl>
          </a:graphicData>
        </a:graphic>
      </p:graphicFrame>
      <p:sp>
        <p:nvSpPr>
          <p:cNvPr id="9" name="Улыбающееся лицо 8"/>
          <p:cNvSpPr/>
          <p:nvPr/>
        </p:nvSpPr>
        <p:spPr>
          <a:xfrm>
            <a:off x="1061357" y="9925075"/>
            <a:ext cx="734785" cy="636815"/>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42BA97">
                  <a:lumMod val="60000"/>
                  <a:lumOff val="40000"/>
                </a:srgbClr>
              </a:solidFill>
              <a:effectLst/>
              <a:uLnTx/>
              <a:uFillTx/>
              <a:latin typeface="Calibri" panose="020F0502020204030204" pitchFamily="34" charset="0"/>
              <a:ea typeface="+mn-ea"/>
              <a:cs typeface="+mn-cs"/>
            </a:endParaRPr>
          </a:p>
        </p:txBody>
      </p:sp>
      <p:sp>
        <p:nvSpPr>
          <p:cNvPr id="20" name="Знак запрета 19"/>
          <p:cNvSpPr/>
          <p:nvPr/>
        </p:nvSpPr>
        <p:spPr>
          <a:xfrm>
            <a:off x="2400299" y="9835269"/>
            <a:ext cx="751113" cy="726621"/>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2" name="Стрелка влево 11"/>
          <p:cNvSpPr/>
          <p:nvPr/>
        </p:nvSpPr>
        <p:spPr>
          <a:xfrm>
            <a:off x="547007" y="267787"/>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4" name="Управляющая кнопка: сведения 13">
            <a:hlinkClick r:id="" action="ppaction://noaction" highlightClick="1"/>
          </p:cNvPr>
          <p:cNvSpPr/>
          <p:nvPr/>
        </p:nvSpPr>
        <p:spPr>
          <a:xfrm>
            <a:off x="5906685" y="10877792"/>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1" name="Стрелка вниз 10"/>
          <p:cNvSpPr/>
          <p:nvPr/>
        </p:nvSpPr>
        <p:spPr>
          <a:xfrm>
            <a:off x="5766024" y="4560349"/>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pic>
        <p:nvPicPr>
          <p:cNvPr id="16" name="Рисунок 15"/>
          <p:cNvPicPr>
            <a:picLocks noChangeAspect="1"/>
          </p:cNvPicPr>
          <p:nvPr/>
        </p:nvPicPr>
        <p:blipFill>
          <a:blip r:embed="rId2"/>
          <a:stretch>
            <a:fillRect/>
          </a:stretch>
        </p:blipFill>
        <p:spPr>
          <a:xfrm>
            <a:off x="5787364" y="3374495"/>
            <a:ext cx="536494" cy="518205"/>
          </a:xfrm>
          <a:prstGeom prst="rect">
            <a:avLst/>
          </a:prstGeom>
        </p:spPr>
      </p:pic>
      <p:pic>
        <p:nvPicPr>
          <p:cNvPr id="17" name="Рисунок 16"/>
          <p:cNvPicPr>
            <a:picLocks noChangeAspect="1"/>
          </p:cNvPicPr>
          <p:nvPr/>
        </p:nvPicPr>
        <p:blipFill>
          <a:blip r:embed="rId2"/>
          <a:stretch>
            <a:fillRect/>
          </a:stretch>
        </p:blipFill>
        <p:spPr>
          <a:xfrm>
            <a:off x="5764465" y="5367565"/>
            <a:ext cx="536494" cy="518205"/>
          </a:xfrm>
          <a:prstGeom prst="rect">
            <a:avLst/>
          </a:prstGeom>
        </p:spPr>
      </p:pic>
      <p:pic>
        <p:nvPicPr>
          <p:cNvPr id="18" name="Рисунок 17"/>
          <p:cNvPicPr>
            <a:picLocks noChangeAspect="1"/>
          </p:cNvPicPr>
          <p:nvPr/>
        </p:nvPicPr>
        <p:blipFill>
          <a:blip r:embed="rId2"/>
          <a:stretch>
            <a:fillRect/>
          </a:stretch>
        </p:blipFill>
        <p:spPr>
          <a:xfrm>
            <a:off x="5817326" y="5998207"/>
            <a:ext cx="536494" cy="518205"/>
          </a:xfrm>
          <a:prstGeom prst="rect">
            <a:avLst/>
          </a:prstGeom>
        </p:spPr>
      </p:pic>
      <p:sp>
        <p:nvSpPr>
          <p:cNvPr id="21" name="Загнутый угол 20"/>
          <p:cNvSpPr/>
          <p:nvPr/>
        </p:nvSpPr>
        <p:spPr>
          <a:xfrm>
            <a:off x="5299944" y="3424281"/>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2" name="Загнутый угол 21"/>
          <p:cNvSpPr/>
          <p:nvPr/>
        </p:nvSpPr>
        <p:spPr>
          <a:xfrm>
            <a:off x="5257828" y="4566964"/>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3" name="Загнутый угол 22"/>
          <p:cNvSpPr/>
          <p:nvPr/>
        </p:nvSpPr>
        <p:spPr>
          <a:xfrm>
            <a:off x="5299943" y="5346274"/>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4" name="Загнутый угол 23"/>
          <p:cNvSpPr/>
          <p:nvPr/>
        </p:nvSpPr>
        <p:spPr>
          <a:xfrm>
            <a:off x="5323113" y="6047993"/>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3" name="Блок-схема: ИЛИ 12"/>
          <p:cNvSpPr/>
          <p:nvPr/>
        </p:nvSpPr>
        <p:spPr>
          <a:xfrm>
            <a:off x="3832640" y="9892255"/>
            <a:ext cx="612648" cy="612648"/>
          </a:xfrm>
          <a:prstGeom prst="flowChartOr">
            <a:avLst/>
          </a:prstGeom>
          <a:solidFill>
            <a:srgbClr val="E6E6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5" name="Блок-схема: несколько документов 14"/>
          <p:cNvSpPr/>
          <p:nvPr/>
        </p:nvSpPr>
        <p:spPr>
          <a:xfrm>
            <a:off x="6039183" y="208776"/>
            <a:ext cx="499455" cy="481302"/>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pic>
        <p:nvPicPr>
          <p:cNvPr id="27" name="Рисунок 26"/>
          <p:cNvPicPr>
            <a:picLocks noChangeAspect="1"/>
          </p:cNvPicPr>
          <p:nvPr/>
        </p:nvPicPr>
        <p:blipFill>
          <a:blip r:embed="rId3"/>
          <a:stretch>
            <a:fillRect/>
          </a:stretch>
        </p:blipFill>
        <p:spPr>
          <a:xfrm>
            <a:off x="4402556" y="10529849"/>
            <a:ext cx="1475699" cy="807930"/>
          </a:xfrm>
          <a:prstGeom prst="rect">
            <a:avLst/>
          </a:prstGeom>
        </p:spPr>
      </p:pic>
      <p:sp>
        <p:nvSpPr>
          <p:cNvPr id="10" name="TextBox 9"/>
          <p:cNvSpPr txBox="1"/>
          <p:nvPr/>
        </p:nvSpPr>
        <p:spPr>
          <a:xfrm>
            <a:off x="2351314" y="2096433"/>
            <a:ext cx="1304277" cy="400110"/>
          </a:xfrm>
          <a:prstGeom prst="rect">
            <a:avLst/>
          </a:prstGeom>
          <a:solidFill>
            <a:schemeClr val="bg1">
              <a:lumMod val="50000"/>
            </a:schemeClr>
          </a:solidFill>
          <a:ln>
            <a:solidFill>
              <a:schemeClr val="tx1"/>
            </a:solidFill>
          </a:ln>
        </p:spPr>
        <p:txBody>
          <a:bodyPr wrap="square" rtlCol="0">
            <a:spAutoFit/>
          </a:bodyPr>
          <a:lstStyle/>
          <a:p>
            <a:r>
              <a:rPr lang="ru-RU" sz="2000" b="1" dirty="0" smtClean="0"/>
              <a:t>секретно</a:t>
            </a:r>
            <a:endParaRPr lang="ru-RU" sz="2000" b="1" dirty="0"/>
          </a:p>
        </p:txBody>
      </p:sp>
      <p:sp>
        <p:nvSpPr>
          <p:cNvPr id="25" name="TextBox 24"/>
          <p:cNvSpPr txBox="1"/>
          <p:nvPr/>
        </p:nvSpPr>
        <p:spPr>
          <a:xfrm>
            <a:off x="3624943" y="2099972"/>
            <a:ext cx="1304277" cy="400110"/>
          </a:xfrm>
          <a:prstGeom prst="rect">
            <a:avLst/>
          </a:prstGeom>
          <a:solidFill>
            <a:srgbClr val="7030A0"/>
          </a:solidFill>
          <a:ln>
            <a:solidFill>
              <a:schemeClr val="tx1"/>
            </a:solidFill>
          </a:ln>
        </p:spPr>
        <p:txBody>
          <a:bodyPr wrap="square" rtlCol="0">
            <a:spAutoFit/>
          </a:bodyPr>
          <a:lstStyle/>
          <a:p>
            <a:r>
              <a:rPr lang="ru-RU" sz="2000" b="1" dirty="0" smtClean="0"/>
              <a:t>отложить</a:t>
            </a:r>
            <a:endParaRPr lang="ru-RU" sz="2000" b="1" dirty="0"/>
          </a:p>
        </p:txBody>
      </p:sp>
    </p:spTree>
    <p:extLst>
      <p:ext uri="{BB962C8B-B14F-4D97-AF65-F5344CB8AC3E}">
        <p14:creationId xmlns:p14="http://schemas.microsoft.com/office/powerpoint/2010/main" val="41820755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Прямоугольник 1"/>
          <p:cNvSpPr/>
          <p:nvPr/>
        </p:nvSpPr>
        <p:spPr>
          <a:xfrm>
            <a:off x="287137" y="473528"/>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ru-RU" sz="3600" b="1" dirty="0" smtClean="0">
              <a:solidFill>
                <a:schemeClr val="tx1"/>
              </a:solidFill>
            </a:endParaRPr>
          </a:p>
          <a:p>
            <a:pPr algn="ctr"/>
            <a:r>
              <a:rPr lang="ru-RU" sz="2800" b="1" dirty="0" smtClean="0">
                <a:solidFill>
                  <a:schemeClr val="tx1"/>
                </a:solidFill>
              </a:rPr>
              <a:t>БИБЛИОТЕКА ЗНАНИЙ</a:t>
            </a:r>
            <a:endParaRPr lang="ru-RU" sz="2800" b="1" dirty="0">
              <a:solidFill>
                <a:schemeClr val="tx1"/>
              </a:solidFill>
            </a:endParaRPr>
          </a:p>
        </p:txBody>
      </p:sp>
      <p:graphicFrame>
        <p:nvGraphicFramePr>
          <p:cNvPr id="5" name="Таблица 4"/>
          <p:cNvGraphicFramePr>
            <a:graphicFrameLocks noGrp="1"/>
          </p:cNvGraphicFramePr>
          <p:nvPr>
            <p:extLst>
              <p:ext uri="{D42A27DB-BD31-4B8C-83A1-F6EECF244321}">
                <p14:modId xmlns:p14="http://schemas.microsoft.com/office/powerpoint/2010/main" val="1964665209"/>
              </p:ext>
            </p:extLst>
          </p:nvPr>
        </p:nvGraphicFramePr>
        <p:xfrm>
          <a:off x="538842" y="2139043"/>
          <a:ext cx="5783091" cy="914400"/>
        </p:xfrm>
        <a:graphic>
          <a:graphicData uri="http://schemas.openxmlformats.org/drawingml/2006/table">
            <a:tbl>
              <a:tblPr firstRow="1" bandRow="1">
                <a:tableStyleId>{5C22544A-7EE6-4342-B048-85BDC9FD1C3A}</a:tableStyleId>
              </a:tblPr>
              <a:tblGrid>
                <a:gridCol w="5783091">
                  <a:extLst>
                    <a:ext uri="{9D8B030D-6E8A-4147-A177-3AD203B41FA5}">
                      <a16:colId xmlns:a16="http://schemas.microsoft.com/office/drawing/2014/main" val="781837115"/>
                    </a:ext>
                  </a:extLst>
                </a:gridCol>
              </a:tblGrid>
              <a:tr h="914400">
                <a:tc>
                  <a:txBody>
                    <a:bodyPr/>
                    <a:lstStyle/>
                    <a:p>
                      <a:pPr algn="ctr"/>
                      <a:r>
                        <a:rPr lang="ru-RU" sz="2800" dirty="0" smtClean="0">
                          <a:solidFill>
                            <a:schemeClr val="tx1"/>
                          </a:solidFill>
                        </a:rPr>
                        <a:t>Нормативные</a:t>
                      </a:r>
                      <a:r>
                        <a:rPr lang="ru-RU" sz="2800" baseline="0" dirty="0" smtClean="0">
                          <a:solidFill>
                            <a:schemeClr val="tx1"/>
                          </a:solidFill>
                        </a:rPr>
                        <a:t> документы</a:t>
                      </a:r>
                      <a:endParaRPr lang="ru-RU" sz="28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3" name="Таблица 2"/>
          <p:cNvGraphicFramePr>
            <a:graphicFrameLocks noGrp="1"/>
          </p:cNvGraphicFramePr>
          <p:nvPr>
            <p:extLst>
              <p:ext uri="{D42A27DB-BD31-4B8C-83A1-F6EECF244321}">
                <p14:modId xmlns:p14="http://schemas.microsoft.com/office/powerpoint/2010/main" val="3158991703"/>
              </p:ext>
            </p:extLst>
          </p:nvPr>
        </p:nvGraphicFramePr>
        <p:xfrm>
          <a:off x="538844" y="3298371"/>
          <a:ext cx="5783090" cy="1012372"/>
        </p:xfrm>
        <a:graphic>
          <a:graphicData uri="http://schemas.openxmlformats.org/drawingml/2006/table">
            <a:tbl>
              <a:tblPr firstRow="1" bandRow="1">
                <a:tableStyleId>{5C22544A-7EE6-4342-B048-85BDC9FD1C3A}</a:tableStyleId>
              </a:tblPr>
              <a:tblGrid>
                <a:gridCol w="5783090">
                  <a:extLst>
                    <a:ext uri="{9D8B030D-6E8A-4147-A177-3AD203B41FA5}">
                      <a16:colId xmlns:a16="http://schemas.microsoft.com/office/drawing/2014/main" val="1857328191"/>
                    </a:ext>
                  </a:extLst>
                </a:gridCol>
              </a:tblGrid>
              <a:tr h="1012372">
                <a:tc>
                  <a:txBody>
                    <a:bodyPr/>
                    <a:lstStyle/>
                    <a:p>
                      <a:pPr algn="ctr"/>
                      <a:endParaRPr lang="ru-RU" sz="2000" dirty="0" smtClean="0">
                        <a:solidFill>
                          <a:schemeClr val="tx1"/>
                        </a:solidFill>
                      </a:endParaRPr>
                    </a:p>
                    <a:p>
                      <a:pPr algn="ctr"/>
                      <a:r>
                        <a:rPr lang="ru-RU" sz="2800" dirty="0" smtClean="0">
                          <a:solidFill>
                            <a:schemeClr val="tx1"/>
                          </a:solidFill>
                        </a:rPr>
                        <a:t>Документы</a:t>
                      </a:r>
                      <a:r>
                        <a:rPr lang="ru-RU" sz="2800" baseline="0" dirty="0" smtClean="0">
                          <a:solidFill>
                            <a:schemeClr val="tx1"/>
                          </a:solidFill>
                        </a:rPr>
                        <a:t> предприятия</a:t>
                      </a:r>
                      <a:endParaRPr lang="ru-RU" sz="2800" dirty="0">
                        <a:solidFill>
                          <a:schemeClr val="tx1"/>
                        </a:solidFill>
                      </a:endParaRPr>
                    </a:p>
                  </a:txBody>
                  <a:tcPr/>
                </a:tc>
                <a:extLst>
                  <a:ext uri="{0D108BD9-81ED-4DB2-BD59-A6C34878D82A}">
                    <a16:rowId xmlns:a16="http://schemas.microsoft.com/office/drawing/2014/main" val="4283676598"/>
                  </a:ext>
                </a:extLst>
              </a:tr>
            </a:tbl>
          </a:graphicData>
        </a:graphic>
      </p:graphicFrame>
      <p:graphicFrame>
        <p:nvGraphicFramePr>
          <p:cNvPr id="11" name="Таблица 10"/>
          <p:cNvGraphicFramePr>
            <a:graphicFrameLocks noGrp="1"/>
          </p:cNvGraphicFramePr>
          <p:nvPr>
            <p:extLst>
              <p:ext uri="{D42A27DB-BD31-4B8C-83A1-F6EECF244321}">
                <p14:modId xmlns:p14="http://schemas.microsoft.com/office/powerpoint/2010/main" val="537074849"/>
              </p:ext>
            </p:extLst>
          </p:nvPr>
        </p:nvGraphicFramePr>
        <p:xfrm>
          <a:off x="538842" y="6008915"/>
          <a:ext cx="5783093" cy="1420586"/>
        </p:xfrm>
        <a:graphic>
          <a:graphicData uri="http://schemas.openxmlformats.org/drawingml/2006/table">
            <a:tbl>
              <a:tblPr firstRow="1" bandRow="1">
                <a:tableStyleId>{5C22544A-7EE6-4342-B048-85BDC9FD1C3A}</a:tableStyleId>
              </a:tblPr>
              <a:tblGrid>
                <a:gridCol w="5783093">
                  <a:extLst>
                    <a:ext uri="{9D8B030D-6E8A-4147-A177-3AD203B41FA5}">
                      <a16:colId xmlns:a16="http://schemas.microsoft.com/office/drawing/2014/main" val="1857328191"/>
                    </a:ext>
                  </a:extLst>
                </a:gridCol>
              </a:tblGrid>
              <a:tr h="1420586">
                <a:tc>
                  <a:txBody>
                    <a:bodyPr/>
                    <a:lstStyle/>
                    <a:p>
                      <a:pPr algn="ctr"/>
                      <a:endParaRPr lang="ru-RU" sz="2000" dirty="0" smtClean="0">
                        <a:solidFill>
                          <a:schemeClr val="tx1"/>
                        </a:solidFill>
                      </a:endParaRPr>
                    </a:p>
                    <a:p>
                      <a:pPr algn="ctr"/>
                      <a:r>
                        <a:rPr lang="ru-RU" sz="2800" dirty="0" smtClean="0">
                          <a:solidFill>
                            <a:schemeClr val="tx1"/>
                          </a:solidFill>
                        </a:rPr>
                        <a:t>Информационные ресурсы, новости</a:t>
                      </a:r>
                      <a:endParaRPr lang="ru-RU" sz="2800" dirty="0">
                        <a:solidFill>
                          <a:schemeClr val="tx1"/>
                        </a:solidFill>
                      </a:endParaRPr>
                    </a:p>
                  </a:txBody>
                  <a:tcPr/>
                </a:tc>
                <a:extLst>
                  <a:ext uri="{0D108BD9-81ED-4DB2-BD59-A6C34878D82A}">
                    <a16:rowId xmlns:a16="http://schemas.microsoft.com/office/drawing/2014/main" val="4283676598"/>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1959873152"/>
              </p:ext>
            </p:extLst>
          </p:nvPr>
        </p:nvGraphicFramePr>
        <p:xfrm>
          <a:off x="538842" y="4555671"/>
          <a:ext cx="5783091" cy="1208315"/>
        </p:xfrm>
        <a:graphic>
          <a:graphicData uri="http://schemas.openxmlformats.org/drawingml/2006/table">
            <a:tbl>
              <a:tblPr firstRow="1" bandRow="1">
                <a:tableStyleId>{5C22544A-7EE6-4342-B048-85BDC9FD1C3A}</a:tableStyleId>
              </a:tblPr>
              <a:tblGrid>
                <a:gridCol w="5783091">
                  <a:extLst>
                    <a:ext uri="{9D8B030D-6E8A-4147-A177-3AD203B41FA5}">
                      <a16:colId xmlns:a16="http://schemas.microsoft.com/office/drawing/2014/main" val="1857328191"/>
                    </a:ext>
                  </a:extLst>
                </a:gridCol>
              </a:tblGrid>
              <a:tr h="1208315">
                <a:tc>
                  <a:txBody>
                    <a:bodyPr/>
                    <a:lstStyle/>
                    <a:p>
                      <a:pPr algn="ctr"/>
                      <a:endParaRPr lang="ru-RU" sz="2000" dirty="0" smtClean="0">
                        <a:solidFill>
                          <a:schemeClr val="tx1"/>
                        </a:solidFill>
                      </a:endParaRPr>
                    </a:p>
                    <a:p>
                      <a:pPr algn="ctr"/>
                      <a:r>
                        <a:rPr lang="ru-RU" sz="2800" dirty="0" smtClean="0">
                          <a:solidFill>
                            <a:schemeClr val="tx1"/>
                          </a:solidFill>
                        </a:rPr>
                        <a:t>Сайт предприятия</a:t>
                      </a:r>
                      <a:endParaRPr lang="ru-RU" sz="2800" dirty="0">
                        <a:solidFill>
                          <a:schemeClr val="tx1"/>
                        </a:solidFill>
                      </a:endParaRPr>
                    </a:p>
                  </a:txBody>
                  <a:tcPr/>
                </a:tc>
                <a:extLst>
                  <a:ext uri="{0D108BD9-81ED-4DB2-BD59-A6C34878D82A}">
                    <a16:rowId xmlns:a16="http://schemas.microsoft.com/office/drawing/2014/main" val="4283676598"/>
                  </a:ext>
                </a:extLst>
              </a:tr>
            </a:tbl>
          </a:graphicData>
        </a:graphic>
      </p:graphicFrame>
      <p:sp>
        <p:nvSpPr>
          <p:cNvPr id="7" name="Стрелка влево 6"/>
          <p:cNvSpPr/>
          <p:nvPr/>
        </p:nvSpPr>
        <p:spPr>
          <a:xfrm>
            <a:off x="538842" y="1138948"/>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Управляющая кнопка: сведения 7">
            <a:hlinkClick r:id="" action="ppaction://noaction" highlightClick="1"/>
          </p:cNvPr>
          <p:cNvSpPr/>
          <p:nvPr/>
        </p:nvSpPr>
        <p:spPr>
          <a:xfrm>
            <a:off x="6149093" y="11548194"/>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74035571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468035911"/>
              </p:ext>
            </p:extLst>
          </p:nvPr>
        </p:nvGraphicFramePr>
        <p:xfrm>
          <a:off x="293913" y="391885"/>
          <a:ext cx="6188529" cy="11462657"/>
        </p:xfrm>
        <a:graphic>
          <a:graphicData uri="http://schemas.openxmlformats.org/drawingml/2006/table">
            <a:tbl>
              <a:tblPr firstRow="1" bandRow="1">
                <a:tableStyleId>{5C22544A-7EE6-4342-B048-85BDC9FD1C3A}</a:tableStyleId>
              </a:tblPr>
              <a:tblGrid>
                <a:gridCol w="6188529">
                  <a:extLst>
                    <a:ext uri="{9D8B030D-6E8A-4147-A177-3AD203B41FA5}">
                      <a16:colId xmlns:a16="http://schemas.microsoft.com/office/drawing/2014/main" val="3050628928"/>
                    </a:ext>
                  </a:extLst>
                </a:gridCol>
              </a:tblGrid>
              <a:tr h="11462657">
                <a:tc>
                  <a:txBody>
                    <a:bodyPr/>
                    <a:lstStyle/>
                    <a:p>
                      <a:endParaRPr lang="ru-RU" dirty="0"/>
                    </a:p>
                  </a:txBody>
                  <a:tcPr>
                    <a:solidFill>
                      <a:schemeClr val="accent1">
                        <a:lumMod val="20000"/>
                        <a:lumOff val="80000"/>
                      </a:schemeClr>
                    </a:solidFill>
                  </a:tcPr>
                </a:tc>
                <a:extLst>
                  <a:ext uri="{0D108BD9-81ED-4DB2-BD59-A6C34878D82A}">
                    <a16:rowId xmlns:a16="http://schemas.microsoft.com/office/drawing/2014/main" val="1963010574"/>
                  </a:ext>
                </a:extLst>
              </a:tr>
            </a:tbl>
          </a:graphicData>
        </a:graphic>
      </p:graphicFrame>
      <p:graphicFrame>
        <p:nvGraphicFramePr>
          <p:cNvPr id="3" name="Таблица 2"/>
          <p:cNvGraphicFramePr>
            <a:graphicFrameLocks noGrp="1"/>
          </p:cNvGraphicFramePr>
          <p:nvPr>
            <p:extLst>
              <p:ext uri="{D42A27DB-BD31-4B8C-83A1-F6EECF244321}">
                <p14:modId xmlns:p14="http://schemas.microsoft.com/office/powerpoint/2010/main" val="3193726566"/>
              </p:ext>
            </p:extLst>
          </p:nvPr>
        </p:nvGraphicFramePr>
        <p:xfrm>
          <a:off x="1110332" y="882387"/>
          <a:ext cx="4653640" cy="723900"/>
        </p:xfrm>
        <a:graphic>
          <a:graphicData uri="http://schemas.openxmlformats.org/drawingml/2006/table">
            <a:tbl>
              <a:tblPr firstRow="1" bandRow="1">
                <a:tableStyleId>{5C22544A-7EE6-4342-B048-85BDC9FD1C3A}</a:tableStyleId>
              </a:tblPr>
              <a:tblGrid>
                <a:gridCol w="4653640">
                  <a:extLst>
                    <a:ext uri="{9D8B030D-6E8A-4147-A177-3AD203B41FA5}">
                      <a16:colId xmlns:a16="http://schemas.microsoft.com/office/drawing/2014/main" val="822233421"/>
                    </a:ext>
                  </a:extLst>
                </a:gridCol>
              </a:tblGrid>
              <a:tr h="604157">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ru-RU" sz="2800" dirty="0" smtClean="0">
                          <a:solidFill>
                            <a:schemeClr val="tx1"/>
                          </a:solidFill>
                        </a:rPr>
                        <a:t>Нормативные</a:t>
                      </a:r>
                      <a:r>
                        <a:rPr lang="ru-RU" sz="2800" baseline="0" dirty="0" smtClean="0">
                          <a:solidFill>
                            <a:schemeClr val="tx1"/>
                          </a:solidFill>
                        </a:rPr>
                        <a:t> документы</a:t>
                      </a:r>
                      <a:endParaRPr lang="ru-RU" sz="2800" dirty="0" smtClean="0">
                        <a:solidFill>
                          <a:schemeClr val="tx1"/>
                        </a:solidFill>
                      </a:endParaRPr>
                    </a:p>
                    <a:p>
                      <a:endParaRPr lang="ru-RU" dirty="0"/>
                    </a:p>
                  </a:txBody>
                  <a:tcPr>
                    <a:solidFill>
                      <a:schemeClr val="accent1">
                        <a:lumMod val="60000"/>
                        <a:lumOff val="40000"/>
                      </a:schemeClr>
                    </a:solidFill>
                  </a:tcPr>
                </a:tc>
                <a:extLst>
                  <a:ext uri="{0D108BD9-81ED-4DB2-BD59-A6C34878D82A}">
                    <a16:rowId xmlns:a16="http://schemas.microsoft.com/office/drawing/2014/main" val="710532333"/>
                  </a:ext>
                </a:extLst>
              </a:tr>
            </a:tbl>
          </a:graphicData>
        </a:graphic>
      </p:graphicFrame>
      <p:graphicFrame>
        <p:nvGraphicFramePr>
          <p:cNvPr id="4" name="Таблица 3"/>
          <p:cNvGraphicFramePr>
            <a:graphicFrameLocks noGrp="1"/>
          </p:cNvGraphicFramePr>
          <p:nvPr>
            <p:extLst>
              <p:ext uri="{D42A27DB-BD31-4B8C-83A1-F6EECF244321}">
                <p14:modId xmlns:p14="http://schemas.microsoft.com/office/powerpoint/2010/main" val="2079470269"/>
              </p:ext>
            </p:extLst>
          </p:nvPr>
        </p:nvGraphicFramePr>
        <p:xfrm>
          <a:off x="832755" y="2244751"/>
          <a:ext cx="5110843" cy="670195"/>
        </p:xfrm>
        <a:graphic>
          <a:graphicData uri="http://schemas.openxmlformats.org/drawingml/2006/table">
            <a:tbl>
              <a:tblPr firstRow="1" bandRow="1">
                <a:tableStyleId>{5C22544A-7EE6-4342-B048-85BDC9FD1C3A}</a:tableStyleId>
              </a:tblPr>
              <a:tblGrid>
                <a:gridCol w="5110843">
                  <a:extLst>
                    <a:ext uri="{9D8B030D-6E8A-4147-A177-3AD203B41FA5}">
                      <a16:colId xmlns:a16="http://schemas.microsoft.com/office/drawing/2014/main" val="965019359"/>
                    </a:ext>
                  </a:extLst>
                </a:gridCol>
              </a:tblGrid>
              <a:tr h="670195">
                <a:tc>
                  <a:txBody>
                    <a:bodyPr/>
                    <a:lstStyle/>
                    <a:p>
                      <a:r>
                        <a:rPr lang="ru-RU" sz="2000" dirty="0" smtClean="0">
                          <a:solidFill>
                            <a:schemeClr val="tx1"/>
                          </a:solidFill>
                        </a:rPr>
                        <a:t>1</a:t>
                      </a:r>
                      <a:r>
                        <a:rPr lang="ru-RU" sz="2000" baseline="0" dirty="0" smtClean="0">
                          <a:solidFill>
                            <a:schemeClr val="tx1"/>
                          </a:solidFill>
                        </a:rPr>
                        <a:t> Пр</a:t>
                      </a:r>
                      <a:r>
                        <a:rPr lang="ru-RU" sz="2000" dirty="0" smtClean="0">
                          <a:solidFill>
                            <a:schemeClr val="tx1"/>
                          </a:solidFill>
                        </a:rPr>
                        <a:t>оизводство_________________________</a:t>
                      </a:r>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2120408282"/>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2838344245"/>
              </p:ext>
            </p:extLst>
          </p:nvPr>
        </p:nvGraphicFramePr>
        <p:xfrm>
          <a:off x="832755" y="4104298"/>
          <a:ext cx="5110842" cy="578392"/>
        </p:xfrm>
        <a:graphic>
          <a:graphicData uri="http://schemas.openxmlformats.org/drawingml/2006/table">
            <a:tbl>
              <a:tblPr firstRow="1" bandRow="1">
                <a:tableStyleId>{5C22544A-7EE6-4342-B048-85BDC9FD1C3A}</a:tableStyleId>
              </a:tblPr>
              <a:tblGrid>
                <a:gridCol w="5110842">
                  <a:extLst>
                    <a:ext uri="{9D8B030D-6E8A-4147-A177-3AD203B41FA5}">
                      <a16:colId xmlns:a16="http://schemas.microsoft.com/office/drawing/2014/main" val="3861809439"/>
                    </a:ext>
                  </a:extLst>
                </a:gridCol>
              </a:tblGrid>
              <a:tr h="578392">
                <a:tc>
                  <a:txBody>
                    <a:bodyPr/>
                    <a:lstStyle/>
                    <a:p>
                      <a:r>
                        <a:rPr lang="ru-RU" sz="2000" dirty="0" smtClean="0">
                          <a:solidFill>
                            <a:schemeClr val="tx1"/>
                          </a:solidFill>
                        </a:rPr>
                        <a:t>3.</a:t>
                      </a:r>
                      <a:r>
                        <a:rPr lang="ru-RU" sz="2000" baseline="0" dirty="0" smtClean="0">
                          <a:solidFill>
                            <a:schemeClr val="tx1"/>
                          </a:solidFill>
                        </a:rPr>
                        <a:t> Бухгалтерия</a:t>
                      </a:r>
                      <a:r>
                        <a:rPr lang="ru-RU" sz="2000" dirty="0" smtClean="0">
                          <a:solidFill>
                            <a:schemeClr val="tx1"/>
                          </a:solidFill>
                        </a:rPr>
                        <a:t>______________________</a:t>
                      </a:r>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1077989737"/>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1997092469"/>
              </p:ext>
            </p:extLst>
          </p:nvPr>
        </p:nvGraphicFramePr>
        <p:xfrm>
          <a:off x="865413" y="3157152"/>
          <a:ext cx="5110842" cy="701040"/>
        </p:xfrm>
        <a:graphic>
          <a:graphicData uri="http://schemas.openxmlformats.org/drawingml/2006/table">
            <a:tbl>
              <a:tblPr firstRow="1" bandRow="1">
                <a:tableStyleId>{5C22544A-7EE6-4342-B048-85BDC9FD1C3A}</a:tableStyleId>
              </a:tblPr>
              <a:tblGrid>
                <a:gridCol w="5110842">
                  <a:extLst>
                    <a:ext uri="{9D8B030D-6E8A-4147-A177-3AD203B41FA5}">
                      <a16:colId xmlns:a16="http://schemas.microsoft.com/office/drawing/2014/main" val="4088784356"/>
                    </a:ext>
                  </a:extLst>
                </a:gridCol>
              </a:tblGrid>
              <a:tr h="534125">
                <a:tc>
                  <a:txBody>
                    <a:bodyPr/>
                    <a:lstStyle/>
                    <a:p>
                      <a:r>
                        <a:rPr lang="ru-RU" sz="2000" dirty="0" smtClean="0">
                          <a:solidFill>
                            <a:schemeClr val="tx1"/>
                          </a:solidFill>
                        </a:rPr>
                        <a:t>2 Менеджмент,</a:t>
                      </a:r>
                      <a:r>
                        <a:rPr lang="ru-RU" sz="2000" baseline="0" dirty="0" smtClean="0">
                          <a:solidFill>
                            <a:schemeClr val="tx1"/>
                          </a:solidFill>
                        </a:rPr>
                        <a:t> </a:t>
                      </a:r>
                      <a:r>
                        <a:rPr lang="ru-RU" sz="2000" dirty="0" smtClean="0">
                          <a:solidFill>
                            <a:schemeClr val="tx1"/>
                          </a:solidFill>
                        </a:rPr>
                        <a:t>качество__________________</a:t>
                      </a:r>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2247805997"/>
                  </a:ext>
                </a:extLst>
              </a:tr>
            </a:tbl>
          </a:graphicData>
        </a:graphic>
      </p:graphicFrame>
      <p:graphicFrame>
        <p:nvGraphicFramePr>
          <p:cNvPr id="7" name="Таблица 6"/>
          <p:cNvGraphicFramePr>
            <a:graphicFrameLocks noGrp="1"/>
          </p:cNvGraphicFramePr>
          <p:nvPr>
            <p:extLst>
              <p:ext uri="{D42A27DB-BD31-4B8C-83A1-F6EECF244321}">
                <p14:modId xmlns:p14="http://schemas.microsoft.com/office/powerpoint/2010/main" val="3118886756"/>
              </p:ext>
            </p:extLst>
          </p:nvPr>
        </p:nvGraphicFramePr>
        <p:xfrm>
          <a:off x="865412" y="4928796"/>
          <a:ext cx="5110843" cy="677728"/>
        </p:xfrm>
        <a:graphic>
          <a:graphicData uri="http://schemas.openxmlformats.org/drawingml/2006/table">
            <a:tbl>
              <a:tblPr firstRow="1" bandRow="1">
                <a:tableStyleId>{5C22544A-7EE6-4342-B048-85BDC9FD1C3A}</a:tableStyleId>
              </a:tblPr>
              <a:tblGrid>
                <a:gridCol w="5110843">
                  <a:extLst>
                    <a:ext uri="{9D8B030D-6E8A-4147-A177-3AD203B41FA5}">
                      <a16:colId xmlns:a16="http://schemas.microsoft.com/office/drawing/2014/main" val="2528004365"/>
                    </a:ext>
                  </a:extLst>
                </a:gridCol>
              </a:tblGrid>
              <a:tr h="677728">
                <a:tc>
                  <a:txBody>
                    <a:bodyPr/>
                    <a:lstStyle/>
                    <a:p>
                      <a:r>
                        <a:rPr lang="ru-RU" sz="2000" dirty="0" smtClean="0">
                          <a:solidFill>
                            <a:schemeClr val="tx1"/>
                          </a:solidFill>
                        </a:rPr>
                        <a:t>4.Экономисты___________________</a:t>
                      </a:r>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328151957"/>
                  </a:ext>
                </a:extLst>
              </a:tr>
            </a:tbl>
          </a:graphicData>
        </a:graphic>
      </p:graphicFrame>
      <p:sp>
        <p:nvSpPr>
          <p:cNvPr id="8" name="Прямоугольник 7"/>
          <p:cNvSpPr/>
          <p:nvPr/>
        </p:nvSpPr>
        <p:spPr>
          <a:xfrm>
            <a:off x="881730" y="9004500"/>
            <a:ext cx="5110843" cy="914400"/>
          </a:xfrm>
          <a:prstGeom prst="rect">
            <a:avLst/>
          </a:prstGeom>
          <a:solidFill>
            <a:schemeClr val="accent1">
              <a:lumMod val="60000"/>
              <a:lumOff val="4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b="1" dirty="0">
                <a:solidFill>
                  <a:schemeClr val="tx1"/>
                </a:solidFill>
              </a:rPr>
              <a:t>8</a:t>
            </a:r>
            <a:r>
              <a:rPr lang="ru-RU" b="1" dirty="0" smtClean="0">
                <a:solidFill>
                  <a:schemeClr val="tx1"/>
                </a:solidFill>
              </a:rPr>
              <a:t>. </a:t>
            </a:r>
            <a:r>
              <a:rPr lang="en-US" b="1" dirty="0" smtClean="0">
                <a:solidFill>
                  <a:schemeClr val="tx1"/>
                </a:solidFill>
              </a:rPr>
              <a:t>IT </a:t>
            </a:r>
            <a:r>
              <a:rPr lang="ru-RU" b="1" dirty="0" smtClean="0">
                <a:solidFill>
                  <a:schemeClr val="tx1"/>
                </a:solidFill>
              </a:rPr>
              <a:t>технологии __________________________</a:t>
            </a:r>
            <a:endParaRPr lang="ru-RU" b="1" dirty="0">
              <a:solidFill>
                <a:schemeClr val="tx1"/>
              </a:solidFill>
            </a:endParaRPr>
          </a:p>
        </p:txBody>
      </p:sp>
      <p:sp>
        <p:nvSpPr>
          <p:cNvPr id="9" name="Прямоугольник 8"/>
          <p:cNvSpPr/>
          <p:nvPr/>
        </p:nvSpPr>
        <p:spPr>
          <a:xfrm>
            <a:off x="881730" y="5842584"/>
            <a:ext cx="5110843" cy="914400"/>
          </a:xfrm>
          <a:prstGeom prst="rect">
            <a:avLst/>
          </a:prstGeom>
          <a:solidFill>
            <a:schemeClr val="accent1">
              <a:lumMod val="60000"/>
              <a:lumOff val="4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b="1" dirty="0" smtClean="0">
                <a:solidFill>
                  <a:schemeClr val="tx1"/>
                </a:solidFill>
              </a:rPr>
              <a:t>6. Юристы__________________________</a:t>
            </a:r>
            <a:endParaRPr lang="ru-RU" b="1" dirty="0">
              <a:solidFill>
                <a:schemeClr val="tx1"/>
              </a:solidFill>
            </a:endParaRPr>
          </a:p>
        </p:txBody>
      </p:sp>
      <p:pic>
        <p:nvPicPr>
          <p:cNvPr id="10" name="Рисунок 9"/>
          <p:cNvPicPr>
            <a:picLocks noChangeAspect="1"/>
          </p:cNvPicPr>
          <p:nvPr/>
        </p:nvPicPr>
        <p:blipFill>
          <a:blip r:embed="rId2"/>
          <a:stretch>
            <a:fillRect/>
          </a:stretch>
        </p:blipFill>
        <p:spPr>
          <a:xfrm>
            <a:off x="464358" y="1030349"/>
            <a:ext cx="475529" cy="396274"/>
          </a:xfrm>
          <a:prstGeom prst="rect">
            <a:avLst/>
          </a:prstGeom>
        </p:spPr>
      </p:pic>
      <p:sp>
        <p:nvSpPr>
          <p:cNvPr id="11" name="Прямоугольник 10"/>
          <p:cNvSpPr/>
          <p:nvPr/>
        </p:nvSpPr>
        <p:spPr>
          <a:xfrm>
            <a:off x="881730" y="10133389"/>
            <a:ext cx="5110843" cy="1583185"/>
          </a:xfrm>
          <a:prstGeom prst="rect">
            <a:avLst/>
          </a:prstGeom>
          <a:solidFill>
            <a:schemeClr val="accent1">
              <a:lumMod val="60000"/>
              <a:lumOff val="4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b="1" dirty="0">
                <a:solidFill>
                  <a:schemeClr val="tx1"/>
                </a:solidFill>
              </a:rPr>
              <a:t> </a:t>
            </a:r>
            <a:r>
              <a:rPr lang="ru-RU" b="1" dirty="0" smtClean="0">
                <a:solidFill>
                  <a:schemeClr val="tx1"/>
                </a:solidFill>
              </a:rPr>
              <a:t>поиск документов__________________________</a:t>
            </a:r>
          </a:p>
          <a:p>
            <a:endParaRPr lang="ru-RU" b="1" dirty="0">
              <a:solidFill>
                <a:schemeClr val="tx1"/>
              </a:solidFill>
            </a:endParaRPr>
          </a:p>
          <a:p>
            <a:pPr algn="ctr"/>
            <a:r>
              <a:rPr lang="ru-RU" b="1" u="sng" dirty="0" smtClean="0">
                <a:solidFill>
                  <a:schemeClr val="tx1"/>
                </a:solidFill>
              </a:rPr>
              <a:t>Система «Консультант» (Гарант+)</a:t>
            </a:r>
            <a:endParaRPr lang="ru-RU" b="1" u="sng" dirty="0">
              <a:solidFill>
                <a:schemeClr val="tx1"/>
              </a:solidFill>
            </a:endParaRPr>
          </a:p>
        </p:txBody>
      </p:sp>
      <p:sp>
        <p:nvSpPr>
          <p:cNvPr id="12" name="Прямоугольник 11"/>
          <p:cNvSpPr/>
          <p:nvPr/>
        </p:nvSpPr>
        <p:spPr>
          <a:xfrm>
            <a:off x="832755" y="6892299"/>
            <a:ext cx="5110843" cy="914400"/>
          </a:xfrm>
          <a:prstGeom prst="rect">
            <a:avLst/>
          </a:prstGeom>
          <a:solidFill>
            <a:schemeClr val="accent1">
              <a:lumMod val="60000"/>
              <a:lumOff val="4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b="1" dirty="0">
                <a:solidFill>
                  <a:schemeClr val="tx1"/>
                </a:solidFill>
              </a:rPr>
              <a:t>7</a:t>
            </a:r>
            <a:r>
              <a:rPr lang="ru-RU" b="1" dirty="0" smtClean="0">
                <a:solidFill>
                  <a:schemeClr val="tx1"/>
                </a:solidFill>
              </a:rPr>
              <a:t>. Охрана труда__________________________</a:t>
            </a:r>
            <a:endParaRPr lang="ru-RU" b="1" dirty="0">
              <a:solidFill>
                <a:schemeClr val="tx1"/>
              </a:solidFill>
            </a:endParaRPr>
          </a:p>
        </p:txBody>
      </p:sp>
      <p:sp>
        <p:nvSpPr>
          <p:cNvPr id="13" name="Прямоугольник 12"/>
          <p:cNvSpPr/>
          <p:nvPr/>
        </p:nvSpPr>
        <p:spPr>
          <a:xfrm>
            <a:off x="865411" y="7908445"/>
            <a:ext cx="5110843" cy="914400"/>
          </a:xfrm>
          <a:prstGeom prst="rect">
            <a:avLst/>
          </a:prstGeom>
          <a:solidFill>
            <a:schemeClr val="accent1">
              <a:lumMod val="60000"/>
              <a:lumOff val="4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b="1" dirty="0" smtClean="0">
                <a:solidFill>
                  <a:schemeClr val="tx1"/>
                </a:solidFill>
              </a:rPr>
              <a:t>6. Безопасность__________________________</a:t>
            </a:r>
            <a:endParaRPr lang="ru-RU" b="1" dirty="0">
              <a:solidFill>
                <a:schemeClr val="tx1"/>
              </a:solidFill>
            </a:endParaRPr>
          </a:p>
        </p:txBody>
      </p:sp>
      <p:sp>
        <p:nvSpPr>
          <p:cNvPr id="16" name="Стрелка вниз 15"/>
          <p:cNvSpPr/>
          <p:nvPr/>
        </p:nvSpPr>
        <p:spPr>
          <a:xfrm>
            <a:off x="5698668" y="2458978"/>
            <a:ext cx="244929" cy="3632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7" name="Рисунок 16"/>
          <p:cNvPicPr>
            <a:picLocks noChangeAspect="1"/>
          </p:cNvPicPr>
          <p:nvPr/>
        </p:nvPicPr>
        <p:blipFill>
          <a:blip r:embed="rId3"/>
          <a:stretch>
            <a:fillRect/>
          </a:stretch>
        </p:blipFill>
        <p:spPr>
          <a:xfrm>
            <a:off x="5677524" y="3333479"/>
            <a:ext cx="298730" cy="390178"/>
          </a:xfrm>
          <a:prstGeom prst="rect">
            <a:avLst/>
          </a:prstGeom>
        </p:spPr>
      </p:pic>
      <p:pic>
        <p:nvPicPr>
          <p:cNvPr id="18" name="Рисунок 17"/>
          <p:cNvPicPr>
            <a:picLocks noChangeAspect="1"/>
          </p:cNvPicPr>
          <p:nvPr/>
        </p:nvPicPr>
        <p:blipFill>
          <a:blip r:embed="rId3"/>
          <a:stretch>
            <a:fillRect/>
          </a:stretch>
        </p:blipFill>
        <p:spPr>
          <a:xfrm>
            <a:off x="5677524" y="4204442"/>
            <a:ext cx="298730" cy="390178"/>
          </a:xfrm>
          <a:prstGeom prst="rect">
            <a:avLst/>
          </a:prstGeom>
        </p:spPr>
      </p:pic>
      <p:sp>
        <p:nvSpPr>
          <p:cNvPr id="19" name="Управляющая кнопка: сведения 18">
            <a:hlinkClick r:id="" action="ppaction://noaction" highlightClick="1"/>
          </p:cNvPr>
          <p:cNvSpPr/>
          <p:nvPr/>
        </p:nvSpPr>
        <p:spPr>
          <a:xfrm>
            <a:off x="6057899" y="11448924"/>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7155678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nvPr>
        </p:nvGraphicFramePr>
        <p:xfrm>
          <a:off x="293913" y="391885"/>
          <a:ext cx="6188529" cy="11462657"/>
        </p:xfrm>
        <a:graphic>
          <a:graphicData uri="http://schemas.openxmlformats.org/drawingml/2006/table">
            <a:tbl>
              <a:tblPr firstRow="1" bandRow="1">
                <a:tableStyleId>{5C22544A-7EE6-4342-B048-85BDC9FD1C3A}</a:tableStyleId>
              </a:tblPr>
              <a:tblGrid>
                <a:gridCol w="6188529">
                  <a:extLst>
                    <a:ext uri="{9D8B030D-6E8A-4147-A177-3AD203B41FA5}">
                      <a16:colId xmlns:a16="http://schemas.microsoft.com/office/drawing/2014/main" val="3050628928"/>
                    </a:ext>
                  </a:extLst>
                </a:gridCol>
              </a:tblGrid>
              <a:tr h="11462657">
                <a:tc>
                  <a:txBody>
                    <a:bodyPr/>
                    <a:lstStyle/>
                    <a:p>
                      <a:endParaRPr lang="ru-RU" dirty="0"/>
                    </a:p>
                  </a:txBody>
                  <a:tcPr>
                    <a:solidFill>
                      <a:schemeClr val="accent1">
                        <a:lumMod val="20000"/>
                        <a:lumOff val="80000"/>
                      </a:schemeClr>
                    </a:solidFill>
                  </a:tcPr>
                </a:tc>
                <a:extLst>
                  <a:ext uri="{0D108BD9-81ED-4DB2-BD59-A6C34878D82A}">
                    <a16:rowId xmlns:a16="http://schemas.microsoft.com/office/drawing/2014/main" val="1963010574"/>
                  </a:ext>
                </a:extLst>
              </a:tr>
            </a:tbl>
          </a:graphicData>
        </a:graphic>
      </p:graphicFrame>
      <p:graphicFrame>
        <p:nvGraphicFramePr>
          <p:cNvPr id="3" name="Таблица 2"/>
          <p:cNvGraphicFramePr>
            <a:graphicFrameLocks noGrp="1"/>
          </p:cNvGraphicFramePr>
          <p:nvPr>
            <p:extLst>
              <p:ext uri="{D42A27DB-BD31-4B8C-83A1-F6EECF244321}">
                <p14:modId xmlns:p14="http://schemas.microsoft.com/office/powerpoint/2010/main" val="4224743835"/>
              </p:ext>
            </p:extLst>
          </p:nvPr>
        </p:nvGraphicFramePr>
        <p:xfrm>
          <a:off x="1110332" y="882387"/>
          <a:ext cx="4653640" cy="723900"/>
        </p:xfrm>
        <a:graphic>
          <a:graphicData uri="http://schemas.openxmlformats.org/drawingml/2006/table">
            <a:tbl>
              <a:tblPr firstRow="1" bandRow="1">
                <a:tableStyleId>{5C22544A-7EE6-4342-B048-85BDC9FD1C3A}</a:tableStyleId>
              </a:tblPr>
              <a:tblGrid>
                <a:gridCol w="4653640">
                  <a:extLst>
                    <a:ext uri="{9D8B030D-6E8A-4147-A177-3AD203B41FA5}">
                      <a16:colId xmlns:a16="http://schemas.microsoft.com/office/drawing/2014/main" val="822233421"/>
                    </a:ext>
                  </a:extLst>
                </a:gridCol>
              </a:tblGrid>
              <a:tr h="604157">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ru-RU" sz="2800" baseline="0" dirty="0" smtClean="0">
                          <a:solidFill>
                            <a:schemeClr val="tx1"/>
                          </a:solidFill>
                        </a:rPr>
                        <a:t>Документы предприятия</a:t>
                      </a:r>
                      <a:endParaRPr lang="ru-RU" sz="2800" dirty="0" smtClean="0">
                        <a:solidFill>
                          <a:schemeClr val="tx1"/>
                        </a:solidFill>
                      </a:endParaRPr>
                    </a:p>
                    <a:p>
                      <a:endParaRPr lang="ru-RU" dirty="0"/>
                    </a:p>
                  </a:txBody>
                  <a:tcPr>
                    <a:solidFill>
                      <a:schemeClr val="accent1">
                        <a:lumMod val="60000"/>
                        <a:lumOff val="40000"/>
                      </a:schemeClr>
                    </a:solidFill>
                  </a:tcPr>
                </a:tc>
                <a:extLst>
                  <a:ext uri="{0D108BD9-81ED-4DB2-BD59-A6C34878D82A}">
                    <a16:rowId xmlns:a16="http://schemas.microsoft.com/office/drawing/2014/main" val="710532333"/>
                  </a:ext>
                </a:extLst>
              </a:tr>
            </a:tbl>
          </a:graphicData>
        </a:graphic>
      </p:graphicFrame>
      <p:graphicFrame>
        <p:nvGraphicFramePr>
          <p:cNvPr id="4" name="Таблица 3"/>
          <p:cNvGraphicFramePr>
            <a:graphicFrameLocks noGrp="1"/>
          </p:cNvGraphicFramePr>
          <p:nvPr>
            <p:extLst>
              <p:ext uri="{D42A27DB-BD31-4B8C-83A1-F6EECF244321}">
                <p14:modId xmlns:p14="http://schemas.microsoft.com/office/powerpoint/2010/main" val="1182305855"/>
              </p:ext>
            </p:extLst>
          </p:nvPr>
        </p:nvGraphicFramePr>
        <p:xfrm>
          <a:off x="832755" y="2244751"/>
          <a:ext cx="5110843" cy="670195"/>
        </p:xfrm>
        <a:graphic>
          <a:graphicData uri="http://schemas.openxmlformats.org/drawingml/2006/table">
            <a:tbl>
              <a:tblPr firstRow="1" bandRow="1">
                <a:tableStyleId>{5C22544A-7EE6-4342-B048-85BDC9FD1C3A}</a:tableStyleId>
              </a:tblPr>
              <a:tblGrid>
                <a:gridCol w="5110843">
                  <a:extLst>
                    <a:ext uri="{9D8B030D-6E8A-4147-A177-3AD203B41FA5}">
                      <a16:colId xmlns:a16="http://schemas.microsoft.com/office/drawing/2014/main" val="965019359"/>
                    </a:ext>
                  </a:extLst>
                </a:gridCol>
              </a:tblGrid>
              <a:tr h="670195">
                <a:tc>
                  <a:txBody>
                    <a:bodyPr/>
                    <a:lstStyle/>
                    <a:p>
                      <a:r>
                        <a:rPr lang="ru-RU" sz="2000" dirty="0" smtClean="0">
                          <a:solidFill>
                            <a:schemeClr val="tx1"/>
                          </a:solidFill>
                        </a:rPr>
                        <a:t>1.</a:t>
                      </a:r>
                      <a:r>
                        <a:rPr lang="ru-RU" sz="2000" baseline="0" dirty="0" smtClean="0">
                          <a:solidFill>
                            <a:schemeClr val="tx1"/>
                          </a:solidFill>
                        </a:rPr>
                        <a:t> Пр</a:t>
                      </a:r>
                      <a:r>
                        <a:rPr lang="ru-RU" sz="2000" dirty="0" smtClean="0">
                          <a:solidFill>
                            <a:schemeClr val="tx1"/>
                          </a:solidFill>
                        </a:rPr>
                        <a:t>оизводство________________________</a:t>
                      </a:r>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2120408282"/>
                  </a:ext>
                </a:extLst>
              </a:tr>
            </a:tbl>
          </a:graphicData>
        </a:graphic>
      </p:graphicFrame>
      <p:graphicFrame>
        <p:nvGraphicFramePr>
          <p:cNvPr id="5" name="Таблица 4"/>
          <p:cNvGraphicFramePr>
            <a:graphicFrameLocks noGrp="1"/>
          </p:cNvGraphicFramePr>
          <p:nvPr>
            <p:extLst/>
          </p:nvPr>
        </p:nvGraphicFramePr>
        <p:xfrm>
          <a:off x="832755" y="4104298"/>
          <a:ext cx="5110842" cy="578392"/>
        </p:xfrm>
        <a:graphic>
          <a:graphicData uri="http://schemas.openxmlformats.org/drawingml/2006/table">
            <a:tbl>
              <a:tblPr firstRow="1" bandRow="1">
                <a:tableStyleId>{5C22544A-7EE6-4342-B048-85BDC9FD1C3A}</a:tableStyleId>
              </a:tblPr>
              <a:tblGrid>
                <a:gridCol w="5110842">
                  <a:extLst>
                    <a:ext uri="{9D8B030D-6E8A-4147-A177-3AD203B41FA5}">
                      <a16:colId xmlns:a16="http://schemas.microsoft.com/office/drawing/2014/main" val="3861809439"/>
                    </a:ext>
                  </a:extLst>
                </a:gridCol>
              </a:tblGrid>
              <a:tr h="578392">
                <a:tc>
                  <a:txBody>
                    <a:bodyPr/>
                    <a:lstStyle/>
                    <a:p>
                      <a:r>
                        <a:rPr lang="ru-RU" sz="2000" dirty="0" smtClean="0">
                          <a:solidFill>
                            <a:schemeClr val="tx1"/>
                          </a:solidFill>
                        </a:rPr>
                        <a:t>3.</a:t>
                      </a:r>
                      <a:r>
                        <a:rPr lang="ru-RU" sz="2000" baseline="0" dirty="0" smtClean="0">
                          <a:solidFill>
                            <a:schemeClr val="tx1"/>
                          </a:solidFill>
                        </a:rPr>
                        <a:t> Бухгалтерия</a:t>
                      </a:r>
                      <a:r>
                        <a:rPr lang="ru-RU" sz="2000" dirty="0" smtClean="0">
                          <a:solidFill>
                            <a:schemeClr val="tx1"/>
                          </a:solidFill>
                        </a:rPr>
                        <a:t>______________________</a:t>
                      </a:r>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1077989737"/>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3029758628"/>
              </p:ext>
            </p:extLst>
          </p:nvPr>
        </p:nvGraphicFramePr>
        <p:xfrm>
          <a:off x="865413" y="3157152"/>
          <a:ext cx="5110842" cy="701040"/>
        </p:xfrm>
        <a:graphic>
          <a:graphicData uri="http://schemas.openxmlformats.org/drawingml/2006/table">
            <a:tbl>
              <a:tblPr firstRow="1" bandRow="1">
                <a:tableStyleId>{5C22544A-7EE6-4342-B048-85BDC9FD1C3A}</a:tableStyleId>
              </a:tblPr>
              <a:tblGrid>
                <a:gridCol w="5110842">
                  <a:extLst>
                    <a:ext uri="{9D8B030D-6E8A-4147-A177-3AD203B41FA5}">
                      <a16:colId xmlns:a16="http://schemas.microsoft.com/office/drawing/2014/main" val="4088784356"/>
                    </a:ext>
                  </a:extLst>
                </a:gridCol>
              </a:tblGrid>
              <a:tr h="534125">
                <a:tc>
                  <a:txBody>
                    <a:bodyPr/>
                    <a:lstStyle/>
                    <a:p>
                      <a:r>
                        <a:rPr lang="ru-RU" sz="2000" dirty="0" smtClean="0">
                          <a:solidFill>
                            <a:schemeClr val="tx1"/>
                          </a:solidFill>
                        </a:rPr>
                        <a:t>2. Менеджмент,</a:t>
                      </a:r>
                      <a:r>
                        <a:rPr lang="ru-RU" sz="2000" baseline="0" dirty="0" smtClean="0">
                          <a:solidFill>
                            <a:schemeClr val="tx1"/>
                          </a:solidFill>
                        </a:rPr>
                        <a:t> </a:t>
                      </a:r>
                      <a:r>
                        <a:rPr lang="ru-RU" sz="2000" dirty="0" smtClean="0">
                          <a:solidFill>
                            <a:schemeClr val="tx1"/>
                          </a:solidFill>
                        </a:rPr>
                        <a:t>качество__________________</a:t>
                      </a:r>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2247805997"/>
                  </a:ext>
                </a:extLst>
              </a:tr>
            </a:tbl>
          </a:graphicData>
        </a:graphic>
      </p:graphicFrame>
      <p:graphicFrame>
        <p:nvGraphicFramePr>
          <p:cNvPr id="7" name="Таблица 6"/>
          <p:cNvGraphicFramePr>
            <a:graphicFrameLocks noGrp="1"/>
          </p:cNvGraphicFramePr>
          <p:nvPr>
            <p:extLst>
              <p:ext uri="{D42A27DB-BD31-4B8C-83A1-F6EECF244321}">
                <p14:modId xmlns:p14="http://schemas.microsoft.com/office/powerpoint/2010/main" val="1649206839"/>
              </p:ext>
            </p:extLst>
          </p:nvPr>
        </p:nvGraphicFramePr>
        <p:xfrm>
          <a:off x="865412" y="4928796"/>
          <a:ext cx="5110843" cy="677728"/>
        </p:xfrm>
        <a:graphic>
          <a:graphicData uri="http://schemas.openxmlformats.org/drawingml/2006/table">
            <a:tbl>
              <a:tblPr firstRow="1" bandRow="1">
                <a:tableStyleId>{5C22544A-7EE6-4342-B048-85BDC9FD1C3A}</a:tableStyleId>
              </a:tblPr>
              <a:tblGrid>
                <a:gridCol w="5110843">
                  <a:extLst>
                    <a:ext uri="{9D8B030D-6E8A-4147-A177-3AD203B41FA5}">
                      <a16:colId xmlns:a16="http://schemas.microsoft.com/office/drawing/2014/main" val="2528004365"/>
                    </a:ext>
                  </a:extLst>
                </a:gridCol>
              </a:tblGrid>
              <a:tr h="677728">
                <a:tc>
                  <a:txBody>
                    <a:bodyPr/>
                    <a:lstStyle/>
                    <a:p>
                      <a:r>
                        <a:rPr lang="ru-RU" sz="2000" dirty="0" smtClean="0">
                          <a:solidFill>
                            <a:schemeClr val="tx1"/>
                          </a:solidFill>
                        </a:rPr>
                        <a:t>4. Экономисты___________________</a:t>
                      </a:r>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328151957"/>
                  </a:ext>
                </a:extLst>
              </a:tr>
            </a:tbl>
          </a:graphicData>
        </a:graphic>
      </p:graphicFrame>
      <p:sp>
        <p:nvSpPr>
          <p:cNvPr id="8" name="Прямоугольник 7"/>
          <p:cNvSpPr/>
          <p:nvPr/>
        </p:nvSpPr>
        <p:spPr>
          <a:xfrm>
            <a:off x="832754" y="9629874"/>
            <a:ext cx="5110843" cy="914400"/>
          </a:xfrm>
          <a:prstGeom prst="rect">
            <a:avLst/>
          </a:prstGeom>
          <a:solidFill>
            <a:schemeClr val="accent1">
              <a:lumMod val="60000"/>
              <a:lumOff val="4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b="1" dirty="0">
                <a:solidFill>
                  <a:prstClr val="black"/>
                </a:solidFill>
                <a:latin typeface="Calibri" panose="020F0502020204030204"/>
              </a:rPr>
              <a:t>8</a:t>
            </a:r>
            <a:r>
              <a:rPr kumimoji="0" lang="ru-RU" sz="1800" b="1" i="0" u="none" strike="noStrike" kern="1200" cap="none" spc="0" normalizeH="0" baseline="0" noProof="0" dirty="0" smtClean="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smtClean="0">
                <a:ln>
                  <a:noFill/>
                </a:ln>
                <a:solidFill>
                  <a:prstClr val="black"/>
                </a:solidFill>
                <a:effectLst/>
                <a:uLnTx/>
                <a:uFillTx/>
                <a:latin typeface="Calibri" panose="020F0502020204030204"/>
                <a:ea typeface="+mn-ea"/>
                <a:cs typeface="+mn-cs"/>
              </a:rPr>
              <a:t>IT </a:t>
            </a:r>
            <a:r>
              <a:rPr kumimoji="0" lang="ru-RU" sz="1800" b="1" i="0" u="none" strike="noStrike" kern="1200" cap="none" spc="0" normalizeH="0" baseline="0" noProof="0" dirty="0" smtClean="0">
                <a:ln>
                  <a:noFill/>
                </a:ln>
                <a:solidFill>
                  <a:prstClr val="black"/>
                </a:solidFill>
                <a:effectLst/>
                <a:uLnTx/>
                <a:uFillTx/>
                <a:latin typeface="Calibri" panose="020F0502020204030204"/>
                <a:ea typeface="+mn-ea"/>
                <a:cs typeface="+mn-cs"/>
              </a:rPr>
              <a:t>технологии __________________________</a:t>
            </a:r>
            <a:endPar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Прямоугольник 8"/>
          <p:cNvSpPr/>
          <p:nvPr/>
        </p:nvSpPr>
        <p:spPr>
          <a:xfrm>
            <a:off x="832755" y="7086618"/>
            <a:ext cx="5110843" cy="914400"/>
          </a:xfrm>
          <a:prstGeom prst="rect">
            <a:avLst/>
          </a:prstGeom>
          <a:solidFill>
            <a:schemeClr val="accent1">
              <a:lumMod val="60000"/>
              <a:lumOff val="4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smtClean="0">
                <a:ln>
                  <a:noFill/>
                </a:ln>
                <a:solidFill>
                  <a:prstClr val="black"/>
                </a:solidFill>
                <a:effectLst/>
                <a:uLnTx/>
                <a:uFillTx/>
                <a:latin typeface="Calibri" panose="020F0502020204030204"/>
                <a:ea typeface="+mn-ea"/>
                <a:cs typeface="+mn-cs"/>
              </a:rPr>
              <a:t>6. Охрана труда__________________________</a:t>
            </a:r>
            <a:endPar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Рисунок 9"/>
          <p:cNvPicPr>
            <a:picLocks noChangeAspect="1"/>
          </p:cNvPicPr>
          <p:nvPr/>
        </p:nvPicPr>
        <p:blipFill>
          <a:blip r:embed="rId2"/>
          <a:stretch>
            <a:fillRect/>
          </a:stretch>
        </p:blipFill>
        <p:spPr>
          <a:xfrm>
            <a:off x="464358" y="1030349"/>
            <a:ext cx="475529" cy="396274"/>
          </a:xfrm>
          <a:prstGeom prst="rect">
            <a:avLst/>
          </a:prstGeom>
        </p:spPr>
      </p:pic>
      <p:sp>
        <p:nvSpPr>
          <p:cNvPr id="11" name="Прямоугольник 10"/>
          <p:cNvSpPr/>
          <p:nvPr/>
        </p:nvSpPr>
        <p:spPr>
          <a:xfrm>
            <a:off x="832754" y="8319607"/>
            <a:ext cx="5110843" cy="914400"/>
          </a:xfrm>
          <a:prstGeom prst="rect">
            <a:avLst/>
          </a:prstGeom>
          <a:solidFill>
            <a:schemeClr val="accent1">
              <a:lumMod val="60000"/>
              <a:lumOff val="4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b="1" dirty="0">
                <a:solidFill>
                  <a:prstClr val="black"/>
                </a:solidFill>
                <a:latin typeface="Calibri" panose="020F0502020204030204"/>
              </a:rPr>
              <a:t>7</a:t>
            </a:r>
            <a:r>
              <a:rPr kumimoji="0" lang="ru-RU" sz="1800" b="1" i="0" u="none" strike="noStrike" kern="1200" cap="none" spc="0" normalizeH="0" baseline="0" noProof="0" dirty="0" smtClean="0">
                <a:ln>
                  <a:noFill/>
                </a:ln>
                <a:solidFill>
                  <a:prstClr val="black"/>
                </a:solidFill>
                <a:effectLst/>
                <a:uLnTx/>
                <a:uFillTx/>
                <a:latin typeface="Calibri" panose="020F0502020204030204"/>
                <a:ea typeface="+mn-ea"/>
                <a:cs typeface="+mn-cs"/>
              </a:rPr>
              <a:t>. </a:t>
            </a:r>
            <a:r>
              <a:rPr lang="ru-RU" b="1" dirty="0" smtClean="0">
                <a:solidFill>
                  <a:prstClr val="black"/>
                </a:solidFill>
                <a:latin typeface="Calibri" panose="020F0502020204030204"/>
              </a:rPr>
              <a:t>Безопасность</a:t>
            </a:r>
            <a:r>
              <a:rPr kumimoji="0" lang="ru-RU" sz="1800" b="1" i="0" u="none" strike="noStrike" kern="1200" cap="none" spc="0" normalizeH="0" baseline="0" noProof="0" dirty="0" smtClean="0">
                <a:ln>
                  <a:noFill/>
                </a:ln>
                <a:solidFill>
                  <a:prstClr val="black"/>
                </a:solidFill>
                <a:effectLst/>
                <a:uLnTx/>
                <a:uFillTx/>
                <a:latin typeface="Calibri" panose="020F0502020204030204"/>
                <a:ea typeface="+mn-ea"/>
                <a:cs typeface="+mn-cs"/>
              </a:rPr>
              <a:t>__________________________</a:t>
            </a:r>
            <a:endPar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Прямоугольник 11"/>
          <p:cNvSpPr/>
          <p:nvPr/>
        </p:nvSpPr>
        <p:spPr>
          <a:xfrm>
            <a:off x="832754" y="5900124"/>
            <a:ext cx="5110843" cy="914400"/>
          </a:xfrm>
          <a:prstGeom prst="rect">
            <a:avLst/>
          </a:prstGeom>
          <a:solidFill>
            <a:schemeClr val="accent1">
              <a:lumMod val="60000"/>
              <a:lumOff val="4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1800" b="1" i="0" u="none" strike="noStrike" kern="1200" cap="none" spc="0" normalizeH="0" baseline="0" noProof="0" dirty="0" smtClean="0">
                <a:ln>
                  <a:noFill/>
                </a:ln>
                <a:solidFill>
                  <a:prstClr val="black"/>
                </a:solidFill>
                <a:effectLst/>
                <a:uLnTx/>
                <a:uFillTx/>
                <a:latin typeface="Calibri" panose="020F0502020204030204"/>
                <a:ea typeface="+mn-ea"/>
                <a:cs typeface="+mn-cs"/>
              </a:rPr>
              <a:t>6. </a:t>
            </a:r>
            <a:r>
              <a:rPr lang="ru-RU" b="1" noProof="0" dirty="0" smtClean="0">
                <a:solidFill>
                  <a:prstClr val="black"/>
                </a:solidFill>
                <a:latin typeface="Calibri" panose="020F0502020204030204"/>
              </a:rPr>
              <a:t>Юристы</a:t>
            </a:r>
            <a:r>
              <a:rPr kumimoji="0" lang="ru-RU" sz="1800" b="1" i="0" u="none" strike="noStrike" kern="1200" cap="none" spc="0" normalizeH="0" baseline="0" noProof="0" dirty="0" smtClean="0">
                <a:ln>
                  <a:noFill/>
                </a:ln>
                <a:solidFill>
                  <a:prstClr val="black"/>
                </a:solidFill>
                <a:effectLst/>
                <a:uLnTx/>
                <a:uFillTx/>
                <a:latin typeface="Calibri" panose="020F0502020204030204"/>
                <a:ea typeface="+mn-ea"/>
                <a:cs typeface="+mn-cs"/>
              </a:rPr>
              <a:t>__________________________</a:t>
            </a:r>
            <a:endParaRPr kumimoji="0" lang="ru-RU"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Управляющая кнопка: сведения 12">
            <a:hlinkClick r:id="" action="ppaction://noaction" highlightClick="1"/>
          </p:cNvPr>
          <p:cNvSpPr/>
          <p:nvPr/>
        </p:nvSpPr>
        <p:spPr>
          <a:xfrm>
            <a:off x="6057899" y="11318663"/>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4" name="Стрелка вниз 13"/>
          <p:cNvSpPr/>
          <p:nvPr/>
        </p:nvSpPr>
        <p:spPr>
          <a:xfrm>
            <a:off x="5698668" y="2458978"/>
            <a:ext cx="244929" cy="3632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4261905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3582241455"/>
              </p:ext>
            </p:extLst>
          </p:nvPr>
        </p:nvGraphicFramePr>
        <p:xfrm>
          <a:off x="406310" y="226005"/>
          <a:ext cx="6188529" cy="11511642"/>
        </p:xfrm>
        <a:graphic>
          <a:graphicData uri="http://schemas.openxmlformats.org/drawingml/2006/table">
            <a:tbl>
              <a:tblPr firstRow="1" bandRow="1">
                <a:tableStyleId>{5C22544A-7EE6-4342-B048-85BDC9FD1C3A}</a:tableStyleId>
              </a:tblPr>
              <a:tblGrid>
                <a:gridCol w="6188529">
                  <a:extLst>
                    <a:ext uri="{9D8B030D-6E8A-4147-A177-3AD203B41FA5}">
                      <a16:colId xmlns:a16="http://schemas.microsoft.com/office/drawing/2014/main" val="3050628928"/>
                    </a:ext>
                  </a:extLst>
                </a:gridCol>
              </a:tblGrid>
              <a:tr h="11511642">
                <a:tc>
                  <a:txBody>
                    <a:bodyPr/>
                    <a:lstStyle/>
                    <a:p>
                      <a:pPr algn="ctr"/>
                      <a:endParaRPr lang="ru-RU" sz="2000" i="1" dirty="0" smtClean="0">
                        <a:solidFill>
                          <a:schemeClr val="tx1"/>
                        </a:solidFill>
                      </a:endParaRPr>
                    </a:p>
                  </a:txBody>
                  <a:tcPr>
                    <a:solidFill>
                      <a:schemeClr val="accent1">
                        <a:lumMod val="20000"/>
                        <a:lumOff val="80000"/>
                      </a:schemeClr>
                    </a:solidFill>
                  </a:tcPr>
                </a:tc>
                <a:extLst>
                  <a:ext uri="{0D108BD9-81ED-4DB2-BD59-A6C34878D82A}">
                    <a16:rowId xmlns:a16="http://schemas.microsoft.com/office/drawing/2014/main" val="1963010574"/>
                  </a:ext>
                </a:extLst>
              </a:tr>
            </a:tbl>
          </a:graphicData>
        </a:graphic>
      </p:graphicFrame>
      <p:graphicFrame>
        <p:nvGraphicFramePr>
          <p:cNvPr id="3" name="Таблица 2"/>
          <p:cNvGraphicFramePr>
            <a:graphicFrameLocks noGrp="1"/>
          </p:cNvGraphicFramePr>
          <p:nvPr>
            <p:extLst>
              <p:ext uri="{D42A27DB-BD31-4B8C-83A1-F6EECF244321}">
                <p14:modId xmlns:p14="http://schemas.microsoft.com/office/powerpoint/2010/main" val="3042243461"/>
              </p:ext>
            </p:extLst>
          </p:nvPr>
        </p:nvGraphicFramePr>
        <p:xfrm>
          <a:off x="832755" y="2509158"/>
          <a:ext cx="5110843" cy="1213756"/>
        </p:xfrm>
        <a:graphic>
          <a:graphicData uri="http://schemas.openxmlformats.org/drawingml/2006/table">
            <a:tbl>
              <a:tblPr firstRow="1" bandRow="1">
                <a:tableStyleId>{5C22544A-7EE6-4342-B048-85BDC9FD1C3A}</a:tableStyleId>
              </a:tblPr>
              <a:tblGrid>
                <a:gridCol w="5110843">
                  <a:extLst>
                    <a:ext uri="{9D8B030D-6E8A-4147-A177-3AD203B41FA5}">
                      <a16:colId xmlns:a16="http://schemas.microsoft.com/office/drawing/2014/main" val="822233421"/>
                    </a:ext>
                  </a:extLst>
                </a:gridCol>
              </a:tblGrid>
              <a:tr h="1213756">
                <a:tc>
                  <a:txBody>
                    <a:bodyPr/>
                    <a:lstStyle/>
                    <a:p>
                      <a:pPr algn="ctr"/>
                      <a:r>
                        <a:rPr lang="ru-RU" sz="2800" dirty="0" smtClean="0">
                          <a:solidFill>
                            <a:schemeClr val="tx1"/>
                          </a:solidFill>
                        </a:rPr>
                        <a:t>закрытый</a:t>
                      </a:r>
                      <a:r>
                        <a:rPr lang="ru-RU" sz="2800" baseline="0" dirty="0" smtClean="0">
                          <a:solidFill>
                            <a:schemeClr val="tx1"/>
                          </a:solidFill>
                        </a:rPr>
                        <a:t> с</a:t>
                      </a:r>
                      <a:r>
                        <a:rPr lang="ru-RU" sz="2800" dirty="0" smtClean="0">
                          <a:solidFill>
                            <a:schemeClr val="tx1"/>
                          </a:solidFill>
                        </a:rPr>
                        <a:t>айт предприятия</a:t>
                      </a:r>
                    </a:p>
                    <a:p>
                      <a:pPr algn="ctr"/>
                      <a:r>
                        <a:rPr lang="ru-RU" sz="2000" i="1" dirty="0" smtClean="0">
                          <a:solidFill>
                            <a:schemeClr val="tx1"/>
                          </a:solidFill>
                        </a:rPr>
                        <a:t>(главная страница</a:t>
                      </a:r>
                      <a:r>
                        <a:rPr lang="ru-RU" sz="2000" i="1" baseline="0" dirty="0" smtClean="0">
                          <a:solidFill>
                            <a:schemeClr val="tx1"/>
                          </a:solidFill>
                        </a:rPr>
                        <a:t>)</a:t>
                      </a:r>
                      <a:endParaRPr lang="ru-RU" sz="2000" i="1" dirty="0" smtClean="0">
                        <a:solidFill>
                          <a:schemeClr val="tx1"/>
                        </a:solidFill>
                      </a:endParaRPr>
                    </a:p>
                    <a:p>
                      <a:endParaRPr lang="ru-RU" dirty="0"/>
                    </a:p>
                  </a:txBody>
                  <a:tcPr>
                    <a:solidFill>
                      <a:schemeClr val="accent1">
                        <a:lumMod val="60000"/>
                        <a:lumOff val="40000"/>
                      </a:schemeClr>
                    </a:solidFill>
                  </a:tcPr>
                </a:tc>
                <a:extLst>
                  <a:ext uri="{0D108BD9-81ED-4DB2-BD59-A6C34878D82A}">
                    <a16:rowId xmlns:a16="http://schemas.microsoft.com/office/drawing/2014/main" val="710532333"/>
                  </a:ext>
                </a:extLst>
              </a:tr>
            </a:tbl>
          </a:graphicData>
        </a:graphic>
      </p:graphicFrame>
      <p:sp>
        <p:nvSpPr>
          <p:cNvPr id="4" name="Управляющая кнопка: сведения 3">
            <a:hlinkClick r:id="" action="ppaction://noaction" highlightClick="1"/>
          </p:cNvPr>
          <p:cNvSpPr/>
          <p:nvPr/>
        </p:nvSpPr>
        <p:spPr>
          <a:xfrm>
            <a:off x="6057899" y="11332029"/>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p:cNvPicPr>
            <a:picLocks noChangeAspect="1"/>
          </p:cNvPicPr>
          <p:nvPr/>
        </p:nvPicPr>
        <p:blipFill>
          <a:blip r:embed="rId2"/>
          <a:stretch>
            <a:fillRect/>
          </a:stretch>
        </p:blipFill>
        <p:spPr>
          <a:xfrm>
            <a:off x="406310" y="496920"/>
            <a:ext cx="475529" cy="396274"/>
          </a:xfrm>
          <a:prstGeom prst="rect">
            <a:avLst/>
          </a:prstGeom>
        </p:spPr>
      </p:pic>
      <p:sp>
        <p:nvSpPr>
          <p:cNvPr id="8" name="Скругленный прямоугольник 7"/>
          <p:cNvSpPr/>
          <p:nvPr/>
        </p:nvSpPr>
        <p:spPr>
          <a:xfrm>
            <a:off x="832755" y="1306286"/>
            <a:ext cx="5225144"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800" b="1" dirty="0" smtClean="0">
                <a:solidFill>
                  <a:prstClr val="black"/>
                </a:solidFill>
              </a:rPr>
              <a:t>сайт предприятия в интернете</a:t>
            </a:r>
            <a:endParaRPr lang="ru-RU" sz="2800" b="1" dirty="0">
              <a:solidFill>
                <a:prstClr val="black"/>
              </a:solidFill>
            </a:endParaRPr>
          </a:p>
          <a:p>
            <a:pPr lvl="0" algn="ctr" defTabSz="685800"/>
            <a:r>
              <a:rPr lang="ru-RU" sz="2000" b="1" i="1" dirty="0">
                <a:solidFill>
                  <a:prstClr val="black"/>
                </a:solidFill>
              </a:rPr>
              <a:t>(главная страница)</a:t>
            </a:r>
          </a:p>
        </p:txBody>
      </p:sp>
    </p:spTree>
    <p:extLst>
      <p:ext uri="{BB962C8B-B14F-4D97-AF65-F5344CB8AC3E}">
        <p14:creationId xmlns:p14="http://schemas.microsoft.com/office/powerpoint/2010/main" val="273003674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1003511885"/>
              </p:ext>
            </p:extLst>
          </p:nvPr>
        </p:nvGraphicFramePr>
        <p:xfrm>
          <a:off x="359222" y="217714"/>
          <a:ext cx="6188529" cy="11574235"/>
        </p:xfrm>
        <a:graphic>
          <a:graphicData uri="http://schemas.openxmlformats.org/drawingml/2006/table">
            <a:tbl>
              <a:tblPr firstRow="1" bandRow="1">
                <a:tableStyleId>{5C22544A-7EE6-4342-B048-85BDC9FD1C3A}</a:tableStyleId>
              </a:tblPr>
              <a:tblGrid>
                <a:gridCol w="6188529">
                  <a:extLst>
                    <a:ext uri="{9D8B030D-6E8A-4147-A177-3AD203B41FA5}">
                      <a16:colId xmlns:a16="http://schemas.microsoft.com/office/drawing/2014/main" val="3050628928"/>
                    </a:ext>
                  </a:extLst>
                </a:gridCol>
              </a:tblGrid>
              <a:tr h="1157423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ru-RU" sz="2400" b="1" i="0" u="none" strike="noStrike" kern="1200" cap="none" spc="0" normalizeH="0" baseline="0" noProof="0" dirty="0" smtClean="0">
                        <a:ln>
                          <a:noFill/>
                        </a:ln>
                        <a:solidFill>
                          <a:prstClr val="black"/>
                        </a:solidFill>
                        <a:effectLst/>
                        <a:uLnTx/>
                        <a:uFillTx/>
                        <a:latin typeface="+mn-lt"/>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3200" b="1" i="0" u="none" strike="noStrike" kern="1200" cap="none" spc="0" normalizeH="0" baseline="0" noProof="0" dirty="0" smtClean="0">
                          <a:ln>
                            <a:noFill/>
                          </a:ln>
                          <a:solidFill>
                            <a:prstClr val="black"/>
                          </a:solidFill>
                          <a:effectLst/>
                          <a:uLnTx/>
                          <a:uFillTx/>
                          <a:latin typeface="+mn-lt"/>
                          <a:ea typeface="+mn-ea"/>
                          <a:cs typeface="+mn-cs"/>
                        </a:rPr>
                        <a:t>Информационные ресурсы, новости</a:t>
                      </a:r>
                    </a:p>
                    <a:p>
                      <a:endParaRPr lang="ru-RU" sz="2000"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1963010574"/>
                  </a:ext>
                </a:extLst>
              </a:tr>
            </a:tbl>
          </a:graphicData>
        </a:graphic>
      </p:graphicFrame>
      <p:graphicFrame>
        <p:nvGraphicFramePr>
          <p:cNvPr id="4" name="Таблица 3"/>
          <p:cNvGraphicFramePr>
            <a:graphicFrameLocks noGrp="1"/>
          </p:cNvGraphicFramePr>
          <p:nvPr>
            <p:extLst>
              <p:ext uri="{D42A27DB-BD31-4B8C-83A1-F6EECF244321}">
                <p14:modId xmlns:p14="http://schemas.microsoft.com/office/powerpoint/2010/main" val="3448753316"/>
              </p:ext>
            </p:extLst>
          </p:nvPr>
        </p:nvGraphicFramePr>
        <p:xfrm>
          <a:off x="791934" y="3123395"/>
          <a:ext cx="5110843" cy="1402080"/>
        </p:xfrm>
        <a:graphic>
          <a:graphicData uri="http://schemas.openxmlformats.org/drawingml/2006/table">
            <a:tbl>
              <a:tblPr firstRow="1" bandRow="1">
                <a:tableStyleId>{5C22544A-7EE6-4342-B048-85BDC9FD1C3A}</a:tableStyleId>
              </a:tblPr>
              <a:tblGrid>
                <a:gridCol w="5110843">
                  <a:extLst>
                    <a:ext uri="{9D8B030D-6E8A-4147-A177-3AD203B41FA5}">
                      <a16:colId xmlns:a16="http://schemas.microsoft.com/office/drawing/2014/main" val="965019359"/>
                    </a:ext>
                  </a:extLst>
                </a:gridCol>
              </a:tblGrid>
              <a:tr h="736752">
                <a:tc>
                  <a:txBody>
                    <a:bodyPr/>
                    <a:lstStyle/>
                    <a:p>
                      <a:r>
                        <a:rPr lang="ru-RU" sz="2000" dirty="0" smtClean="0">
                          <a:solidFill>
                            <a:schemeClr val="tx1"/>
                          </a:solidFill>
                        </a:rPr>
                        <a:t>Бухгалтерия</a:t>
                      </a:r>
                    </a:p>
                    <a:p>
                      <a:r>
                        <a:rPr lang="ru-RU" sz="2000" dirty="0" smtClean="0">
                          <a:solidFill>
                            <a:schemeClr val="tx1"/>
                          </a:solidFill>
                        </a:rPr>
                        <a:t>1._____________________________________</a:t>
                      </a:r>
                    </a:p>
                    <a:p>
                      <a:r>
                        <a:rPr lang="ru-RU" sz="2000" dirty="0" smtClean="0">
                          <a:solidFill>
                            <a:schemeClr val="tx1"/>
                          </a:solidFill>
                        </a:rPr>
                        <a:t>2___________________</a:t>
                      </a:r>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2120408282"/>
                  </a:ext>
                </a:extLst>
              </a:tr>
              <a:tr h="363846">
                <a:tc>
                  <a:txBody>
                    <a:bodyPr/>
                    <a:lstStyle/>
                    <a:p>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128217363"/>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3519047742"/>
              </p:ext>
            </p:extLst>
          </p:nvPr>
        </p:nvGraphicFramePr>
        <p:xfrm>
          <a:off x="800097" y="5999660"/>
          <a:ext cx="5110842" cy="1240971"/>
        </p:xfrm>
        <a:graphic>
          <a:graphicData uri="http://schemas.openxmlformats.org/drawingml/2006/table">
            <a:tbl>
              <a:tblPr firstRow="1" bandRow="1">
                <a:tableStyleId>{5C22544A-7EE6-4342-B048-85BDC9FD1C3A}</a:tableStyleId>
              </a:tblPr>
              <a:tblGrid>
                <a:gridCol w="5110842">
                  <a:extLst>
                    <a:ext uri="{9D8B030D-6E8A-4147-A177-3AD203B41FA5}">
                      <a16:colId xmlns:a16="http://schemas.microsoft.com/office/drawing/2014/main" val="3861809439"/>
                    </a:ext>
                  </a:extLst>
                </a:gridCol>
              </a:tblGrid>
              <a:tr h="1240971">
                <a:tc>
                  <a:txBody>
                    <a:bodyPr/>
                    <a:lstStyle/>
                    <a:p>
                      <a:r>
                        <a:rPr lang="ru-RU" sz="2000" dirty="0" smtClean="0">
                          <a:solidFill>
                            <a:schemeClr val="tx1"/>
                          </a:solidFill>
                        </a:rPr>
                        <a:t>Охрана</a:t>
                      </a:r>
                      <a:r>
                        <a:rPr lang="ru-RU" sz="2000" baseline="0" dirty="0" smtClean="0">
                          <a:solidFill>
                            <a:schemeClr val="tx1"/>
                          </a:solidFill>
                        </a:rPr>
                        <a:t> труда</a:t>
                      </a:r>
                    </a:p>
                    <a:p>
                      <a:r>
                        <a:rPr lang="ru-RU" sz="2000" baseline="0" dirty="0" smtClean="0">
                          <a:solidFill>
                            <a:schemeClr val="tx1"/>
                          </a:solidFill>
                        </a:rPr>
                        <a:t>1.</a:t>
                      </a:r>
                      <a:r>
                        <a:rPr lang="ru-RU" sz="2000" dirty="0" smtClean="0">
                          <a:solidFill>
                            <a:schemeClr val="tx1"/>
                          </a:solidFill>
                        </a:rPr>
                        <a:t>_________________________________</a:t>
                      </a:r>
                    </a:p>
                    <a:p>
                      <a:r>
                        <a:rPr lang="ru-RU" sz="2000" dirty="0" smtClean="0">
                          <a:solidFill>
                            <a:schemeClr val="tx1"/>
                          </a:solidFill>
                        </a:rPr>
                        <a:t>2._________________________________</a:t>
                      </a:r>
                    </a:p>
                  </a:txBody>
                  <a:tcPr>
                    <a:solidFill>
                      <a:schemeClr val="accent1">
                        <a:lumMod val="60000"/>
                        <a:lumOff val="40000"/>
                      </a:schemeClr>
                    </a:solidFill>
                  </a:tcPr>
                </a:tc>
                <a:extLst>
                  <a:ext uri="{0D108BD9-81ED-4DB2-BD59-A6C34878D82A}">
                    <a16:rowId xmlns:a16="http://schemas.microsoft.com/office/drawing/2014/main" val="1077989737"/>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2652935202"/>
              </p:ext>
            </p:extLst>
          </p:nvPr>
        </p:nvGraphicFramePr>
        <p:xfrm>
          <a:off x="791934" y="4913372"/>
          <a:ext cx="5110842" cy="1005840"/>
        </p:xfrm>
        <a:graphic>
          <a:graphicData uri="http://schemas.openxmlformats.org/drawingml/2006/table">
            <a:tbl>
              <a:tblPr firstRow="1" bandRow="1">
                <a:tableStyleId>{5C22544A-7EE6-4342-B048-85BDC9FD1C3A}</a:tableStyleId>
              </a:tblPr>
              <a:tblGrid>
                <a:gridCol w="5110842">
                  <a:extLst>
                    <a:ext uri="{9D8B030D-6E8A-4147-A177-3AD203B41FA5}">
                      <a16:colId xmlns:a16="http://schemas.microsoft.com/office/drawing/2014/main" val="4088784356"/>
                    </a:ext>
                  </a:extLst>
                </a:gridCol>
              </a:tblGrid>
              <a:tr h="534125">
                <a:tc>
                  <a:txBody>
                    <a:bodyPr/>
                    <a:lstStyle/>
                    <a:p>
                      <a:r>
                        <a:rPr lang="ru-RU" sz="2000" dirty="0" smtClean="0">
                          <a:solidFill>
                            <a:schemeClr val="tx1"/>
                          </a:solidFill>
                        </a:rPr>
                        <a:t>Экономисты</a:t>
                      </a:r>
                    </a:p>
                    <a:p>
                      <a:r>
                        <a:rPr lang="ru-RU" sz="2000" dirty="0" smtClean="0">
                          <a:solidFill>
                            <a:schemeClr val="tx1"/>
                          </a:solidFill>
                        </a:rPr>
                        <a:t>1.____________________________________</a:t>
                      </a:r>
                    </a:p>
                    <a:p>
                      <a:r>
                        <a:rPr lang="ru-RU" sz="2000" dirty="0" smtClean="0">
                          <a:solidFill>
                            <a:schemeClr val="tx1"/>
                          </a:solidFill>
                        </a:rPr>
                        <a:t>2.____________________</a:t>
                      </a:r>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2247805997"/>
                  </a:ext>
                </a:extLst>
              </a:tr>
            </a:tbl>
          </a:graphicData>
        </a:graphic>
      </p:graphicFrame>
      <p:graphicFrame>
        <p:nvGraphicFramePr>
          <p:cNvPr id="7" name="Таблица 6"/>
          <p:cNvGraphicFramePr>
            <a:graphicFrameLocks noGrp="1"/>
          </p:cNvGraphicFramePr>
          <p:nvPr>
            <p:extLst>
              <p:ext uri="{D42A27DB-BD31-4B8C-83A1-F6EECF244321}">
                <p14:modId xmlns:p14="http://schemas.microsoft.com/office/powerpoint/2010/main" val="1166683791"/>
              </p:ext>
            </p:extLst>
          </p:nvPr>
        </p:nvGraphicFramePr>
        <p:xfrm>
          <a:off x="800096" y="7328406"/>
          <a:ext cx="5110843" cy="1110342"/>
        </p:xfrm>
        <a:graphic>
          <a:graphicData uri="http://schemas.openxmlformats.org/drawingml/2006/table">
            <a:tbl>
              <a:tblPr firstRow="1" bandRow="1">
                <a:tableStyleId>{5C22544A-7EE6-4342-B048-85BDC9FD1C3A}</a:tableStyleId>
              </a:tblPr>
              <a:tblGrid>
                <a:gridCol w="5110843">
                  <a:extLst>
                    <a:ext uri="{9D8B030D-6E8A-4147-A177-3AD203B41FA5}">
                      <a16:colId xmlns:a16="http://schemas.microsoft.com/office/drawing/2014/main" val="2528004365"/>
                    </a:ext>
                  </a:extLst>
                </a:gridCol>
              </a:tblGrid>
              <a:tr h="1110342">
                <a:tc>
                  <a:txBody>
                    <a:bodyPr/>
                    <a:lstStyle/>
                    <a:p>
                      <a:r>
                        <a:rPr lang="ru-RU" sz="2000" baseline="0" dirty="0" smtClean="0">
                          <a:solidFill>
                            <a:schemeClr val="tx1"/>
                          </a:solidFill>
                        </a:rPr>
                        <a:t>Производство 1.</a:t>
                      </a:r>
                      <a:r>
                        <a:rPr lang="ru-RU" sz="2000" dirty="0" smtClean="0">
                          <a:solidFill>
                            <a:schemeClr val="tx1"/>
                          </a:solidFill>
                        </a:rPr>
                        <a:t>_____________________________________2.________________</a:t>
                      </a:r>
                      <a:endParaRPr lang="ru-RU" sz="20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328151957"/>
                  </a:ext>
                </a:extLst>
              </a:tr>
            </a:tbl>
          </a:graphicData>
        </a:graphic>
      </p:graphicFrame>
      <p:sp>
        <p:nvSpPr>
          <p:cNvPr id="8" name="Прямоугольник 7"/>
          <p:cNvSpPr/>
          <p:nvPr/>
        </p:nvSpPr>
        <p:spPr>
          <a:xfrm>
            <a:off x="791934" y="1978829"/>
            <a:ext cx="5110842" cy="950618"/>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solidFill>
                  <a:schemeClr val="tx1"/>
                </a:solidFill>
              </a:rPr>
              <a:t>Поиск в интернете (</a:t>
            </a:r>
            <a:r>
              <a:rPr lang="ru-RU" sz="2400" i="1" dirty="0" smtClean="0">
                <a:solidFill>
                  <a:schemeClr val="tx1"/>
                </a:solidFill>
              </a:rPr>
              <a:t>через Яндекс</a:t>
            </a:r>
            <a:r>
              <a:rPr lang="ru-RU" sz="2400" dirty="0" smtClean="0">
                <a:solidFill>
                  <a:schemeClr val="tx1"/>
                </a:solidFill>
              </a:rPr>
              <a:t>)</a:t>
            </a:r>
            <a:endParaRPr lang="ru-RU" sz="2400" dirty="0">
              <a:solidFill>
                <a:schemeClr val="tx1"/>
              </a:solidFill>
            </a:endParaRPr>
          </a:p>
        </p:txBody>
      </p:sp>
      <p:sp>
        <p:nvSpPr>
          <p:cNvPr id="9" name="Прямоугольник 8"/>
          <p:cNvSpPr/>
          <p:nvPr/>
        </p:nvSpPr>
        <p:spPr>
          <a:xfrm>
            <a:off x="832753" y="8526522"/>
            <a:ext cx="5045531" cy="1225172"/>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ru-RU" sz="2000" b="1" dirty="0" smtClean="0">
                <a:solidFill>
                  <a:schemeClr val="tx1"/>
                </a:solidFill>
              </a:rPr>
              <a:t>качество, менеджмент</a:t>
            </a:r>
          </a:p>
          <a:p>
            <a:pPr marL="457200" indent="-457200">
              <a:buAutoNum type="arabicPeriod"/>
            </a:pPr>
            <a:r>
              <a:rPr lang="ru-RU" sz="2000" b="1" dirty="0" smtClean="0">
                <a:solidFill>
                  <a:schemeClr val="tx1"/>
                </a:solidFill>
              </a:rPr>
              <a:t>_________________________________</a:t>
            </a:r>
          </a:p>
          <a:p>
            <a:pPr marL="457200" indent="-457200">
              <a:buAutoNum type="arabicPeriod"/>
            </a:pPr>
            <a:r>
              <a:rPr lang="ru-RU" sz="2000" b="1" dirty="0" smtClean="0">
                <a:solidFill>
                  <a:schemeClr val="tx1"/>
                </a:solidFill>
              </a:rPr>
              <a:t>_________________________________</a:t>
            </a:r>
          </a:p>
        </p:txBody>
      </p:sp>
      <p:sp>
        <p:nvSpPr>
          <p:cNvPr id="11" name="Прямоугольник 10"/>
          <p:cNvSpPr/>
          <p:nvPr/>
        </p:nvSpPr>
        <p:spPr>
          <a:xfrm>
            <a:off x="832753" y="9927243"/>
            <a:ext cx="5045531" cy="115985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dirty="0" smtClean="0">
                <a:solidFill>
                  <a:schemeClr val="tx1"/>
                </a:solidFill>
              </a:rPr>
              <a:t>IT</a:t>
            </a:r>
            <a:r>
              <a:rPr lang="ru-RU" b="1" dirty="0" smtClean="0">
                <a:solidFill>
                  <a:schemeClr val="tx1"/>
                </a:solidFill>
              </a:rPr>
              <a:t> технологии _______________________________________</a:t>
            </a:r>
          </a:p>
          <a:p>
            <a:pPr marL="342900" indent="-342900">
              <a:buAutoNum type="arabicPeriod"/>
            </a:pPr>
            <a:r>
              <a:rPr lang="ru-RU" b="1" dirty="0" smtClean="0">
                <a:solidFill>
                  <a:schemeClr val="tx1"/>
                </a:solidFill>
              </a:rPr>
              <a:t>_______________________________________</a:t>
            </a:r>
            <a:r>
              <a:rPr lang="en-US" b="1" dirty="0" smtClean="0">
                <a:solidFill>
                  <a:schemeClr val="tx1"/>
                </a:solidFill>
              </a:rPr>
              <a:t> </a:t>
            </a:r>
            <a:endParaRPr lang="ru-RU" b="1" dirty="0">
              <a:solidFill>
                <a:schemeClr val="tx1"/>
              </a:solidFill>
            </a:endParaRPr>
          </a:p>
        </p:txBody>
      </p:sp>
      <p:sp>
        <p:nvSpPr>
          <p:cNvPr id="12" name="Управляющая кнопка: сведения 11">
            <a:hlinkClick r:id="" action="ppaction://noaction" highlightClick="1"/>
          </p:cNvPr>
          <p:cNvSpPr/>
          <p:nvPr/>
        </p:nvSpPr>
        <p:spPr>
          <a:xfrm>
            <a:off x="6123208" y="11266714"/>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0" name="Рисунок 9"/>
          <p:cNvPicPr>
            <a:picLocks noChangeAspect="1"/>
          </p:cNvPicPr>
          <p:nvPr/>
        </p:nvPicPr>
        <p:blipFill>
          <a:blip r:embed="rId2"/>
          <a:stretch>
            <a:fillRect/>
          </a:stretch>
        </p:blipFill>
        <p:spPr>
          <a:xfrm>
            <a:off x="529679" y="282149"/>
            <a:ext cx="475529" cy="396274"/>
          </a:xfrm>
          <a:prstGeom prst="rect">
            <a:avLst/>
          </a:prstGeom>
        </p:spPr>
      </p:pic>
    </p:spTree>
    <p:extLst>
      <p:ext uri="{BB962C8B-B14F-4D97-AF65-F5344CB8AC3E}">
        <p14:creationId xmlns:p14="http://schemas.microsoft.com/office/powerpoint/2010/main" val="487413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73499" y="179614"/>
            <a:ext cx="6286499" cy="11560629"/>
          </a:xfrm>
          <a:prstGeom prst="rect">
            <a:avLst/>
          </a:prstGeom>
          <a:solidFill>
            <a:schemeClr val="accent1">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t"/>
          <a:lstStyle/>
          <a:p>
            <a:pPr algn="ctr"/>
            <a:endParaRPr lang="ru-RU" sz="3600" dirty="0">
              <a:solidFill>
                <a:schemeClr val="tx1"/>
              </a:solidFill>
            </a:endParaRPr>
          </a:p>
          <a:p>
            <a:pPr algn="ctr"/>
            <a:endParaRPr lang="ru-RU" sz="3600" dirty="0" smtClean="0">
              <a:solidFill>
                <a:schemeClr val="tx1"/>
              </a:solidFill>
            </a:endParaRPr>
          </a:p>
          <a:p>
            <a:r>
              <a:rPr lang="ru-RU" sz="3600" dirty="0">
                <a:solidFill>
                  <a:schemeClr val="tx1"/>
                </a:solidFill>
              </a:rPr>
              <a:t> </a:t>
            </a:r>
            <a:r>
              <a:rPr lang="ru-RU" sz="3600" dirty="0" smtClean="0">
                <a:solidFill>
                  <a:schemeClr val="tx1"/>
                </a:solidFill>
              </a:rPr>
              <a:t>       </a:t>
            </a:r>
          </a:p>
          <a:p>
            <a:pPr algn="ctr"/>
            <a:r>
              <a:rPr lang="ru-RU" sz="3600" dirty="0" smtClean="0">
                <a:solidFill>
                  <a:schemeClr val="tx1"/>
                </a:solidFill>
              </a:rPr>
              <a:t>Отдел </a:t>
            </a:r>
            <a:r>
              <a:rPr lang="en-US" sz="3600" dirty="0" smtClean="0">
                <a:solidFill>
                  <a:schemeClr val="tx1"/>
                </a:solidFill>
              </a:rPr>
              <a:t>IT</a:t>
            </a:r>
            <a:endParaRPr lang="ru-RU" sz="3600" dirty="0" smtClean="0">
              <a:solidFill>
                <a:schemeClr val="tx1"/>
              </a:solidFill>
            </a:endParaRPr>
          </a:p>
          <a:p>
            <a:pPr algn="ctr"/>
            <a:r>
              <a:rPr lang="ru-RU" sz="2000" b="1" dirty="0" smtClean="0">
                <a:solidFill>
                  <a:schemeClr val="tx1"/>
                </a:solidFill>
              </a:rPr>
              <a:t>15.09.2026</a:t>
            </a:r>
            <a:endParaRPr lang="ru-RU" sz="2000" b="1" dirty="0">
              <a:solidFill>
                <a:schemeClr val="tx1"/>
              </a:solidFill>
            </a:endParaRPr>
          </a:p>
          <a:p>
            <a:r>
              <a:rPr lang="ru-RU" sz="3600" dirty="0" smtClean="0">
                <a:solidFill>
                  <a:schemeClr val="tx1"/>
                </a:solidFill>
              </a:rPr>
              <a:t>         </a:t>
            </a:r>
            <a:r>
              <a:rPr lang="ru-RU" sz="2800" dirty="0" smtClean="0">
                <a:solidFill>
                  <a:schemeClr val="tx1"/>
                </a:solidFill>
              </a:rPr>
              <a:t>Васильев С.И. нач. отдел</a:t>
            </a:r>
            <a:r>
              <a:rPr lang="ru-RU" sz="2800" dirty="0">
                <a:solidFill>
                  <a:schemeClr val="tx1"/>
                </a:solidFill>
              </a:rPr>
              <a:t>а</a:t>
            </a:r>
            <a:endParaRPr lang="ru-RU" sz="2800" dirty="0" smtClean="0">
              <a:solidFill>
                <a:schemeClr val="tx1"/>
              </a:solidFill>
            </a:endParaRPr>
          </a:p>
          <a:p>
            <a:r>
              <a:rPr lang="ru-RU" sz="2800" dirty="0">
                <a:solidFill>
                  <a:schemeClr val="tx1"/>
                </a:solidFill>
              </a:rPr>
              <a:t> </a:t>
            </a:r>
            <a:r>
              <a:rPr lang="ru-RU" sz="2800" dirty="0" smtClean="0">
                <a:solidFill>
                  <a:schemeClr val="tx1"/>
                </a:solidFill>
              </a:rPr>
              <a:t>           </a:t>
            </a:r>
            <a:r>
              <a:rPr lang="ru-RU" sz="2400" i="1" dirty="0" smtClean="0">
                <a:solidFill>
                  <a:schemeClr val="tx1"/>
                </a:solidFill>
              </a:rPr>
              <a:t>сообщите пожалуйста….</a:t>
            </a:r>
          </a:p>
          <a:p>
            <a:pPr algn="ctr"/>
            <a:endParaRPr lang="ru-RU" sz="2000" dirty="0" smtClean="0">
              <a:solidFill>
                <a:schemeClr val="tx1"/>
              </a:solidFill>
            </a:endParaRPr>
          </a:p>
          <a:p>
            <a:pPr algn="ctr"/>
            <a:r>
              <a:rPr lang="ru-RU" sz="2000" b="1" dirty="0" smtClean="0">
                <a:solidFill>
                  <a:schemeClr val="tx1"/>
                </a:solidFill>
              </a:rPr>
              <a:t>16.09.2026</a:t>
            </a:r>
            <a:endParaRPr lang="ru-RU" sz="2000" b="1" dirty="0">
              <a:solidFill>
                <a:schemeClr val="tx1"/>
              </a:solidFill>
            </a:endParaRPr>
          </a:p>
          <a:p>
            <a:endParaRPr lang="en-US" sz="2400" i="1" dirty="0" smtClean="0">
              <a:solidFill>
                <a:schemeClr val="tx1"/>
              </a:solidFill>
            </a:endParaRPr>
          </a:p>
          <a:p>
            <a:r>
              <a:rPr lang="ru-RU" sz="2800" dirty="0" smtClean="0">
                <a:solidFill>
                  <a:schemeClr val="tx1"/>
                </a:solidFill>
              </a:rPr>
              <a:t>            Петров П.Н. </a:t>
            </a:r>
            <a:r>
              <a:rPr lang="ru-RU" sz="2800" dirty="0" err="1" smtClean="0">
                <a:solidFill>
                  <a:schemeClr val="tx1"/>
                </a:solidFill>
              </a:rPr>
              <a:t>зам.нач</a:t>
            </a:r>
            <a:r>
              <a:rPr lang="ru-RU" sz="2800" dirty="0" smtClean="0">
                <a:solidFill>
                  <a:schemeClr val="tx1"/>
                </a:solidFill>
              </a:rPr>
              <a:t>. отдела</a:t>
            </a:r>
          </a:p>
          <a:p>
            <a:r>
              <a:rPr lang="ru-RU" sz="2800" dirty="0" smtClean="0">
                <a:solidFill>
                  <a:schemeClr val="tx1"/>
                </a:solidFill>
              </a:rPr>
              <a:t>            </a:t>
            </a:r>
            <a:r>
              <a:rPr lang="ru-RU" sz="2400" i="1" dirty="0" smtClean="0">
                <a:solidFill>
                  <a:schemeClr val="tx1"/>
                </a:solidFill>
              </a:rPr>
              <a:t>по вашему предложению могу</a:t>
            </a:r>
            <a:r>
              <a:rPr lang="ru-RU" sz="2800" dirty="0" smtClean="0">
                <a:solidFill>
                  <a:schemeClr val="tx1"/>
                </a:solidFill>
              </a:rPr>
              <a:t>…</a:t>
            </a:r>
          </a:p>
          <a:p>
            <a:r>
              <a:rPr lang="ru-RU" sz="2800" dirty="0">
                <a:solidFill>
                  <a:schemeClr val="tx1"/>
                </a:solidFill>
              </a:rPr>
              <a:t> </a:t>
            </a:r>
            <a:r>
              <a:rPr lang="ru-RU" sz="2800" dirty="0" smtClean="0">
                <a:solidFill>
                  <a:schemeClr val="tx1"/>
                </a:solidFill>
              </a:rPr>
              <a:t>           </a:t>
            </a:r>
          </a:p>
          <a:p>
            <a:r>
              <a:rPr lang="ru-RU" sz="2800" dirty="0">
                <a:solidFill>
                  <a:schemeClr val="tx1"/>
                </a:solidFill>
              </a:rPr>
              <a:t> </a:t>
            </a:r>
            <a:r>
              <a:rPr lang="ru-RU" sz="2800" dirty="0" smtClean="0">
                <a:solidFill>
                  <a:schemeClr val="tx1"/>
                </a:solidFill>
              </a:rPr>
              <a:t>           Котова М.Н. </a:t>
            </a:r>
            <a:r>
              <a:rPr lang="ru-RU" sz="2400" dirty="0" smtClean="0">
                <a:solidFill>
                  <a:schemeClr val="tx1"/>
                </a:solidFill>
              </a:rPr>
              <a:t>вед. программист</a:t>
            </a:r>
          </a:p>
          <a:p>
            <a:r>
              <a:rPr lang="ru-RU" sz="2400" i="1" dirty="0" smtClean="0">
                <a:solidFill>
                  <a:schemeClr val="tx1"/>
                </a:solidFill>
              </a:rPr>
              <a:t>              мы просчитали экономию от вашего..</a:t>
            </a:r>
          </a:p>
          <a:p>
            <a:endParaRPr lang="ru-RU" sz="2800" dirty="0">
              <a:solidFill>
                <a:schemeClr val="tx1"/>
              </a:solidFill>
            </a:endParaRPr>
          </a:p>
          <a:p>
            <a:r>
              <a:rPr lang="ru-RU" sz="2800" dirty="0" smtClean="0">
                <a:solidFill>
                  <a:schemeClr val="tx1"/>
                </a:solidFill>
              </a:rPr>
              <a:t>             Басков Д.С. Программист</a:t>
            </a:r>
          </a:p>
          <a:p>
            <a:r>
              <a:rPr lang="ru-RU" sz="2800" dirty="0" smtClean="0">
                <a:solidFill>
                  <a:schemeClr val="tx1"/>
                </a:solidFill>
              </a:rPr>
              <a:t>             </a:t>
            </a:r>
            <a:r>
              <a:rPr lang="ru-RU" sz="2400" i="1" dirty="0" smtClean="0">
                <a:solidFill>
                  <a:schemeClr val="tx1"/>
                </a:solidFill>
              </a:rPr>
              <a:t>предварительно принял решение…</a:t>
            </a:r>
            <a:endParaRPr lang="ru-RU" sz="2400" i="1" dirty="0">
              <a:solidFill>
                <a:schemeClr val="tx1"/>
              </a:solidFill>
            </a:endParaRPr>
          </a:p>
        </p:txBody>
      </p:sp>
      <p:sp>
        <p:nvSpPr>
          <p:cNvPr id="7" name="TextBox 6"/>
          <p:cNvSpPr txBox="1"/>
          <p:nvPr/>
        </p:nvSpPr>
        <p:spPr>
          <a:xfrm>
            <a:off x="2767343" y="5559818"/>
            <a:ext cx="1421280" cy="400110"/>
          </a:xfrm>
          <a:prstGeom prst="rect">
            <a:avLst/>
          </a:prstGeom>
          <a:noFill/>
        </p:spPr>
        <p:txBody>
          <a:bodyPr wrap="square" rtlCol="0">
            <a:spAutoFit/>
          </a:bodyPr>
          <a:lstStyle/>
          <a:p>
            <a:r>
              <a:rPr lang="ru-RU" sz="2000" b="1" dirty="0" smtClean="0"/>
              <a:t>18.09.2</a:t>
            </a:r>
            <a:r>
              <a:rPr lang="ru-RU" sz="2000" dirty="0" smtClean="0"/>
              <a:t>0</a:t>
            </a:r>
            <a:r>
              <a:rPr lang="ru-RU" sz="2000" b="1" dirty="0" smtClean="0"/>
              <a:t>26 </a:t>
            </a:r>
            <a:endParaRPr lang="ru-RU" sz="2000" b="1" dirty="0"/>
          </a:p>
        </p:txBody>
      </p:sp>
      <p:sp>
        <p:nvSpPr>
          <p:cNvPr id="10" name="Стрелка влево 9"/>
          <p:cNvSpPr/>
          <p:nvPr/>
        </p:nvSpPr>
        <p:spPr>
          <a:xfrm>
            <a:off x="538844" y="1263782"/>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Блок-схема: узел 10"/>
          <p:cNvSpPr/>
          <p:nvPr/>
        </p:nvSpPr>
        <p:spPr>
          <a:xfrm>
            <a:off x="620490" y="2905964"/>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Блок-схема: узел 11"/>
          <p:cNvSpPr/>
          <p:nvPr/>
        </p:nvSpPr>
        <p:spPr>
          <a:xfrm>
            <a:off x="657881" y="4664213"/>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Блок-схема: узел 12"/>
          <p:cNvSpPr/>
          <p:nvPr/>
        </p:nvSpPr>
        <p:spPr>
          <a:xfrm>
            <a:off x="690539" y="5959928"/>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Блок-схема: узел 13"/>
          <p:cNvSpPr/>
          <p:nvPr/>
        </p:nvSpPr>
        <p:spPr>
          <a:xfrm>
            <a:off x="739525" y="7112113"/>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20" name="Таблица 19"/>
          <p:cNvGraphicFramePr>
            <a:graphicFrameLocks noGrp="1"/>
          </p:cNvGraphicFramePr>
          <p:nvPr>
            <p:extLst>
              <p:ext uri="{D42A27DB-BD31-4B8C-83A1-F6EECF244321}">
                <p14:modId xmlns:p14="http://schemas.microsoft.com/office/powerpoint/2010/main" val="2954524602"/>
              </p:ext>
            </p:extLst>
          </p:nvPr>
        </p:nvGraphicFramePr>
        <p:xfrm>
          <a:off x="3477984" y="1060945"/>
          <a:ext cx="2543868" cy="621762"/>
        </p:xfrm>
        <a:graphic>
          <a:graphicData uri="http://schemas.openxmlformats.org/drawingml/2006/table">
            <a:tbl>
              <a:tblPr firstRow="1" bandRow="1">
                <a:tableStyleId>{5C22544A-7EE6-4342-B048-85BDC9FD1C3A}</a:tableStyleId>
              </a:tblPr>
              <a:tblGrid>
                <a:gridCol w="2543868">
                  <a:extLst>
                    <a:ext uri="{9D8B030D-6E8A-4147-A177-3AD203B41FA5}">
                      <a16:colId xmlns:a16="http://schemas.microsoft.com/office/drawing/2014/main" val="333183870"/>
                    </a:ext>
                  </a:extLst>
                </a:gridCol>
              </a:tblGrid>
              <a:tr h="621762">
                <a:tc>
                  <a:txBody>
                    <a:bodyPr/>
                    <a:lstStyle/>
                    <a:p>
                      <a:r>
                        <a:rPr lang="ru-RU" sz="2000" dirty="0" smtClean="0"/>
                        <a:t>поиск</a:t>
                      </a:r>
                      <a:endParaRPr lang="ru-RU" sz="2000" dirty="0"/>
                    </a:p>
                  </a:txBody>
                  <a:tcPr/>
                </a:tc>
                <a:extLst>
                  <a:ext uri="{0D108BD9-81ED-4DB2-BD59-A6C34878D82A}">
                    <a16:rowId xmlns:a16="http://schemas.microsoft.com/office/drawing/2014/main" val="4063895717"/>
                  </a:ext>
                </a:extLst>
              </a:tr>
            </a:tbl>
          </a:graphicData>
        </a:graphic>
      </p:graphicFrame>
      <p:graphicFrame>
        <p:nvGraphicFramePr>
          <p:cNvPr id="21" name="Таблица 20"/>
          <p:cNvGraphicFramePr>
            <a:graphicFrameLocks noGrp="1"/>
          </p:cNvGraphicFramePr>
          <p:nvPr>
            <p:extLst>
              <p:ext uri="{D42A27DB-BD31-4B8C-83A1-F6EECF244321}">
                <p14:modId xmlns:p14="http://schemas.microsoft.com/office/powerpoint/2010/main" val="4178685357"/>
              </p:ext>
            </p:extLst>
          </p:nvPr>
        </p:nvGraphicFramePr>
        <p:xfrm>
          <a:off x="636816" y="10613571"/>
          <a:ext cx="1763484" cy="832758"/>
        </p:xfrm>
        <a:graphic>
          <a:graphicData uri="http://schemas.openxmlformats.org/drawingml/2006/table">
            <a:tbl>
              <a:tblPr firstRow="1" bandRow="1">
                <a:tableStyleId>{5C22544A-7EE6-4342-B048-85BDC9FD1C3A}</a:tableStyleId>
              </a:tblPr>
              <a:tblGrid>
                <a:gridCol w="1763484">
                  <a:extLst>
                    <a:ext uri="{9D8B030D-6E8A-4147-A177-3AD203B41FA5}">
                      <a16:colId xmlns:a16="http://schemas.microsoft.com/office/drawing/2014/main" val="1227579358"/>
                    </a:ext>
                  </a:extLst>
                </a:gridCol>
              </a:tblGrid>
              <a:tr h="832758">
                <a:tc>
                  <a:txBody>
                    <a:bodyPr/>
                    <a:lstStyle/>
                    <a:p>
                      <a:pPr algn="ctr"/>
                      <a:r>
                        <a:rPr lang="ru-RU" sz="2400" dirty="0" smtClean="0">
                          <a:solidFill>
                            <a:schemeClr val="tx1"/>
                          </a:solidFill>
                        </a:rPr>
                        <a:t>мой</a:t>
                      </a:r>
                      <a:r>
                        <a:rPr lang="ru-RU" sz="2400" baseline="0" dirty="0" smtClean="0">
                          <a:solidFill>
                            <a:schemeClr val="tx1"/>
                          </a:solidFill>
                        </a:rPr>
                        <a:t> отдел</a:t>
                      </a:r>
                      <a:endParaRPr lang="ru-RU" sz="2400" dirty="0">
                        <a:solidFill>
                          <a:schemeClr val="tx1"/>
                        </a:solidFill>
                      </a:endParaRPr>
                    </a:p>
                  </a:txBody>
                  <a:tcPr>
                    <a:solidFill>
                      <a:srgbClr val="FFC000"/>
                    </a:solidFill>
                  </a:tcPr>
                </a:tc>
                <a:extLst>
                  <a:ext uri="{0D108BD9-81ED-4DB2-BD59-A6C34878D82A}">
                    <a16:rowId xmlns:a16="http://schemas.microsoft.com/office/drawing/2014/main" val="1082516208"/>
                  </a:ext>
                </a:extLst>
              </a:tr>
            </a:tbl>
          </a:graphicData>
        </a:graphic>
      </p:graphicFrame>
      <p:graphicFrame>
        <p:nvGraphicFramePr>
          <p:cNvPr id="22" name="Таблица 21"/>
          <p:cNvGraphicFramePr>
            <a:graphicFrameLocks noGrp="1"/>
          </p:cNvGraphicFramePr>
          <p:nvPr>
            <p:extLst>
              <p:ext uri="{D42A27DB-BD31-4B8C-83A1-F6EECF244321}">
                <p14:modId xmlns:p14="http://schemas.microsoft.com/office/powerpoint/2010/main" val="2557165464"/>
              </p:ext>
            </p:extLst>
          </p:nvPr>
        </p:nvGraphicFramePr>
        <p:xfrm>
          <a:off x="2400300" y="10613571"/>
          <a:ext cx="1975757" cy="832758"/>
        </p:xfrm>
        <a:graphic>
          <a:graphicData uri="http://schemas.openxmlformats.org/drawingml/2006/table">
            <a:tbl>
              <a:tblPr firstRow="1" bandRow="1">
                <a:tableStyleId>{5C22544A-7EE6-4342-B048-85BDC9FD1C3A}</a:tableStyleId>
              </a:tblPr>
              <a:tblGrid>
                <a:gridCol w="1975757">
                  <a:extLst>
                    <a:ext uri="{9D8B030D-6E8A-4147-A177-3AD203B41FA5}">
                      <a16:colId xmlns:a16="http://schemas.microsoft.com/office/drawing/2014/main" val="1227579358"/>
                    </a:ext>
                  </a:extLst>
                </a:gridCol>
              </a:tblGrid>
              <a:tr h="832758">
                <a:tc>
                  <a:txBody>
                    <a:bodyPr/>
                    <a:lstStyle/>
                    <a:p>
                      <a:pPr algn="ctr"/>
                      <a:r>
                        <a:rPr lang="ru-RU" sz="2400" dirty="0" smtClean="0">
                          <a:solidFill>
                            <a:schemeClr val="tx1"/>
                          </a:solidFill>
                        </a:rPr>
                        <a:t>коллеги</a:t>
                      </a:r>
                      <a:endParaRPr lang="ru-RU" sz="2400" dirty="0">
                        <a:solidFill>
                          <a:schemeClr val="tx1"/>
                        </a:solidFill>
                      </a:endParaRPr>
                    </a:p>
                  </a:txBody>
                  <a:tcPr/>
                </a:tc>
                <a:extLst>
                  <a:ext uri="{0D108BD9-81ED-4DB2-BD59-A6C34878D82A}">
                    <a16:rowId xmlns:a16="http://schemas.microsoft.com/office/drawing/2014/main" val="1082516208"/>
                  </a:ext>
                </a:extLst>
              </a:tr>
            </a:tbl>
          </a:graphicData>
        </a:graphic>
      </p:graphicFrame>
      <p:graphicFrame>
        <p:nvGraphicFramePr>
          <p:cNvPr id="23" name="Таблица 22"/>
          <p:cNvGraphicFramePr>
            <a:graphicFrameLocks noGrp="1"/>
          </p:cNvGraphicFramePr>
          <p:nvPr>
            <p:extLst>
              <p:ext uri="{D42A27DB-BD31-4B8C-83A1-F6EECF244321}">
                <p14:modId xmlns:p14="http://schemas.microsoft.com/office/powerpoint/2010/main" val="41576649"/>
              </p:ext>
            </p:extLst>
          </p:nvPr>
        </p:nvGraphicFramePr>
        <p:xfrm>
          <a:off x="4376057" y="10613571"/>
          <a:ext cx="1804305" cy="832758"/>
        </p:xfrm>
        <a:graphic>
          <a:graphicData uri="http://schemas.openxmlformats.org/drawingml/2006/table">
            <a:tbl>
              <a:tblPr firstRow="1" bandRow="1">
                <a:tableStyleId>{5C22544A-7EE6-4342-B048-85BDC9FD1C3A}</a:tableStyleId>
              </a:tblPr>
              <a:tblGrid>
                <a:gridCol w="1804305">
                  <a:extLst>
                    <a:ext uri="{9D8B030D-6E8A-4147-A177-3AD203B41FA5}">
                      <a16:colId xmlns:a16="http://schemas.microsoft.com/office/drawing/2014/main" val="1227579358"/>
                    </a:ext>
                  </a:extLst>
                </a:gridCol>
              </a:tblGrid>
              <a:tr h="832758">
                <a:tc>
                  <a:txBody>
                    <a:bodyPr/>
                    <a:lstStyle/>
                    <a:p>
                      <a:pPr algn="ctr"/>
                      <a:r>
                        <a:rPr lang="ru-RU" sz="2400" dirty="0" smtClean="0">
                          <a:solidFill>
                            <a:schemeClr val="tx1"/>
                          </a:solidFill>
                        </a:rPr>
                        <a:t>клиенты</a:t>
                      </a:r>
                      <a:endParaRPr lang="ru-RU" sz="2400" dirty="0">
                        <a:solidFill>
                          <a:schemeClr val="tx1"/>
                        </a:solidFill>
                      </a:endParaRPr>
                    </a:p>
                  </a:txBody>
                  <a:tcPr/>
                </a:tc>
                <a:extLst>
                  <a:ext uri="{0D108BD9-81ED-4DB2-BD59-A6C34878D82A}">
                    <a16:rowId xmlns:a16="http://schemas.microsoft.com/office/drawing/2014/main" val="1082516208"/>
                  </a:ext>
                </a:extLst>
              </a:tr>
            </a:tbl>
          </a:graphicData>
        </a:graphic>
      </p:graphicFrame>
      <p:sp>
        <p:nvSpPr>
          <p:cNvPr id="24" name="Управляющая кнопка: далее 23">
            <a:hlinkClick r:id="" action="ppaction://hlinkshowjump?jump=nextslide" highlightClick="1"/>
          </p:cNvPr>
          <p:cNvSpPr/>
          <p:nvPr/>
        </p:nvSpPr>
        <p:spPr>
          <a:xfrm>
            <a:off x="5527219" y="9529747"/>
            <a:ext cx="653142" cy="653145"/>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 </a:t>
            </a:r>
            <a:endParaRPr lang="ru-RU" dirty="0"/>
          </a:p>
        </p:txBody>
      </p:sp>
      <p:sp>
        <p:nvSpPr>
          <p:cNvPr id="25" name="TextBox 24"/>
          <p:cNvSpPr txBox="1"/>
          <p:nvPr/>
        </p:nvSpPr>
        <p:spPr>
          <a:xfrm>
            <a:off x="5594897" y="4731151"/>
            <a:ext cx="914401" cy="400110"/>
          </a:xfrm>
          <a:prstGeom prst="rect">
            <a:avLst/>
          </a:prstGeom>
          <a:noFill/>
        </p:spPr>
        <p:txBody>
          <a:bodyPr wrap="square" rtlCol="0">
            <a:spAutoFit/>
          </a:bodyPr>
          <a:lstStyle/>
          <a:p>
            <a:r>
              <a:rPr lang="ru-RU" sz="2000" b="1" dirty="0" smtClean="0"/>
              <a:t>11:45</a:t>
            </a:r>
            <a:endParaRPr lang="ru-RU" sz="2000" b="1" dirty="0"/>
          </a:p>
        </p:txBody>
      </p:sp>
      <p:sp>
        <p:nvSpPr>
          <p:cNvPr id="26" name="TextBox 25"/>
          <p:cNvSpPr txBox="1"/>
          <p:nvPr/>
        </p:nvSpPr>
        <p:spPr>
          <a:xfrm>
            <a:off x="5592533" y="2538973"/>
            <a:ext cx="914401" cy="400110"/>
          </a:xfrm>
          <a:prstGeom prst="rect">
            <a:avLst/>
          </a:prstGeom>
          <a:noFill/>
        </p:spPr>
        <p:txBody>
          <a:bodyPr wrap="square" rtlCol="0">
            <a:spAutoFit/>
          </a:bodyPr>
          <a:lstStyle/>
          <a:p>
            <a:r>
              <a:rPr lang="ru-RU" sz="2000" b="1" dirty="0" smtClean="0"/>
              <a:t>10:45</a:t>
            </a:r>
            <a:endParaRPr lang="ru-RU" sz="2000" b="1" dirty="0"/>
          </a:p>
        </p:txBody>
      </p:sp>
      <p:sp>
        <p:nvSpPr>
          <p:cNvPr id="27" name="TextBox 26"/>
          <p:cNvSpPr txBox="1"/>
          <p:nvPr/>
        </p:nvSpPr>
        <p:spPr>
          <a:xfrm>
            <a:off x="5682340" y="5834305"/>
            <a:ext cx="914401" cy="400110"/>
          </a:xfrm>
          <a:prstGeom prst="rect">
            <a:avLst/>
          </a:prstGeom>
          <a:noFill/>
        </p:spPr>
        <p:txBody>
          <a:bodyPr wrap="square" rtlCol="0">
            <a:spAutoFit/>
          </a:bodyPr>
          <a:lstStyle/>
          <a:p>
            <a:r>
              <a:rPr lang="ru-RU" sz="2000" b="1" dirty="0" smtClean="0"/>
              <a:t>12:10</a:t>
            </a:r>
            <a:endParaRPr lang="ru-RU" sz="2000" b="1" dirty="0"/>
          </a:p>
        </p:txBody>
      </p:sp>
      <p:sp>
        <p:nvSpPr>
          <p:cNvPr id="28" name="TextBox 27"/>
          <p:cNvSpPr txBox="1"/>
          <p:nvPr/>
        </p:nvSpPr>
        <p:spPr>
          <a:xfrm>
            <a:off x="5682340" y="7165017"/>
            <a:ext cx="914401" cy="400110"/>
          </a:xfrm>
          <a:prstGeom prst="rect">
            <a:avLst/>
          </a:prstGeom>
          <a:noFill/>
        </p:spPr>
        <p:txBody>
          <a:bodyPr wrap="square" rtlCol="0">
            <a:spAutoFit/>
          </a:bodyPr>
          <a:lstStyle/>
          <a:p>
            <a:r>
              <a:rPr lang="ru-RU" sz="2000" b="1" dirty="0" smtClean="0"/>
              <a:t>13:17</a:t>
            </a:r>
            <a:endParaRPr lang="ru-RU" sz="2000" b="1" dirty="0"/>
          </a:p>
        </p:txBody>
      </p:sp>
      <p:sp>
        <p:nvSpPr>
          <p:cNvPr id="19" name="Управляющая кнопка: сведения 18">
            <a:hlinkClick r:id="" action="ppaction://noaction" highlightClick="1"/>
          </p:cNvPr>
          <p:cNvSpPr/>
          <p:nvPr/>
        </p:nvSpPr>
        <p:spPr>
          <a:xfrm>
            <a:off x="6139541" y="11285639"/>
            <a:ext cx="506186" cy="454604"/>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2"/>
          <p:cNvSpPr/>
          <p:nvPr/>
        </p:nvSpPr>
        <p:spPr>
          <a:xfrm>
            <a:off x="514352" y="335338"/>
            <a:ext cx="2963631" cy="7078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ru-RU" sz="2800" dirty="0">
                <a:solidFill>
                  <a:prstClr val="black"/>
                </a:solidFill>
              </a:rPr>
              <a:t>МЕССЕНДЖЕР</a:t>
            </a:r>
          </a:p>
        </p:txBody>
      </p:sp>
      <p:sp>
        <p:nvSpPr>
          <p:cNvPr id="29" name="Прямоугольник 28"/>
          <p:cNvSpPr/>
          <p:nvPr/>
        </p:nvSpPr>
        <p:spPr>
          <a:xfrm>
            <a:off x="3477984" y="344229"/>
            <a:ext cx="2530924" cy="707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ru-RU" sz="2800" dirty="0" smtClean="0">
                <a:solidFill>
                  <a:prstClr val="black"/>
                </a:solidFill>
              </a:rPr>
              <a:t>ПОЧТА</a:t>
            </a:r>
            <a:endParaRPr lang="ru-RU" sz="2800" dirty="0">
              <a:solidFill>
                <a:prstClr val="black"/>
              </a:solidFill>
            </a:endParaRPr>
          </a:p>
        </p:txBody>
      </p:sp>
      <p:sp>
        <p:nvSpPr>
          <p:cNvPr id="4" name="Стрелка вниз 3"/>
          <p:cNvSpPr/>
          <p:nvPr/>
        </p:nvSpPr>
        <p:spPr>
          <a:xfrm>
            <a:off x="5747650" y="3014708"/>
            <a:ext cx="261257" cy="2436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 name="Рисунок 4"/>
          <p:cNvPicPr>
            <a:picLocks noChangeAspect="1"/>
          </p:cNvPicPr>
          <p:nvPr/>
        </p:nvPicPr>
        <p:blipFill>
          <a:blip r:embed="rId2"/>
          <a:stretch>
            <a:fillRect/>
          </a:stretch>
        </p:blipFill>
        <p:spPr>
          <a:xfrm>
            <a:off x="6021852" y="3034915"/>
            <a:ext cx="317019" cy="268247"/>
          </a:xfrm>
          <a:prstGeom prst="rect">
            <a:avLst/>
          </a:prstGeom>
        </p:spPr>
      </p:pic>
      <p:pic>
        <p:nvPicPr>
          <p:cNvPr id="6" name="Рисунок 5"/>
          <p:cNvPicPr>
            <a:picLocks noChangeAspect="1"/>
          </p:cNvPicPr>
          <p:nvPr/>
        </p:nvPicPr>
        <p:blipFill>
          <a:blip r:embed="rId3"/>
          <a:stretch>
            <a:fillRect/>
          </a:stretch>
        </p:blipFill>
        <p:spPr>
          <a:xfrm>
            <a:off x="6029975" y="411667"/>
            <a:ext cx="615749" cy="585267"/>
          </a:xfrm>
          <a:prstGeom prst="rect">
            <a:avLst/>
          </a:prstGeom>
        </p:spPr>
      </p:pic>
      <p:sp>
        <p:nvSpPr>
          <p:cNvPr id="9" name="5-конечная звезда 8"/>
          <p:cNvSpPr/>
          <p:nvPr/>
        </p:nvSpPr>
        <p:spPr>
          <a:xfrm>
            <a:off x="4929527" y="3291366"/>
            <a:ext cx="530673" cy="521085"/>
          </a:xfrm>
          <a:prstGeom prst="star5">
            <a:avLst>
              <a:gd name="adj" fmla="val 13429"/>
              <a:gd name="hf" fmla="val 105146"/>
              <a:gd name="vf" fmla="val 1105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6850882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69416" y="195943"/>
            <a:ext cx="6286499" cy="11870871"/>
          </a:xfrm>
          <a:prstGeom prst="rect">
            <a:avLst/>
          </a:prstGeom>
          <a:solidFill>
            <a:schemeClr val="accent1">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36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36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lvl="0" algn="ctr">
              <a:defRPr/>
            </a:pPr>
            <a:endParaRPr lang="ru-RU" sz="2400" b="1" dirty="0" smtClean="0">
              <a:solidFill>
                <a:prstClr val="black"/>
              </a:solidFill>
            </a:endParaRPr>
          </a:p>
          <a:p>
            <a:pPr lvl="0" algn="ctr">
              <a:defRPr/>
            </a:pPr>
            <a:endParaRPr lang="ru-RU" sz="2400" b="1" dirty="0" smtClean="0">
              <a:solidFill>
                <a:prstClr val="black"/>
              </a:solidFill>
            </a:endParaRPr>
          </a:p>
          <a:p>
            <a:pPr lvl="0" algn="ctr">
              <a:defRPr/>
            </a:pPr>
            <a:r>
              <a:rPr lang="ru-RU" sz="2400" b="1" dirty="0" smtClean="0">
                <a:solidFill>
                  <a:prstClr val="black"/>
                </a:solidFill>
              </a:rPr>
              <a:t>Бухгалтерия</a:t>
            </a:r>
            <a:endParaRPr kumimoji="0" lang="ru-RU"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3600" b="0" i="0" u="none" strike="noStrike" kern="1200" cap="none" spc="0" normalizeH="0" baseline="0" noProof="0" dirty="0" smtClean="0">
                <a:ln>
                  <a:noFill/>
                </a:ln>
                <a:solidFill>
                  <a:prstClr val="black"/>
                </a:solidFill>
                <a:effectLst/>
                <a:uLnTx/>
                <a:uFillTx/>
                <a:latin typeface="Calibri" panose="020F0502020204030204"/>
                <a:ea typeface="+mn-ea"/>
                <a:cs typeface="+mn-cs"/>
              </a:rPr>
              <a:t>         </a:t>
            </a:r>
            <a:r>
              <a:rPr kumimoji="0" lang="ru-RU" sz="2800" b="0" i="0" u="none" strike="noStrike" kern="1200" cap="none" spc="0" normalizeH="0" baseline="0" noProof="0" dirty="0" smtClean="0">
                <a:ln>
                  <a:noFill/>
                </a:ln>
                <a:solidFill>
                  <a:prstClr val="black"/>
                </a:solidFill>
                <a:effectLst/>
                <a:uLnTx/>
                <a:uFillTx/>
                <a:latin typeface="Calibri" panose="020F0502020204030204"/>
                <a:ea typeface="+mn-ea"/>
                <a:cs typeface="+mn-cs"/>
              </a:rPr>
              <a:t>Иванов Н.Г. </a:t>
            </a:r>
            <a:r>
              <a:rPr lang="ru-RU" sz="2800" dirty="0" smtClean="0">
                <a:solidFill>
                  <a:prstClr val="black"/>
                </a:solidFill>
                <a:latin typeface="Calibri" panose="020F0502020204030204"/>
              </a:rPr>
              <a:t>рук. отдела</a:t>
            </a:r>
            <a:endParaRPr kumimoji="0" lang="ru-RU" sz="28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2800" b="0" i="0" u="none" strike="noStrike" kern="1200" cap="none" spc="0" normalizeH="0" baseline="0" noProof="0" dirty="0" smtClean="0">
                <a:ln>
                  <a:noFill/>
                </a:ln>
                <a:solidFill>
                  <a:prstClr val="black"/>
                </a:solidFill>
                <a:effectLst/>
                <a:uLnTx/>
                <a:uFillTx/>
                <a:latin typeface="Calibri" panose="020F0502020204030204"/>
                <a:ea typeface="+mn-ea"/>
                <a:cs typeface="+mn-cs"/>
              </a:rPr>
              <a:t>           </a:t>
            </a:r>
            <a:r>
              <a:rPr kumimoji="0" lang="ru-RU" sz="2400" b="0" i="1" u="none" strike="noStrike" kern="1200" cap="none" spc="0" normalizeH="0" baseline="0" noProof="0" dirty="0" smtClean="0">
                <a:ln>
                  <a:noFill/>
                </a:ln>
                <a:solidFill>
                  <a:prstClr val="black"/>
                </a:solidFill>
                <a:effectLst/>
                <a:uLnTx/>
                <a:uFillTx/>
                <a:latin typeface="Calibri" panose="020F0502020204030204"/>
                <a:ea typeface="+mn-ea"/>
                <a:cs typeface="+mn-cs"/>
              </a:rPr>
              <a:t>сообщите пожалуйста….</a:t>
            </a:r>
            <a:endParaRPr kumimoji="0" lang="ru-RU" sz="28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ru-RU" sz="2800" b="0" i="0" u="none" strike="noStrike" kern="1200" cap="none" spc="0" normalizeH="0" baseline="0" noProof="0" dirty="0" smtClean="0">
                <a:ln>
                  <a:noFill/>
                </a:ln>
                <a:solidFill>
                  <a:prstClr val="black"/>
                </a:solidFill>
                <a:effectLst/>
                <a:uLnTx/>
                <a:uFillTx/>
                <a:latin typeface="Calibri" panose="020F0502020204030204"/>
                <a:ea typeface="+mn-ea"/>
                <a:cs typeface="+mn-cs"/>
              </a:rPr>
              <a:t>            </a:t>
            </a:r>
            <a:endParaRPr kumimoji="0" lang="ru-RU" sz="2400" b="0" i="1"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rPr>
              <a:t>17.06.2026</a:t>
            </a:r>
            <a:endParaRPr kumimoji="0" lang="ru-R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p:cNvSpPr txBox="1"/>
          <p:nvPr/>
        </p:nvSpPr>
        <p:spPr>
          <a:xfrm>
            <a:off x="2277833" y="732268"/>
            <a:ext cx="2212523"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ru-RU" sz="2000" b="1" dirty="0">
              <a:solidFill>
                <a:prstClr val="black"/>
              </a:solidFill>
              <a:latin typeface="Calibri" panose="020F0502020204030204"/>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rPr>
              <a:t>  14.03.2026</a:t>
            </a:r>
            <a:endParaRPr kumimoji="0" lang="ru-R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Стрелка влево 9"/>
          <p:cNvSpPr/>
          <p:nvPr/>
        </p:nvSpPr>
        <p:spPr>
          <a:xfrm>
            <a:off x="636816" y="1541451"/>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Блок-схема: узел 10"/>
          <p:cNvSpPr/>
          <p:nvPr/>
        </p:nvSpPr>
        <p:spPr>
          <a:xfrm>
            <a:off x="702129" y="2509157"/>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Блок-схема: узел 12"/>
          <p:cNvSpPr/>
          <p:nvPr/>
        </p:nvSpPr>
        <p:spPr>
          <a:xfrm>
            <a:off x="702133" y="7097004"/>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20" name="Таблица 19"/>
          <p:cNvGraphicFramePr>
            <a:graphicFrameLocks noGrp="1"/>
          </p:cNvGraphicFramePr>
          <p:nvPr>
            <p:extLst>
              <p:ext uri="{D42A27DB-BD31-4B8C-83A1-F6EECF244321}">
                <p14:modId xmlns:p14="http://schemas.microsoft.com/office/powerpoint/2010/main" val="3757324899"/>
              </p:ext>
            </p:extLst>
          </p:nvPr>
        </p:nvGraphicFramePr>
        <p:xfrm>
          <a:off x="3196314" y="946067"/>
          <a:ext cx="2457447" cy="577580"/>
        </p:xfrm>
        <a:graphic>
          <a:graphicData uri="http://schemas.openxmlformats.org/drawingml/2006/table">
            <a:tbl>
              <a:tblPr firstRow="1" bandRow="1">
                <a:tableStyleId>{5C22544A-7EE6-4342-B048-85BDC9FD1C3A}</a:tableStyleId>
              </a:tblPr>
              <a:tblGrid>
                <a:gridCol w="2457447">
                  <a:extLst>
                    <a:ext uri="{9D8B030D-6E8A-4147-A177-3AD203B41FA5}">
                      <a16:colId xmlns:a16="http://schemas.microsoft.com/office/drawing/2014/main" val="333183870"/>
                    </a:ext>
                  </a:extLst>
                </a:gridCol>
              </a:tblGrid>
              <a:tr h="577580">
                <a:tc>
                  <a:txBody>
                    <a:bodyPr/>
                    <a:lstStyle/>
                    <a:p>
                      <a:r>
                        <a:rPr lang="ru-RU" sz="2000" dirty="0" smtClean="0"/>
                        <a:t>поиск</a:t>
                      </a:r>
                      <a:endParaRPr lang="ru-RU" sz="2000" dirty="0"/>
                    </a:p>
                  </a:txBody>
                  <a:tcPr/>
                </a:tc>
                <a:extLst>
                  <a:ext uri="{0D108BD9-81ED-4DB2-BD59-A6C34878D82A}">
                    <a16:rowId xmlns:a16="http://schemas.microsoft.com/office/drawing/2014/main" val="4063895717"/>
                  </a:ext>
                </a:extLst>
              </a:tr>
            </a:tbl>
          </a:graphicData>
        </a:graphic>
      </p:graphicFrame>
      <p:graphicFrame>
        <p:nvGraphicFramePr>
          <p:cNvPr id="21" name="Таблица 20"/>
          <p:cNvGraphicFramePr>
            <a:graphicFrameLocks noGrp="1"/>
          </p:cNvGraphicFramePr>
          <p:nvPr>
            <p:extLst>
              <p:ext uri="{D42A27DB-BD31-4B8C-83A1-F6EECF244321}">
                <p14:modId xmlns:p14="http://schemas.microsoft.com/office/powerpoint/2010/main" val="4061164956"/>
              </p:ext>
            </p:extLst>
          </p:nvPr>
        </p:nvGraphicFramePr>
        <p:xfrm>
          <a:off x="636816" y="10613571"/>
          <a:ext cx="1763484" cy="832758"/>
        </p:xfrm>
        <a:graphic>
          <a:graphicData uri="http://schemas.openxmlformats.org/drawingml/2006/table">
            <a:tbl>
              <a:tblPr firstRow="1" bandRow="1">
                <a:tableStyleId>{5C22544A-7EE6-4342-B048-85BDC9FD1C3A}</a:tableStyleId>
              </a:tblPr>
              <a:tblGrid>
                <a:gridCol w="1763484">
                  <a:extLst>
                    <a:ext uri="{9D8B030D-6E8A-4147-A177-3AD203B41FA5}">
                      <a16:colId xmlns:a16="http://schemas.microsoft.com/office/drawing/2014/main" val="1227579358"/>
                    </a:ext>
                  </a:extLst>
                </a:gridCol>
              </a:tblGrid>
              <a:tr h="832758">
                <a:tc>
                  <a:txBody>
                    <a:bodyPr/>
                    <a:lstStyle/>
                    <a:p>
                      <a:pPr algn="ctr"/>
                      <a:r>
                        <a:rPr lang="ru-RU" sz="2400" dirty="0" smtClean="0">
                          <a:solidFill>
                            <a:schemeClr val="tx1"/>
                          </a:solidFill>
                        </a:rPr>
                        <a:t>мой</a:t>
                      </a:r>
                      <a:r>
                        <a:rPr lang="ru-RU" sz="2400" baseline="0" dirty="0" smtClean="0">
                          <a:solidFill>
                            <a:schemeClr val="tx1"/>
                          </a:solidFill>
                        </a:rPr>
                        <a:t> отдел</a:t>
                      </a:r>
                      <a:endParaRPr lang="ru-RU" sz="2400" dirty="0">
                        <a:solidFill>
                          <a:schemeClr val="tx1"/>
                        </a:solidFill>
                      </a:endParaRPr>
                    </a:p>
                  </a:txBody>
                  <a:tcPr/>
                </a:tc>
                <a:extLst>
                  <a:ext uri="{0D108BD9-81ED-4DB2-BD59-A6C34878D82A}">
                    <a16:rowId xmlns:a16="http://schemas.microsoft.com/office/drawing/2014/main" val="1082516208"/>
                  </a:ext>
                </a:extLst>
              </a:tr>
            </a:tbl>
          </a:graphicData>
        </a:graphic>
      </p:graphicFrame>
      <p:graphicFrame>
        <p:nvGraphicFramePr>
          <p:cNvPr id="22" name="Таблица 21"/>
          <p:cNvGraphicFramePr>
            <a:graphicFrameLocks noGrp="1"/>
          </p:cNvGraphicFramePr>
          <p:nvPr>
            <p:extLst>
              <p:ext uri="{D42A27DB-BD31-4B8C-83A1-F6EECF244321}">
                <p14:modId xmlns:p14="http://schemas.microsoft.com/office/powerpoint/2010/main" val="2435120523"/>
              </p:ext>
            </p:extLst>
          </p:nvPr>
        </p:nvGraphicFramePr>
        <p:xfrm>
          <a:off x="2400300" y="10613571"/>
          <a:ext cx="1975757" cy="832758"/>
        </p:xfrm>
        <a:graphic>
          <a:graphicData uri="http://schemas.openxmlformats.org/drawingml/2006/table">
            <a:tbl>
              <a:tblPr firstRow="1" bandRow="1">
                <a:tableStyleId>{5C22544A-7EE6-4342-B048-85BDC9FD1C3A}</a:tableStyleId>
              </a:tblPr>
              <a:tblGrid>
                <a:gridCol w="1975757">
                  <a:extLst>
                    <a:ext uri="{9D8B030D-6E8A-4147-A177-3AD203B41FA5}">
                      <a16:colId xmlns:a16="http://schemas.microsoft.com/office/drawing/2014/main" val="1227579358"/>
                    </a:ext>
                  </a:extLst>
                </a:gridCol>
              </a:tblGrid>
              <a:tr h="832758">
                <a:tc>
                  <a:txBody>
                    <a:bodyPr/>
                    <a:lstStyle/>
                    <a:p>
                      <a:pPr algn="ctr"/>
                      <a:r>
                        <a:rPr lang="ru-RU" sz="2400" dirty="0" smtClean="0">
                          <a:solidFill>
                            <a:schemeClr val="tx1"/>
                          </a:solidFill>
                        </a:rPr>
                        <a:t>коллеги</a:t>
                      </a:r>
                      <a:endParaRPr lang="ru-RU" sz="2400" dirty="0">
                        <a:solidFill>
                          <a:schemeClr val="tx1"/>
                        </a:solidFill>
                      </a:endParaRPr>
                    </a:p>
                  </a:txBody>
                  <a:tcPr>
                    <a:solidFill>
                      <a:srgbClr val="FFC000"/>
                    </a:solidFill>
                  </a:tcPr>
                </a:tc>
                <a:extLst>
                  <a:ext uri="{0D108BD9-81ED-4DB2-BD59-A6C34878D82A}">
                    <a16:rowId xmlns:a16="http://schemas.microsoft.com/office/drawing/2014/main" val="1082516208"/>
                  </a:ext>
                </a:extLst>
              </a:tr>
            </a:tbl>
          </a:graphicData>
        </a:graphic>
      </p:graphicFrame>
      <p:graphicFrame>
        <p:nvGraphicFramePr>
          <p:cNvPr id="23" name="Таблица 22"/>
          <p:cNvGraphicFramePr>
            <a:graphicFrameLocks noGrp="1"/>
          </p:cNvGraphicFramePr>
          <p:nvPr>
            <p:extLst>
              <p:ext uri="{D42A27DB-BD31-4B8C-83A1-F6EECF244321}">
                <p14:modId xmlns:p14="http://schemas.microsoft.com/office/powerpoint/2010/main" val="841551120"/>
              </p:ext>
            </p:extLst>
          </p:nvPr>
        </p:nvGraphicFramePr>
        <p:xfrm>
          <a:off x="4376057" y="10613571"/>
          <a:ext cx="1804305" cy="832758"/>
        </p:xfrm>
        <a:graphic>
          <a:graphicData uri="http://schemas.openxmlformats.org/drawingml/2006/table">
            <a:tbl>
              <a:tblPr firstRow="1" bandRow="1">
                <a:tableStyleId>{5C22544A-7EE6-4342-B048-85BDC9FD1C3A}</a:tableStyleId>
              </a:tblPr>
              <a:tblGrid>
                <a:gridCol w="1804305">
                  <a:extLst>
                    <a:ext uri="{9D8B030D-6E8A-4147-A177-3AD203B41FA5}">
                      <a16:colId xmlns:a16="http://schemas.microsoft.com/office/drawing/2014/main" val="1227579358"/>
                    </a:ext>
                  </a:extLst>
                </a:gridCol>
              </a:tblGrid>
              <a:tr h="832758">
                <a:tc>
                  <a:txBody>
                    <a:bodyPr/>
                    <a:lstStyle/>
                    <a:p>
                      <a:pPr algn="ctr"/>
                      <a:r>
                        <a:rPr lang="ru-RU" sz="2400" dirty="0" smtClean="0">
                          <a:solidFill>
                            <a:schemeClr val="tx1"/>
                          </a:solidFill>
                        </a:rPr>
                        <a:t>клиенты</a:t>
                      </a:r>
                      <a:endParaRPr lang="ru-RU" sz="2400" dirty="0">
                        <a:solidFill>
                          <a:schemeClr val="tx1"/>
                        </a:solidFill>
                      </a:endParaRPr>
                    </a:p>
                  </a:txBody>
                  <a:tcPr/>
                </a:tc>
                <a:extLst>
                  <a:ext uri="{0D108BD9-81ED-4DB2-BD59-A6C34878D82A}">
                    <a16:rowId xmlns:a16="http://schemas.microsoft.com/office/drawing/2014/main" val="1082516208"/>
                  </a:ext>
                </a:extLst>
              </a:tr>
            </a:tbl>
          </a:graphicData>
        </a:graphic>
      </p:graphicFrame>
      <p:sp>
        <p:nvSpPr>
          <p:cNvPr id="24" name="Управляющая кнопка: далее 23">
            <a:hlinkClick r:id="" action="ppaction://hlinkshowjump?jump=nextslide" highlightClick="1"/>
          </p:cNvPr>
          <p:cNvSpPr/>
          <p:nvPr/>
        </p:nvSpPr>
        <p:spPr>
          <a:xfrm>
            <a:off x="5751736" y="9314440"/>
            <a:ext cx="653142" cy="653145"/>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smtClean="0">
                <a:ln>
                  <a:noFill/>
                </a:ln>
                <a:solidFill>
                  <a:prstClr val="white"/>
                </a:solidFill>
                <a:effectLst/>
                <a:uLnTx/>
                <a:uFillTx/>
                <a:latin typeface="Calibri" panose="020F0502020204030204"/>
                <a:ea typeface="+mn-ea"/>
                <a:cs typeface="+mn-cs"/>
              </a:rPr>
              <a:t> </a:t>
            </a: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TextBox 24"/>
          <p:cNvSpPr txBox="1"/>
          <p:nvPr/>
        </p:nvSpPr>
        <p:spPr>
          <a:xfrm>
            <a:off x="5621107" y="3872533"/>
            <a:ext cx="914401"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rPr>
              <a:t>12:45</a:t>
            </a:r>
            <a:endParaRPr kumimoji="0" lang="ru-R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Box 25"/>
          <p:cNvSpPr txBox="1"/>
          <p:nvPr/>
        </p:nvSpPr>
        <p:spPr>
          <a:xfrm>
            <a:off x="5592533" y="2538973"/>
            <a:ext cx="914401"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rPr>
              <a:t>14:45</a:t>
            </a:r>
            <a:endParaRPr kumimoji="0" lang="ru-R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Box 26"/>
          <p:cNvSpPr txBox="1"/>
          <p:nvPr/>
        </p:nvSpPr>
        <p:spPr>
          <a:xfrm>
            <a:off x="5539447" y="6950366"/>
            <a:ext cx="914401"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rPr>
              <a:t>11:10</a:t>
            </a:r>
            <a:endParaRPr kumimoji="0" lang="ru-R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Box 27"/>
          <p:cNvSpPr txBox="1"/>
          <p:nvPr/>
        </p:nvSpPr>
        <p:spPr>
          <a:xfrm>
            <a:off x="5563954" y="5024836"/>
            <a:ext cx="914401"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rPr>
              <a:t>10:17</a:t>
            </a:r>
            <a:endParaRPr kumimoji="0" lang="ru-R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p:cNvSpPr txBox="1"/>
          <p:nvPr/>
        </p:nvSpPr>
        <p:spPr>
          <a:xfrm>
            <a:off x="1681843" y="4287690"/>
            <a:ext cx="3731076" cy="461665"/>
          </a:xfrm>
          <a:prstGeom prst="rect">
            <a:avLst/>
          </a:prstGeom>
          <a:noFill/>
        </p:spPr>
        <p:txBody>
          <a:bodyPr wrap="square" rtlCol="0">
            <a:spAutoFit/>
          </a:bodyPr>
          <a:lstStyle/>
          <a:p>
            <a:r>
              <a:rPr lang="ru-RU" sz="2400" b="1" dirty="0" smtClean="0"/>
              <a:t>Менеджмент, качество</a:t>
            </a:r>
            <a:endParaRPr lang="ru-RU" sz="2400" b="1" dirty="0"/>
          </a:p>
        </p:txBody>
      </p:sp>
      <p:sp>
        <p:nvSpPr>
          <p:cNvPr id="4" name="TextBox 3"/>
          <p:cNvSpPr txBox="1"/>
          <p:nvPr/>
        </p:nvSpPr>
        <p:spPr>
          <a:xfrm>
            <a:off x="1175660" y="4820060"/>
            <a:ext cx="4576076" cy="954107"/>
          </a:xfrm>
          <a:prstGeom prst="rect">
            <a:avLst/>
          </a:prstGeom>
          <a:noFill/>
        </p:spPr>
        <p:txBody>
          <a:bodyPr wrap="square" rtlCol="0">
            <a:spAutoFit/>
          </a:bodyPr>
          <a:lstStyle/>
          <a:p>
            <a:r>
              <a:rPr lang="ru-RU" sz="2800" dirty="0" smtClean="0">
                <a:solidFill>
                  <a:prstClr val="black"/>
                </a:solidFill>
              </a:rPr>
              <a:t>Котова М.В. </a:t>
            </a:r>
            <a:r>
              <a:rPr lang="ru-RU" sz="2800" dirty="0" err="1" smtClean="0">
                <a:solidFill>
                  <a:prstClr val="black"/>
                </a:solidFill>
              </a:rPr>
              <a:t>нач</a:t>
            </a:r>
            <a:r>
              <a:rPr lang="ru-RU" sz="2800" dirty="0" smtClean="0">
                <a:solidFill>
                  <a:prstClr val="black"/>
                </a:solidFill>
              </a:rPr>
              <a:t> </a:t>
            </a:r>
            <a:r>
              <a:rPr lang="ru-RU" sz="2800" dirty="0" err="1" smtClean="0">
                <a:solidFill>
                  <a:prstClr val="black"/>
                </a:solidFill>
              </a:rPr>
              <a:t>экон</a:t>
            </a:r>
            <a:r>
              <a:rPr lang="ru-RU" sz="2800" dirty="0" smtClean="0">
                <a:solidFill>
                  <a:prstClr val="black"/>
                </a:solidFill>
              </a:rPr>
              <a:t>. отдела </a:t>
            </a:r>
          </a:p>
          <a:p>
            <a:r>
              <a:rPr lang="ru-RU" sz="2800" dirty="0" smtClean="0">
                <a:solidFill>
                  <a:prstClr val="black"/>
                </a:solidFill>
              </a:rPr>
              <a:t> </a:t>
            </a:r>
            <a:r>
              <a:rPr lang="ru-RU" sz="2400" i="1" dirty="0">
                <a:solidFill>
                  <a:prstClr val="black"/>
                </a:solidFill>
              </a:rPr>
              <a:t>мы </a:t>
            </a:r>
            <a:r>
              <a:rPr lang="ru-RU" sz="2400" i="1" dirty="0" smtClean="0">
                <a:solidFill>
                  <a:prstClr val="black"/>
                </a:solidFill>
              </a:rPr>
              <a:t>просчитали…</a:t>
            </a:r>
            <a:endParaRPr lang="ru-RU" dirty="0"/>
          </a:p>
        </p:txBody>
      </p:sp>
      <p:pic>
        <p:nvPicPr>
          <p:cNvPr id="5" name="Рисунок 4"/>
          <p:cNvPicPr>
            <a:picLocks noChangeAspect="1"/>
          </p:cNvPicPr>
          <p:nvPr/>
        </p:nvPicPr>
        <p:blipFill>
          <a:blip r:embed="rId2"/>
          <a:stretch>
            <a:fillRect/>
          </a:stretch>
        </p:blipFill>
        <p:spPr>
          <a:xfrm>
            <a:off x="608253" y="4913510"/>
            <a:ext cx="469433" cy="469433"/>
          </a:xfrm>
          <a:prstGeom prst="rect">
            <a:avLst/>
          </a:prstGeom>
        </p:spPr>
      </p:pic>
      <p:sp>
        <p:nvSpPr>
          <p:cNvPr id="6" name="TextBox 5"/>
          <p:cNvSpPr txBox="1"/>
          <p:nvPr/>
        </p:nvSpPr>
        <p:spPr>
          <a:xfrm>
            <a:off x="1298119" y="6569244"/>
            <a:ext cx="4229092" cy="892552"/>
          </a:xfrm>
          <a:prstGeom prst="rect">
            <a:avLst/>
          </a:prstGeom>
          <a:noFill/>
        </p:spPr>
        <p:txBody>
          <a:bodyPr wrap="square" rtlCol="0">
            <a:spAutoFit/>
          </a:bodyPr>
          <a:lstStyle/>
          <a:p>
            <a:pPr lvl="0">
              <a:defRPr/>
            </a:pPr>
            <a:r>
              <a:rPr lang="ru-RU" sz="2800" dirty="0" smtClean="0">
                <a:solidFill>
                  <a:prstClr val="black"/>
                </a:solidFill>
              </a:rPr>
              <a:t>Дмитрий Ник..</a:t>
            </a:r>
            <a:r>
              <a:rPr lang="ru-RU" sz="2800" dirty="0" err="1" smtClean="0">
                <a:solidFill>
                  <a:prstClr val="black"/>
                </a:solidFill>
              </a:rPr>
              <a:t>вич</a:t>
            </a:r>
            <a:r>
              <a:rPr lang="ru-RU" sz="2800" dirty="0" smtClean="0">
                <a:solidFill>
                  <a:prstClr val="black"/>
                </a:solidFill>
              </a:rPr>
              <a:t> </a:t>
            </a:r>
            <a:r>
              <a:rPr lang="ru-RU" sz="2800" dirty="0">
                <a:solidFill>
                  <a:prstClr val="black"/>
                </a:solidFill>
              </a:rPr>
              <a:t>Волков </a:t>
            </a:r>
            <a:r>
              <a:rPr lang="ru-RU" sz="2400" i="1" dirty="0" smtClean="0">
                <a:solidFill>
                  <a:prstClr val="black"/>
                </a:solidFill>
              </a:rPr>
              <a:t>предварительно…</a:t>
            </a:r>
            <a:endParaRPr lang="ru-RU" dirty="0"/>
          </a:p>
        </p:txBody>
      </p:sp>
      <p:sp>
        <p:nvSpPr>
          <p:cNvPr id="8" name="TextBox 7"/>
          <p:cNvSpPr txBox="1"/>
          <p:nvPr/>
        </p:nvSpPr>
        <p:spPr>
          <a:xfrm>
            <a:off x="881743" y="5707117"/>
            <a:ext cx="4180113" cy="830997"/>
          </a:xfrm>
          <a:prstGeom prst="rect">
            <a:avLst/>
          </a:prstGeom>
          <a:noFill/>
        </p:spPr>
        <p:txBody>
          <a:bodyPr wrap="square" rtlCol="0">
            <a:spAutoFit/>
          </a:bodyPr>
          <a:lstStyle/>
          <a:p>
            <a:pPr lvl="0" algn="ctr">
              <a:defRPr/>
            </a:pPr>
            <a:r>
              <a:rPr lang="ru-RU" sz="2000" b="1" dirty="0" smtClean="0">
                <a:solidFill>
                  <a:prstClr val="black"/>
                </a:solidFill>
              </a:rPr>
              <a:t>18.06.2026 </a:t>
            </a:r>
          </a:p>
          <a:p>
            <a:pPr lvl="0" algn="ctr">
              <a:defRPr/>
            </a:pPr>
            <a:r>
              <a:rPr lang="ru-RU" sz="2800" b="1" dirty="0" smtClean="0">
                <a:solidFill>
                  <a:prstClr val="black"/>
                </a:solidFill>
              </a:rPr>
              <a:t>Директор</a:t>
            </a:r>
            <a:endParaRPr lang="ru-RU" sz="2800" b="1" dirty="0">
              <a:solidFill>
                <a:prstClr val="black"/>
              </a:solidFill>
            </a:endParaRPr>
          </a:p>
        </p:txBody>
      </p:sp>
      <p:sp>
        <p:nvSpPr>
          <p:cNvPr id="29" name="Управляющая кнопка: сведения 28">
            <a:hlinkClick r:id="" action="ppaction://noaction" highlightClick="1"/>
          </p:cNvPr>
          <p:cNvSpPr/>
          <p:nvPr/>
        </p:nvSpPr>
        <p:spPr>
          <a:xfrm>
            <a:off x="5882366" y="11457967"/>
            <a:ext cx="653142" cy="588213"/>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Прямоугольник 29"/>
          <p:cNvSpPr/>
          <p:nvPr/>
        </p:nvSpPr>
        <p:spPr>
          <a:xfrm>
            <a:off x="289833" y="247050"/>
            <a:ext cx="2873825" cy="7078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ru-RU" sz="2800" dirty="0">
                <a:solidFill>
                  <a:prstClr val="black"/>
                </a:solidFill>
              </a:rPr>
              <a:t>МЕССЕНДЖЕР</a:t>
            </a:r>
          </a:p>
        </p:txBody>
      </p:sp>
      <p:sp>
        <p:nvSpPr>
          <p:cNvPr id="31" name="Прямоугольник 30"/>
          <p:cNvSpPr/>
          <p:nvPr/>
        </p:nvSpPr>
        <p:spPr>
          <a:xfrm>
            <a:off x="3179987" y="209520"/>
            <a:ext cx="2473775" cy="707825"/>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ru-RU" sz="2800" dirty="0" smtClean="0">
                <a:solidFill>
                  <a:prstClr val="black"/>
                </a:solidFill>
              </a:rPr>
              <a:t>ПОЧТА</a:t>
            </a:r>
            <a:endParaRPr lang="ru-RU" sz="2800" dirty="0">
              <a:solidFill>
                <a:prstClr val="black"/>
              </a:solidFill>
            </a:endParaRPr>
          </a:p>
        </p:txBody>
      </p:sp>
      <p:sp>
        <p:nvSpPr>
          <p:cNvPr id="15" name="7-конечная звезда 14"/>
          <p:cNvSpPr/>
          <p:nvPr/>
        </p:nvSpPr>
        <p:spPr>
          <a:xfrm>
            <a:off x="5894606" y="348898"/>
            <a:ext cx="600074" cy="567407"/>
          </a:xfrm>
          <a:prstGeom prst="star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9427316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69416" y="506185"/>
            <a:ext cx="6286499" cy="11560629"/>
          </a:xfrm>
          <a:prstGeom prst="rect">
            <a:avLst/>
          </a:prstGeom>
          <a:solidFill>
            <a:schemeClr val="accent1">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36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20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ru-RU" sz="2000" dirty="0">
              <a:solidFill>
                <a:prstClr val="black"/>
              </a:solidFill>
              <a:latin typeface="Calibri" panose="020F0502020204030204"/>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2000" b="0" i="0" u="none" strike="noStrike" kern="1200" cap="none" spc="0" normalizeH="0" baseline="0" noProof="0" dirty="0" smtClean="0">
                <a:ln>
                  <a:noFill/>
                </a:ln>
                <a:solidFill>
                  <a:prstClr val="black"/>
                </a:solidFill>
                <a:effectLst/>
                <a:uLnTx/>
                <a:uFillTx/>
                <a:latin typeface="Calibri" panose="020F0502020204030204"/>
                <a:ea typeface="+mn-ea"/>
                <a:cs typeface="+mn-cs"/>
              </a:rPr>
              <a:t>10. 08 25</a:t>
            </a:r>
          </a:p>
          <a:p>
            <a:pPr marL="0" marR="0" lvl="0" indent="0" algn="ctr" defTabSz="457200" rtl="0" eaLnBrk="1" fontAlgn="auto" latinLnBrk="0" hangingPunct="1">
              <a:lnSpc>
                <a:spcPct val="100000"/>
              </a:lnSpc>
              <a:spcBef>
                <a:spcPts val="0"/>
              </a:spcBef>
              <a:spcAft>
                <a:spcPts val="0"/>
              </a:spcAft>
              <a:buClrTx/>
              <a:buSzTx/>
              <a:buFontTx/>
              <a:buNone/>
              <a:tabLst/>
              <a:defRPr/>
            </a:pPr>
            <a:r>
              <a:rPr lang="ru-RU" sz="2800" b="1" dirty="0" smtClean="0">
                <a:solidFill>
                  <a:prstClr val="black"/>
                </a:solidFill>
                <a:latin typeface="Calibri" panose="020F0502020204030204"/>
              </a:rPr>
              <a:t>Иван</a:t>
            </a:r>
            <a:r>
              <a:rPr kumimoji="0" lang="ru-RU" sz="2800" b="1" i="0" u="none" strike="noStrike" kern="1200" cap="none" spc="0" normalizeH="0" baseline="0" noProof="0" dirty="0" smtClean="0">
                <a:ln>
                  <a:noFill/>
                </a:ln>
                <a:solidFill>
                  <a:prstClr val="black"/>
                </a:solidFill>
                <a:effectLst/>
                <a:uLnTx/>
                <a:uFillTx/>
                <a:latin typeface="Calibri" panose="020F0502020204030204"/>
              </a:rPr>
              <a:t> Демидов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800" b="0" i="0" u="none" strike="noStrike" kern="1200" cap="none" spc="0" normalizeH="0" baseline="0" noProof="0" dirty="0" smtClean="0">
                <a:ln>
                  <a:noFill/>
                </a:ln>
                <a:solidFill>
                  <a:prstClr val="black"/>
                </a:solidFill>
                <a:effectLst/>
                <a:uLnTx/>
                <a:uFillTx/>
                <a:latin typeface="Calibri" panose="020F0502020204030204"/>
                <a:ea typeface="+mn-ea"/>
                <a:cs typeface="+mn-cs"/>
              </a:rPr>
              <a:t>            </a:t>
            </a:r>
            <a:r>
              <a:rPr kumimoji="0" lang="ru-RU" sz="2400" b="0" i="1" u="none" strike="noStrike" kern="1200" cap="none" spc="0" normalizeH="0" baseline="0" noProof="0" dirty="0" smtClean="0">
                <a:ln>
                  <a:noFill/>
                </a:ln>
                <a:solidFill>
                  <a:prstClr val="black"/>
                </a:solidFill>
                <a:effectLst/>
                <a:uLnTx/>
                <a:uFillTx/>
                <a:latin typeface="Calibri" panose="020F0502020204030204"/>
                <a:ea typeface="+mn-ea"/>
                <a:cs typeface="+mn-cs"/>
              </a:rPr>
              <a:t>сообщите пожалуйста….</a:t>
            </a:r>
            <a:endParaRPr kumimoji="0" lang="ru-RU" sz="28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800" b="0" i="0" u="none" strike="noStrike" kern="1200" cap="none" spc="0" normalizeH="0" baseline="0" noProof="0" dirty="0" smtClean="0">
                <a:ln>
                  <a:noFill/>
                </a:ln>
                <a:solidFill>
                  <a:prstClr val="black"/>
                </a:solidFill>
                <a:effectLst/>
                <a:uLnTx/>
                <a:uFillTx/>
                <a:latin typeface="Calibri" panose="020F0502020204030204"/>
                <a:ea typeface="+mn-ea"/>
                <a:cs typeface="+mn-cs"/>
              </a:rPr>
              <a:t>                            </a:t>
            </a:r>
            <a:r>
              <a:rPr kumimoji="0" lang="ru-RU" sz="2000" b="0" i="0" u="none" strike="noStrike" kern="1200" cap="none" spc="0" normalizeH="0" baseline="0" noProof="0" dirty="0" smtClean="0">
                <a:ln>
                  <a:noFill/>
                </a:ln>
                <a:solidFill>
                  <a:prstClr val="black"/>
                </a:solidFill>
                <a:effectLst/>
                <a:uLnTx/>
                <a:uFillTx/>
                <a:latin typeface="Calibri" panose="020F0502020204030204"/>
                <a:ea typeface="+mn-ea"/>
                <a:cs typeface="+mn-cs"/>
              </a:rPr>
              <a:t>12. 09.25</a:t>
            </a:r>
          </a:p>
          <a:p>
            <a:pPr marL="0" marR="0" lvl="0" indent="0" algn="l" defTabSz="457200" rtl="0" eaLnBrk="1" fontAlgn="auto" latinLnBrk="0" hangingPunct="1">
              <a:lnSpc>
                <a:spcPct val="100000"/>
              </a:lnSpc>
              <a:spcBef>
                <a:spcPts val="0"/>
              </a:spcBef>
              <a:spcAft>
                <a:spcPts val="0"/>
              </a:spcAft>
              <a:buClrTx/>
              <a:buSzTx/>
              <a:buFontTx/>
              <a:buNone/>
              <a:tabLst/>
              <a:defRPr/>
            </a:pPr>
            <a:r>
              <a:rPr lang="ru-RU" sz="2800" dirty="0" smtClean="0">
                <a:solidFill>
                  <a:prstClr val="black"/>
                </a:solidFill>
                <a:latin typeface="Calibri" panose="020F0502020204030204"/>
              </a:rPr>
              <a:t>             </a:t>
            </a:r>
            <a:r>
              <a:rPr kumimoji="0" lang="ru-RU" sz="2800" b="1" i="0" u="none" strike="noStrike" kern="1200" cap="none" spc="0" normalizeH="0" baseline="0" noProof="0" dirty="0" smtClean="0">
                <a:ln>
                  <a:noFill/>
                </a:ln>
                <a:solidFill>
                  <a:prstClr val="black"/>
                </a:solidFill>
                <a:effectLst/>
                <a:uLnTx/>
                <a:uFillTx/>
                <a:latin typeface="Calibri" panose="020F0502020204030204"/>
                <a:ea typeface="+mn-ea"/>
                <a:cs typeface="+mn-cs"/>
              </a:rPr>
              <a:t>Анонимный клиент</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800" b="0" i="0" u="none" strike="noStrike" kern="1200" cap="none" spc="0" normalizeH="0" baseline="0" noProof="0" dirty="0" smtClean="0">
                <a:ln>
                  <a:noFill/>
                </a:ln>
                <a:solidFill>
                  <a:prstClr val="black"/>
                </a:solidFill>
                <a:effectLst/>
                <a:uLnTx/>
                <a:uFillTx/>
                <a:latin typeface="Calibri" panose="020F0502020204030204"/>
                <a:ea typeface="+mn-ea"/>
                <a:cs typeface="+mn-cs"/>
              </a:rPr>
              <a:t>             </a:t>
            </a:r>
            <a:r>
              <a:rPr kumimoji="0" lang="ru-RU" sz="2400" b="0" i="1" u="none" strike="noStrike" kern="1200" cap="none" spc="0" normalizeH="0" baseline="0" noProof="0" dirty="0" smtClean="0">
                <a:ln>
                  <a:noFill/>
                </a:ln>
                <a:solidFill>
                  <a:prstClr val="black"/>
                </a:solidFill>
                <a:effectLst/>
                <a:uLnTx/>
                <a:uFillTx/>
                <a:latin typeface="Calibri" panose="020F0502020204030204"/>
                <a:ea typeface="+mn-ea"/>
                <a:cs typeface="+mn-cs"/>
              </a:rPr>
              <a:t>увидел вашу ошибку..</a:t>
            </a:r>
          </a:p>
          <a:p>
            <a:pPr lvl="0" algn="ctr">
              <a:defRPr/>
            </a:pPr>
            <a:endParaRPr lang="ru-RU" sz="2000" dirty="0">
              <a:solidFill>
                <a:prstClr val="black"/>
              </a:solidFill>
            </a:endParaRPr>
          </a:p>
          <a:p>
            <a:pPr lvl="0" algn="ctr">
              <a:defRPr/>
            </a:pPr>
            <a:r>
              <a:rPr lang="ru-RU" sz="2000" dirty="0" smtClean="0">
                <a:solidFill>
                  <a:prstClr val="black"/>
                </a:solidFill>
              </a:rPr>
              <a:t>14.09.25</a:t>
            </a:r>
            <a:endParaRPr lang="ru-RU" sz="2000" dirty="0">
              <a:solidFill>
                <a:prstClr val="black"/>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ru-RU"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Стрелка влево 9"/>
          <p:cNvSpPr/>
          <p:nvPr/>
        </p:nvSpPr>
        <p:spPr>
          <a:xfrm>
            <a:off x="640898" y="1545531"/>
            <a:ext cx="408214" cy="44350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Блок-схема: узел 10"/>
          <p:cNvSpPr/>
          <p:nvPr/>
        </p:nvSpPr>
        <p:spPr>
          <a:xfrm>
            <a:off x="428627" y="2182766"/>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Блок-схема: узел 11"/>
          <p:cNvSpPr/>
          <p:nvPr/>
        </p:nvSpPr>
        <p:spPr>
          <a:xfrm>
            <a:off x="430671" y="3165160"/>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Блок-схема: узел 12"/>
          <p:cNvSpPr/>
          <p:nvPr/>
        </p:nvSpPr>
        <p:spPr>
          <a:xfrm>
            <a:off x="428627" y="6652838"/>
            <a:ext cx="457200" cy="457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20" name="Таблица 19"/>
          <p:cNvGraphicFramePr>
            <a:graphicFrameLocks noGrp="1"/>
          </p:cNvGraphicFramePr>
          <p:nvPr>
            <p:extLst>
              <p:ext uri="{D42A27DB-BD31-4B8C-83A1-F6EECF244321}">
                <p14:modId xmlns:p14="http://schemas.microsoft.com/office/powerpoint/2010/main" val="46802143"/>
              </p:ext>
            </p:extLst>
          </p:nvPr>
        </p:nvGraphicFramePr>
        <p:xfrm>
          <a:off x="3530035" y="1208218"/>
          <a:ext cx="2102302" cy="577580"/>
        </p:xfrm>
        <a:graphic>
          <a:graphicData uri="http://schemas.openxmlformats.org/drawingml/2006/table">
            <a:tbl>
              <a:tblPr firstRow="1" bandRow="1">
                <a:tableStyleId>{5C22544A-7EE6-4342-B048-85BDC9FD1C3A}</a:tableStyleId>
              </a:tblPr>
              <a:tblGrid>
                <a:gridCol w="2102302">
                  <a:extLst>
                    <a:ext uri="{9D8B030D-6E8A-4147-A177-3AD203B41FA5}">
                      <a16:colId xmlns:a16="http://schemas.microsoft.com/office/drawing/2014/main" val="333183870"/>
                    </a:ext>
                  </a:extLst>
                </a:gridCol>
              </a:tblGrid>
              <a:tr h="577580">
                <a:tc>
                  <a:txBody>
                    <a:bodyPr/>
                    <a:lstStyle/>
                    <a:p>
                      <a:r>
                        <a:rPr lang="ru-RU" sz="2000" dirty="0" smtClean="0"/>
                        <a:t>поиск</a:t>
                      </a:r>
                      <a:endParaRPr lang="ru-RU" sz="2000" dirty="0"/>
                    </a:p>
                  </a:txBody>
                  <a:tcPr/>
                </a:tc>
                <a:extLst>
                  <a:ext uri="{0D108BD9-81ED-4DB2-BD59-A6C34878D82A}">
                    <a16:rowId xmlns:a16="http://schemas.microsoft.com/office/drawing/2014/main" val="4063895717"/>
                  </a:ext>
                </a:extLst>
              </a:tr>
            </a:tbl>
          </a:graphicData>
        </a:graphic>
      </p:graphicFrame>
      <p:graphicFrame>
        <p:nvGraphicFramePr>
          <p:cNvPr id="21" name="Таблица 20"/>
          <p:cNvGraphicFramePr>
            <a:graphicFrameLocks noGrp="1"/>
          </p:cNvGraphicFramePr>
          <p:nvPr>
            <p:extLst>
              <p:ext uri="{D42A27DB-BD31-4B8C-83A1-F6EECF244321}">
                <p14:modId xmlns:p14="http://schemas.microsoft.com/office/powerpoint/2010/main" val="3021023744"/>
              </p:ext>
            </p:extLst>
          </p:nvPr>
        </p:nvGraphicFramePr>
        <p:xfrm>
          <a:off x="457200" y="10156372"/>
          <a:ext cx="1934940" cy="800099"/>
        </p:xfrm>
        <a:graphic>
          <a:graphicData uri="http://schemas.openxmlformats.org/drawingml/2006/table">
            <a:tbl>
              <a:tblPr firstRow="1" bandRow="1">
                <a:tableStyleId>{5C22544A-7EE6-4342-B048-85BDC9FD1C3A}</a:tableStyleId>
              </a:tblPr>
              <a:tblGrid>
                <a:gridCol w="1934940">
                  <a:extLst>
                    <a:ext uri="{9D8B030D-6E8A-4147-A177-3AD203B41FA5}">
                      <a16:colId xmlns:a16="http://schemas.microsoft.com/office/drawing/2014/main" val="1227579358"/>
                    </a:ext>
                  </a:extLst>
                </a:gridCol>
              </a:tblGrid>
              <a:tr h="800099">
                <a:tc>
                  <a:txBody>
                    <a:bodyPr/>
                    <a:lstStyle/>
                    <a:p>
                      <a:pPr algn="ctr"/>
                      <a:r>
                        <a:rPr lang="ru-RU" sz="2400" dirty="0" smtClean="0">
                          <a:solidFill>
                            <a:schemeClr val="tx1"/>
                          </a:solidFill>
                        </a:rPr>
                        <a:t>мой</a:t>
                      </a:r>
                      <a:r>
                        <a:rPr lang="ru-RU" sz="2400" baseline="0" dirty="0" smtClean="0">
                          <a:solidFill>
                            <a:schemeClr val="tx1"/>
                          </a:solidFill>
                        </a:rPr>
                        <a:t> отдел</a:t>
                      </a:r>
                      <a:endParaRPr lang="ru-RU" sz="2400" dirty="0">
                        <a:solidFill>
                          <a:schemeClr val="tx1"/>
                        </a:solidFill>
                      </a:endParaRPr>
                    </a:p>
                  </a:txBody>
                  <a:tcPr/>
                </a:tc>
                <a:extLst>
                  <a:ext uri="{0D108BD9-81ED-4DB2-BD59-A6C34878D82A}">
                    <a16:rowId xmlns:a16="http://schemas.microsoft.com/office/drawing/2014/main" val="1082516208"/>
                  </a:ext>
                </a:extLst>
              </a:tr>
            </a:tbl>
          </a:graphicData>
        </a:graphic>
      </p:graphicFrame>
      <p:graphicFrame>
        <p:nvGraphicFramePr>
          <p:cNvPr id="22" name="Таблица 21"/>
          <p:cNvGraphicFramePr>
            <a:graphicFrameLocks noGrp="1"/>
          </p:cNvGraphicFramePr>
          <p:nvPr>
            <p:extLst>
              <p:ext uri="{D42A27DB-BD31-4B8C-83A1-F6EECF244321}">
                <p14:modId xmlns:p14="http://schemas.microsoft.com/office/powerpoint/2010/main" val="3560827483"/>
              </p:ext>
            </p:extLst>
          </p:nvPr>
        </p:nvGraphicFramePr>
        <p:xfrm>
          <a:off x="2392141" y="10140043"/>
          <a:ext cx="1747157" cy="816428"/>
        </p:xfrm>
        <a:graphic>
          <a:graphicData uri="http://schemas.openxmlformats.org/drawingml/2006/table">
            <a:tbl>
              <a:tblPr firstRow="1" bandRow="1">
                <a:tableStyleId>{5C22544A-7EE6-4342-B048-85BDC9FD1C3A}</a:tableStyleId>
              </a:tblPr>
              <a:tblGrid>
                <a:gridCol w="1747157">
                  <a:extLst>
                    <a:ext uri="{9D8B030D-6E8A-4147-A177-3AD203B41FA5}">
                      <a16:colId xmlns:a16="http://schemas.microsoft.com/office/drawing/2014/main" val="1227579358"/>
                    </a:ext>
                  </a:extLst>
                </a:gridCol>
              </a:tblGrid>
              <a:tr h="816428">
                <a:tc>
                  <a:txBody>
                    <a:bodyPr/>
                    <a:lstStyle/>
                    <a:p>
                      <a:pPr algn="ctr"/>
                      <a:r>
                        <a:rPr lang="ru-RU" sz="2400" dirty="0" smtClean="0">
                          <a:solidFill>
                            <a:schemeClr val="tx1"/>
                          </a:solidFill>
                        </a:rPr>
                        <a:t>коллеги</a:t>
                      </a:r>
                      <a:endParaRPr lang="ru-RU" sz="2400" dirty="0">
                        <a:solidFill>
                          <a:schemeClr val="tx1"/>
                        </a:solidFill>
                      </a:endParaRPr>
                    </a:p>
                  </a:txBody>
                  <a:tcPr/>
                </a:tc>
                <a:extLst>
                  <a:ext uri="{0D108BD9-81ED-4DB2-BD59-A6C34878D82A}">
                    <a16:rowId xmlns:a16="http://schemas.microsoft.com/office/drawing/2014/main" val="1082516208"/>
                  </a:ext>
                </a:extLst>
              </a:tr>
            </a:tbl>
          </a:graphicData>
        </a:graphic>
      </p:graphicFrame>
      <p:graphicFrame>
        <p:nvGraphicFramePr>
          <p:cNvPr id="23" name="Таблица 22"/>
          <p:cNvGraphicFramePr>
            <a:graphicFrameLocks noGrp="1"/>
          </p:cNvGraphicFramePr>
          <p:nvPr>
            <p:extLst>
              <p:ext uri="{D42A27DB-BD31-4B8C-83A1-F6EECF244321}">
                <p14:modId xmlns:p14="http://schemas.microsoft.com/office/powerpoint/2010/main" val="3836440212"/>
              </p:ext>
            </p:extLst>
          </p:nvPr>
        </p:nvGraphicFramePr>
        <p:xfrm>
          <a:off x="4139299" y="10156372"/>
          <a:ext cx="1885944" cy="800100"/>
        </p:xfrm>
        <a:graphic>
          <a:graphicData uri="http://schemas.openxmlformats.org/drawingml/2006/table">
            <a:tbl>
              <a:tblPr firstRow="1" bandRow="1">
                <a:tableStyleId>{5C22544A-7EE6-4342-B048-85BDC9FD1C3A}</a:tableStyleId>
              </a:tblPr>
              <a:tblGrid>
                <a:gridCol w="1885944">
                  <a:extLst>
                    <a:ext uri="{9D8B030D-6E8A-4147-A177-3AD203B41FA5}">
                      <a16:colId xmlns:a16="http://schemas.microsoft.com/office/drawing/2014/main" val="1227579358"/>
                    </a:ext>
                  </a:extLst>
                </a:gridCol>
              </a:tblGrid>
              <a:tr h="800100">
                <a:tc>
                  <a:txBody>
                    <a:bodyPr/>
                    <a:lstStyle/>
                    <a:p>
                      <a:pPr algn="ctr"/>
                      <a:r>
                        <a:rPr lang="ru-RU" sz="2400" dirty="0" smtClean="0">
                          <a:solidFill>
                            <a:schemeClr val="tx1"/>
                          </a:solidFill>
                        </a:rPr>
                        <a:t>клиенты</a:t>
                      </a:r>
                      <a:endParaRPr lang="ru-RU" sz="2400" dirty="0">
                        <a:solidFill>
                          <a:schemeClr val="tx1"/>
                        </a:solidFill>
                      </a:endParaRPr>
                    </a:p>
                  </a:txBody>
                  <a:tcPr>
                    <a:solidFill>
                      <a:srgbClr val="FFC000"/>
                    </a:solidFill>
                  </a:tcPr>
                </a:tc>
                <a:extLst>
                  <a:ext uri="{0D108BD9-81ED-4DB2-BD59-A6C34878D82A}">
                    <a16:rowId xmlns:a16="http://schemas.microsoft.com/office/drawing/2014/main" val="1082516208"/>
                  </a:ext>
                </a:extLst>
              </a:tr>
            </a:tbl>
          </a:graphicData>
        </a:graphic>
      </p:graphicFrame>
      <p:sp>
        <p:nvSpPr>
          <p:cNvPr id="25" name="TextBox 24"/>
          <p:cNvSpPr txBox="1"/>
          <p:nvPr/>
        </p:nvSpPr>
        <p:spPr>
          <a:xfrm>
            <a:off x="5563955" y="3408852"/>
            <a:ext cx="914401"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rPr>
              <a:t>12:45</a:t>
            </a:r>
            <a:endParaRPr kumimoji="0" lang="ru-R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Box 25"/>
          <p:cNvSpPr txBox="1"/>
          <p:nvPr/>
        </p:nvSpPr>
        <p:spPr>
          <a:xfrm>
            <a:off x="5592533" y="2538973"/>
            <a:ext cx="914401"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rPr>
              <a:t>14:45</a:t>
            </a:r>
            <a:endParaRPr kumimoji="0" lang="ru-R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Box 26"/>
          <p:cNvSpPr txBox="1"/>
          <p:nvPr/>
        </p:nvSpPr>
        <p:spPr>
          <a:xfrm>
            <a:off x="5539447" y="6950366"/>
            <a:ext cx="914401"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rPr>
              <a:t>11:10</a:t>
            </a:r>
            <a:endParaRPr kumimoji="0" lang="ru-R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Box 27"/>
          <p:cNvSpPr txBox="1"/>
          <p:nvPr/>
        </p:nvSpPr>
        <p:spPr>
          <a:xfrm>
            <a:off x="5563954" y="5024836"/>
            <a:ext cx="914401"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rPr>
              <a:t>10:17</a:t>
            </a:r>
            <a:endParaRPr kumimoji="0" lang="ru-R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p:cNvSpPr txBox="1"/>
          <p:nvPr/>
        </p:nvSpPr>
        <p:spPr>
          <a:xfrm>
            <a:off x="1298119" y="4820060"/>
            <a:ext cx="4322988"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800" b="1" i="0" u="none" strike="noStrike" kern="1200" cap="none" spc="0" normalizeH="0" baseline="0" noProof="0" dirty="0" smtClean="0">
                <a:ln>
                  <a:noFill/>
                </a:ln>
                <a:solidFill>
                  <a:prstClr val="black"/>
                </a:solidFill>
                <a:effectLst/>
                <a:uLnTx/>
                <a:uFillTx/>
                <a:latin typeface="Calibri" panose="020F0502020204030204"/>
                <a:ea typeface="+mn-ea"/>
                <a:cs typeface="+mn-cs"/>
              </a:rPr>
              <a:t>Дарья Семина,</a:t>
            </a:r>
            <a:r>
              <a:rPr kumimoji="0" lang="ru-RU" sz="2800" b="1" i="0" u="none" strike="noStrike" kern="1200" cap="none" spc="0" normalizeH="0" noProof="0" dirty="0" smtClean="0">
                <a:ln>
                  <a:noFill/>
                </a:ln>
                <a:solidFill>
                  <a:prstClr val="black"/>
                </a:solidFill>
                <a:effectLst/>
                <a:uLnTx/>
                <a:uFillTx/>
                <a:latin typeface="Calibri" panose="020F0502020204030204"/>
                <a:ea typeface="+mn-ea"/>
                <a:cs typeface="+mn-cs"/>
              </a:rPr>
              <a:t> АО «Импульс»</a:t>
            </a:r>
            <a:r>
              <a:rPr kumimoji="0" lang="ru-RU" sz="2800" b="1" i="0" u="none" strike="noStrike" kern="1200" cap="none" spc="0" normalizeH="0" baseline="0" noProof="0" dirty="0" smtClean="0">
                <a:ln>
                  <a:noFill/>
                </a:ln>
                <a:solidFill>
                  <a:prstClr val="black"/>
                </a:solidFill>
                <a:effectLst/>
                <a:uLnTx/>
                <a:uFillTx/>
                <a:latin typeface="Calibri" panose="020F050202020403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400" b="0" i="1" u="none" strike="noStrike" kern="1200" cap="none" spc="0" normalizeH="0" baseline="0" noProof="0" dirty="0" smtClean="0">
                <a:ln>
                  <a:noFill/>
                </a:ln>
                <a:solidFill>
                  <a:prstClr val="black"/>
                </a:solidFill>
                <a:effectLst/>
                <a:uLnTx/>
                <a:uFillTx/>
                <a:latin typeface="Calibri" panose="020F0502020204030204"/>
                <a:ea typeface="+mn-ea"/>
                <a:cs typeface="+mn-cs"/>
              </a:rPr>
              <a:t>мы не</a:t>
            </a:r>
            <a:r>
              <a:rPr kumimoji="0" lang="ru-RU" sz="2400" b="0" i="1" u="none" strike="noStrike" kern="1200" cap="none" spc="0" normalizeH="0" noProof="0" dirty="0" smtClean="0">
                <a:ln>
                  <a:noFill/>
                </a:ln>
                <a:solidFill>
                  <a:prstClr val="black"/>
                </a:solidFill>
                <a:effectLst/>
                <a:uLnTx/>
                <a:uFillTx/>
                <a:latin typeface="Calibri" panose="020F0502020204030204"/>
                <a:ea typeface="+mn-ea"/>
                <a:cs typeface="+mn-cs"/>
              </a:rPr>
              <a:t> получили</a:t>
            </a:r>
            <a:r>
              <a:rPr kumimoji="0" lang="ru-RU" sz="2400" b="0" i="1" u="none" strike="noStrike" kern="1200" cap="none" spc="0" normalizeH="0" baseline="0" noProof="0" dirty="0" smtClean="0">
                <a:ln>
                  <a:noFill/>
                </a:ln>
                <a:solidFill>
                  <a:prstClr val="black"/>
                </a:solidFill>
                <a:effectLst/>
                <a:uLnTx/>
                <a:uFillTx/>
                <a:latin typeface="Calibri" panose="020F0502020204030204"/>
                <a:ea typeface="+mn-ea"/>
                <a:cs typeface="+mn-cs"/>
              </a:rPr>
              <a:t>…</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Рисунок 4"/>
          <p:cNvPicPr>
            <a:picLocks noChangeAspect="1"/>
          </p:cNvPicPr>
          <p:nvPr/>
        </p:nvPicPr>
        <p:blipFill>
          <a:blip r:embed="rId2"/>
          <a:stretch>
            <a:fillRect/>
          </a:stretch>
        </p:blipFill>
        <p:spPr>
          <a:xfrm>
            <a:off x="406183" y="5035367"/>
            <a:ext cx="469433" cy="469433"/>
          </a:xfrm>
          <a:prstGeom prst="rect">
            <a:avLst/>
          </a:prstGeom>
        </p:spPr>
      </p:pic>
      <p:sp>
        <p:nvSpPr>
          <p:cNvPr id="6" name="TextBox 5"/>
          <p:cNvSpPr txBox="1"/>
          <p:nvPr/>
        </p:nvSpPr>
        <p:spPr>
          <a:xfrm>
            <a:off x="1298119" y="6569244"/>
            <a:ext cx="4229092" cy="95410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sz="2800" b="1" dirty="0" smtClean="0">
                <a:solidFill>
                  <a:prstClr val="black"/>
                </a:solidFill>
                <a:latin typeface="Calibri" panose="020F0502020204030204"/>
              </a:rPr>
              <a:t>ИП Андрей</a:t>
            </a:r>
            <a:r>
              <a:rPr kumimoji="0" lang="ru-RU" sz="2800" b="1" i="0" u="none" strike="noStrike" kern="1200" cap="none" spc="0" normalizeH="0" baseline="0" noProof="0" dirty="0" smtClean="0">
                <a:ln>
                  <a:noFill/>
                </a:ln>
                <a:solidFill>
                  <a:prstClr val="black"/>
                </a:solidFill>
                <a:effectLst/>
                <a:uLnTx/>
                <a:uFillTx/>
                <a:latin typeface="Calibri" panose="020F0502020204030204"/>
              </a:rPr>
              <a:t> </a:t>
            </a:r>
            <a:r>
              <a:rPr lang="ru-RU" sz="2800" b="1" dirty="0" smtClean="0">
                <a:solidFill>
                  <a:prstClr val="black"/>
                </a:solidFill>
                <a:latin typeface="Calibri" panose="020F0502020204030204"/>
              </a:rPr>
              <a:t>Олегов</a:t>
            </a:r>
            <a:r>
              <a:rPr kumimoji="0" lang="ru-RU" sz="2800" b="1" i="0" u="none" strike="noStrike" kern="1200" cap="none" spc="0" normalizeH="0" baseline="0" noProof="0" dirty="0" err="1" smtClean="0">
                <a:ln>
                  <a:noFill/>
                </a:ln>
                <a:solidFill>
                  <a:prstClr val="black"/>
                </a:solidFill>
                <a:effectLst/>
                <a:uLnTx/>
                <a:uFillTx/>
                <a:latin typeface="Calibri" panose="020F0502020204030204"/>
              </a:rPr>
              <a:t>ич</a:t>
            </a:r>
            <a:r>
              <a:rPr kumimoji="0" lang="ru-RU" sz="2800" b="1" i="0" u="none" strike="noStrike" kern="1200" cap="none" spc="0" normalizeH="0" baseline="0" noProof="0" dirty="0" smtClean="0">
                <a:ln>
                  <a:noFill/>
                </a:ln>
                <a:solidFill>
                  <a:prstClr val="black"/>
                </a:solidFill>
                <a:effectLst/>
                <a:uLnTx/>
                <a:uFillTx/>
                <a:latin typeface="Calibri" panose="020F0502020204030204"/>
              </a:rPr>
              <a:t> Басов </a:t>
            </a:r>
            <a:r>
              <a:rPr kumimoji="0" lang="ru-RU" sz="2400" b="0" i="1" u="none" strike="noStrike" kern="1200" cap="none" spc="0" normalizeH="0" baseline="0" noProof="0" dirty="0" smtClean="0">
                <a:ln>
                  <a:noFill/>
                </a:ln>
                <a:solidFill>
                  <a:prstClr val="black"/>
                </a:solidFill>
                <a:effectLst/>
                <a:uLnTx/>
                <a:uFillTx/>
                <a:latin typeface="Calibri" panose="020F0502020204030204"/>
                <a:ea typeface="+mn-ea"/>
                <a:cs typeface="+mn-cs"/>
              </a:rPr>
              <a:t>предварительно…</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Управляющая кнопка: сведения 23">
            <a:hlinkClick r:id="" action="ppaction://noaction" highlightClick="1"/>
          </p:cNvPr>
          <p:cNvSpPr/>
          <p:nvPr/>
        </p:nvSpPr>
        <p:spPr>
          <a:xfrm>
            <a:off x="5766020" y="11495314"/>
            <a:ext cx="685801" cy="530727"/>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Прямоугольник 28"/>
          <p:cNvSpPr/>
          <p:nvPr/>
        </p:nvSpPr>
        <p:spPr>
          <a:xfrm>
            <a:off x="269416" y="524628"/>
            <a:ext cx="2873825" cy="7078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ru-RU" sz="2800" dirty="0">
                <a:solidFill>
                  <a:prstClr val="black"/>
                </a:solidFill>
              </a:rPr>
              <a:t>МЕССЕНДЖЕР</a:t>
            </a:r>
          </a:p>
        </p:txBody>
      </p:sp>
      <p:sp>
        <p:nvSpPr>
          <p:cNvPr id="30" name="Прямоугольник 29"/>
          <p:cNvSpPr/>
          <p:nvPr/>
        </p:nvSpPr>
        <p:spPr>
          <a:xfrm>
            <a:off x="3147332" y="522802"/>
            <a:ext cx="2473775" cy="707825"/>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ru-RU" sz="2800" dirty="0" smtClean="0">
                <a:solidFill>
                  <a:prstClr val="black"/>
                </a:solidFill>
              </a:rPr>
              <a:t>ПОЧТА</a:t>
            </a:r>
            <a:endParaRPr lang="ru-RU" sz="2800" dirty="0">
              <a:solidFill>
                <a:prstClr val="black"/>
              </a:solidFill>
            </a:endParaRPr>
          </a:p>
        </p:txBody>
      </p:sp>
      <p:sp>
        <p:nvSpPr>
          <p:cNvPr id="3" name="6-конечная звезда 2"/>
          <p:cNvSpPr/>
          <p:nvPr/>
        </p:nvSpPr>
        <p:spPr>
          <a:xfrm>
            <a:off x="5766021" y="648755"/>
            <a:ext cx="767435" cy="746955"/>
          </a:xfrm>
          <a:prstGeom prst="star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0603873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69416" y="506185"/>
            <a:ext cx="6286499" cy="11560629"/>
          </a:xfrm>
          <a:prstGeom prst="rect">
            <a:avLst/>
          </a:prstGeom>
          <a:solidFill>
            <a:schemeClr val="accent1">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36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20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ru-RU" sz="2000" dirty="0">
              <a:solidFill>
                <a:prstClr val="black"/>
              </a:solidFill>
              <a:latin typeface="Calibri" panose="020F0502020204030204"/>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2000" b="0" i="0" u="none" strike="noStrike" kern="1200" cap="none" spc="0" normalizeH="0" baseline="0" noProof="0" dirty="0" smtClean="0">
                <a:ln>
                  <a:noFill/>
                </a:ln>
                <a:solidFill>
                  <a:prstClr val="black"/>
                </a:solidFill>
                <a:effectLst/>
                <a:uLnTx/>
                <a:uFillTx/>
                <a:latin typeface="Calibri" panose="020F0502020204030204"/>
                <a:ea typeface="+mn-ea"/>
                <a:cs typeface="+mn-cs"/>
              </a:rPr>
              <a:t>10. 08 26</a:t>
            </a:r>
          </a:p>
          <a:p>
            <a:pPr lvl="0">
              <a:defRPr/>
            </a:pPr>
            <a:r>
              <a:rPr lang="ru-RU" sz="2800" dirty="0" smtClean="0">
                <a:solidFill>
                  <a:prstClr val="black"/>
                </a:solidFill>
                <a:latin typeface="Calibri" panose="020F0502020204030204"/>
              </a:rPr>
              <a:t>Входящие </a:t>
            </a:r>
          </a:p>
          <a:p>
            <a:pPr lvl="0">
              <a:defRPr/>
            </a:pPr>
            <a:r>
              <a:rPr lang="ru-RU" sz="2800" b="1" dirty="0" smtClean="0">
                <a:solidFill>
                  <a:prstClr val="black"/>
                </a:solidFill>
                <a:latin typeface="Calibri" panose="020F0502020204030204"/>
              </a:rPr>
              <a:t>Иван</a:t>
            </a:r>
            <a:r>
              <a:rPr kumimoji="0" lang="ru-RU" sz="2800" b="1" i="0" u="none" strike="noStrike" kern="1200" cap="none" spc="0" normalizeH="0" baseline="0" noProof="0" dirty="0" smtClean="0">
                <a:ln>
                  <a:noFill/>
                </a:ln>
                <a:solidFill>
                  <a:prstClr val="black"/>
                </a:solidFill>
                <a:effectLst/>
                <a:uLnTx/>
                <a:uFillTx/>
                <a:latin typeface="Calibri" panose="020F0502020204030204"/>
              </a:rPr>
              <a:t> Демидов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400" b="0" i="1" u="none" strike="noStrike" kern="1200" cap="none" spc="0" normalizeH="0" baseline="0" noProof="0" dirty="0" smtClean="0">
                <a:ln>
                  <a:noFill/>
                </a:ln>
                <a:solidFill>
                  <a:prstClr val="black"/>
                </a:solidFill>
                <a:effectLst/>
                <a:uLnTx/>
                <a:uFillTx/>
                <a:latin typeface="Calibri" panose="020F0502020204030204"/>
                <a:ea typeface="+mn-ea"/>
                <a:cs typeface="+mn-cs"/>
              </a:rPr>
              <a:t>сообщите пожалуйста….</a:t>
            </a:r>
            <a:endParaRPr kumimoji="0" lang="ru-RU" sz="28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800" b="0" i="0" u="none" strike="noStrike" kern="1200" cap="none" spc="0" normalizeH="0" baseline="0" noProof="0" dirty="0" smtClean="0">
                <a:ln>
                  <a:noFill/>
                </a:ln>
                <a:solidFill>
                  <a:prstClr val="black"/>
                </a:solidFill>
                <a:effectLst/>
                <a:uLnTx/>
                <a:uFillTx/>
                <a:latin typeface="Calibri" panose="020F0502020204030204"/>
                <a:ea typeface="+mn-ea"/>
                <a:cs typeface="+mn-cs"/>
              </a:rPr>
              <a:t>                               </a:t>
            </a:r>
            <a:endParaRPr kumimoji="0" lang="ru-RU" sz="20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lvl="0" algn="ctr">
              <a:defRPr/>
            </a:pPr>
            <a:r>
              <a:rPr lang="ru-RU" sz="2000" dirty="0" smtClean="0">
                <a:solidFill>
                  <a:prstClr val="black"/>
                </a:solidFill>
              </a:rPr>
              <a:t>14.09.25</a:t>
            </a:r>
            <a:endParaRPr lang="ru-RU" sz="2000" dirty="0">
              <a:solidFill>
                <a:prstClr val="black"/>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800" b="0" i="0" u="none" strike="noStrike" kern="1200" cap="none" spc="0" normalizeH="0" baseline="0" noProof="0" dirty="0" smtClean="0">
                <a:ln>
                  <a:noFill/>
                </a:ln>
                <a:solidFill>
                  <a:prstClr val="black"/>
                </a:solidFill>
                <a:effectLst/>
                <a:uLnTx/>
                <a:uFillTx/>
                <a:latin typeface="Calibri" panose="020F0502020204030204"/>
                <a:ea typeface="+mn-ea"/>
                <a:cs typeface="+mn-cs"/>
              </a:rPr>
              <a:t>Отправленные</a:t>
            </a:r>
            <a:endParaRPr kumimoji="0" lang="ru-RU"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p:cNvSpPr txBox="1"/>
          <p:nvPr/>
        </p:nvSpPr>
        <p:spPr>
          <a:xfrm>
            <a:off x="428627" y="732268"/>
            <a:ext cx="2628900" cy="101566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rPr>
              <a:t>                       </a:t>
            </a:r>
            <a:endParaRPr kumimoji="0" lang="ru-R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Стрелка влево 9"/>
          <p:cNvSpPr/>
          <p:nvPr/>
        </p:nvSpPr>
        <p:spPr>
          <a:xfrm>
            <a:off x="236760" y="1314010"/>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20" name="Таблица 19"/>
          <p:cNvGraphicFramePr>
            <a:graphicFrameLocks noGrp="1"/>
          </p:cNvGraphicFramePr>
          <p:nvPr>
            <p:extLst>
              <p:ext uri="{D42A27DB-BD31-4B8C-83A1-F6EECF244321}">
                <p14:modId xmlns:p14="http://schemas.microsoft.com/office/powerpoint/2010/main" val="2444489842"/>
              </p:ext>
            </p:extLst>
          </p:nvPr>
        </p:nvGraphicFramePr>
        <p:xfrm>
          <a:off x="3924984" y="1225972"/>
          <a:ext cx="1755318" cy="577580"/>
        </p:xfrm>
        <a:graphic>
          <a:graphicData uri="http://schemas.openxmlformats.org/drawingml/2006/table">
            <a:tbl>
              <a:tblPr firstRow="1" bandRow="1">
                <a:tableStyleId>{5C22544A-7EE6-4342-B048-85BDC9FD1C3A}</a:tableStyleId>
              </a:tblPr>
              <a:tblGrid>
                <a:gridCol w="1755318">
                  <a:extLst>
                    <a:ext uri="{9D8B030D-6E8A-4147-A177-3AD203B41FA5}">
                      <a16:colId xmlns:a16="http://schemas.microsoft.com/office/drawing/2014/main" val="333183870"/>
                    </a:ext>
                  </a:extLst>
                </a:gridCol>
              </a:tblGrid>
              <a:tr h="577580">
                <a:tc>
                  <a:txBody>
                    <a:bodyPr/>
                    <a:lstStyle/>
                    <a:p>
                      <a:r>
                        <a:rPr lang="ru-RU" sz="2000" dirty="0" smtClean="0"/>
                        <a:t>поиск</a:t>
                      </a:r>
                      <a:endParaRPr lang="ru-RU" sz="2000" dirty="0"/>
                    </a:p>
                  </a:txBody>
                  <a:tcPr/>
                </a:tc>
                <a:extLst>
                  <a:ext uri="{0D108BD9-81ED-4DB2-BD59-A6C34878D82A}">
                    <a16:rowId xmlns:a16="http://schemas.microsoft.com/office/drawing/2014/main" val="4063895717"/>
                  </a:ext>
                </a:extLst>
              </a:tr>
            </a:tbl>
          </a:graphicData>
        </a:graphic>
      </p:graphicFrame>
      <p:sp>
        <p:nvSpPr>
          <p:cNvPr id="26" name="TextBox 25"/>
          <p:cNvSpPr txBox="1"/>
          <p:nvPr/>
        </p:nvSpPr>
        <p:spPr>
          <a:xfrm>
            <a:off x="4835290" y="1955236"/>
            <a:ext cx="1314448"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rPr>
              <a:t>получено14:45</a:t>
            </a:r>
            <a:endParaRPr kumimoji="0" lang="ru-R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Box 26"/>
          <p:cNvSpPr txBox="1"/>
          <p:nvPr/>
        </p:nvSpPr>
        <p:spPr>
          <a:xfrm>
            <a:off x="5025125" y="7344428"/>
            <a:ext cx="1369056"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rPr>
              <a:t>сохранено11:10</a:t>
            </a:r>
            <a:endParaRPr kumimoji="0" lang="ru-R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Box 27"/>
          <p:cNvSpPr txBox="1"/>
          <p:nvPr/>
        </p:nvSpPr>
        <p:spPr>
          <a:xfrm>
            <a:off x="4859294" y="4342502"/>
            <a:ext cx="1612442"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smtClean="0">
                <a:ln>
                  <a:noFill/>
                </a:ln>
                <a:solidFill>
                  <a:prstClr val="black"/>
                </a:solidFill>
                <a:effectLst/>
                <a:uLnTx/>
                <a:uFillTx/>
                <a:latin typeface="Calibri" panose="020F0502020204030204"/>
                <a:ea typeface="+mn-ea"/>
                <a:cs typeface="+mn-cs"/>
              </a:rPr>
              <a:t>Отправлено     10:17</a:t>
            </a:r>
            <a:endParaRPr kumimoji="0" lang="ru-R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p:cNvSpPr txBox="1"/>
          <p:nvPr/>
        </p:nvSpPr>
        <p:spPr>
          <a:xfrm>
            <a:off x="269417" y="4388669"/>
            <a:ext cx="4596497"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800" b="1" i="0" u="none" strike="noStrike" kern="1200" cap="none" spc="0" normalizeH="0" baseline="0" noProof="0" dirty="0" smtClean="0">
                <a:ln>
                  <a:noFill/>
                </a:ln>
                <a:solidFill>
                  <a:prstClr val="black"/>
                </a:solidFill>
                <a:effectLst/>
                <a:uLnTx/>
                <a:uFillTx/>
                <a:latin typeface="Calibri" panose="020F0502020204030204"/>
                <a:ea typeface="+mn-ea"/>
                <a:cs typeface="+mn-cs"/>
              </a:rPr>
              <a:t>Дарья Семина,</a:t>
            </a:r>
            <a:r>
              <a:rPr kumimoji="0" lang="ru-RU" sz="2800" b="1" i="0" u="none" strike="noStrike" kern="1200" cap="none" spc="0" normalizeH="0" noProof="0" dirty="0" smtClean="0">
                <a:ln>
                  <a:noFill/>
                </a:ln>
                <a:solidFill>
                  <a:prstClr val="black"/>
                </a:solidFill>
                <a:effectLst/>
                <a:uLnTx/>
                <a:uFillTx/>
                <a:latin typeface="Calibri" panose="020F0502020204030204"/>
                <a:ea typeface="+mn-ea"/>
                <a:cs typeface="+mn-cs"/>
              </a:rPr>
              <a:t> АО «Импульс»</a:t>
            </a:r>
            <a:r>
              <a:rPr kumimoji="0" lang="ru-RU" sz="2800" b="1" i="0" u="none" strike="noStrike" kern="1200" cap="none" spc="0" normalizeH="0" baseline="0" noProof="0" dirty="0" smtClean="0">
                <a:ln>
                  <a:noFill/>
                </a:ln>
                <a:solidFill>
                  <a:prstClr val="black"/>
                </a:solidFill>
                <a:effectLst/>
                <a:uLnTx/>
                <a:uFillTx/>
                <a:latin typeface="Calibri" panose="020F050202020403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400" b="0" i="1" u="none" strike="noStrike" kern="1200" cap="none" spc="0" normalizeH="0" baseline="0" noProof="0" dirty="0" smtClean="0">
                <a:ln>
                  <a:noFill/>
                </a:ln>
                <a:solidFill>
                  <a:prstClr val="black"/>
                </a:solidFill>
                <a:effectLst/>
                <a:uLnTx/>
                <a:uFillTx/>
                <a:latin typeface="Calibri" panose="020F0502020204030204"/>
                <a:ea typeface="+mn-ea"/>
                <a:cs typeface="+mn-cs"/>
              </a:rPr>
              <a:t>мы не</a:t>
            </a:r>
            <a:r>
              <a:rPr kumimoji="0" lang="ru-RU" sz="2400" b="0" i="1" u="none" strike="noStrike" kern="1200" cap="none" spc="0" normalizeH="0" noProof="0" dirty="0" smtClean="0">
                <a:ln>
                  <a:noFill/>
                </a:ln>
                <a:solidFill>
                  <a:prstClr val="black"/>
                </a:solidFill>
                <a:effectLst/>
                <a:uLnTx/>
                <a:uFillTx/>
                <a:latin typeface="Calibri" panose="020F0502020204030204"/>
                <a:ea typeface="+mn-ea"/>
                <a:cs typeface="+mn-cs"/>
              </a:rPr>
              <a:t> получили</a:t>
            </a:r>
            <a:r>
              <a:rPr kumimoji="0" lang="ru-RU" sz="2400" b="0" i="1" u="none" strike="noStrike" kern="1200" cap="none" spc="0" normalizeH="0" baseline="0" noProof="0" dirty="0" smtClean="0">
                <a:ln>
                  <a:noFill/>
                </a:ln>
                <a:solidFill>
                  <a:prstClr val="black"/>
                </a:solidFill>
                <a:effectLst/>
                <a:uLnTx/>
                <a:uFillTx/>
                <a:latin typeface="Calibri" panose="020F0502020204030204"/>
                <a:ea typeface="+mn-ea"/>
                <a:cs typeface="+mn-cs"/>
              </a:rPr>
              <a:t>…</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p:cNvSpPr txBox="1"/>
          <p:nvPr/>
        </p:nvSpPr>
        <p:spPr>
          <a:xfrm>
            <a:off x="428627" y="7307842"/>
            <a:ext cx="4437287"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sz="2800" dirty="0" smtClean="0">
                <a:solidFill>
                  <a:prstClr val="black"/>
                </a:solidFill>
                <a:latin typeface="Calibri" panose="020F0502020204030204"/>
              </a:rPr>
              <a:t>Черновики</a:t>
            </a:r>
          </a:p>
          <a:p>
            <a:pPr marL="0" marR="0" lvl="0" indent="0" algn="l" defTabSz="457200" rtl="0" eaLnBrk="1" fontAlgn="auto" latinLnBrk="0" hangingPunct="1">
              <a:lnSpc>
                <a:spcPct val="100000"/>
              </a:lnSpc>
              <a:spcBef>
                <a:spcPts val="0"/>
              </a:spcBef>
              <a:spcAft>
                <a:spcPts val="0"/>
              </a:spcAft>
              <a:buClrTx/>
              <a:buSzTx/>
              <a:buFontTx/>
              <a:buNone/>
              <a:tabLst/>
              <a:defRPr/>
            </a:pPr>
            <a:r>
              <a:rPr lang="ru-RU" sz="2800" b="1" dirty="0" smtClean="0">
                <a:solidFill>
                  <a:prstClr val="black"/>
                </a:solidFill>
                <a:latin typeface="Calibri" panose="020F0502020204030204"/>
              </a:rPr>
              <a:t>ИП Андрей</a:t>
            </a:r>
            <a:r>
              <a:rPr kumimoji="0" lang="ru-RU" sz="2800" b="1" i="0" u="none" strike="noStrike" kern="1200" cap="none" spc="0" normalizeH="0" baseline="0" noProof="0" dirty="0" smtClean="0">
                <a:ln>
                  <a:noFill/>
                </a:ln>
                <a:solidFill>
                  <a:prstClr val="black"/>
                </a:solidFill>
                <a:effectLst/>
                <a:uLnTx/>
                <a:uFillTx/>
                <a:latin typeface="Calibri" panose="020F0502020204030204"/>
              </a:rPr>
              <a:t> </a:t>
            </a:r>
            <a:r>
              <a:rPr lang="ru-RU" sz="2800" b="1" dirty="0" smtClean="0">
                <a:solidFill>
                  <a:prstClr val="black"/>
                </a:solidFill>
                <a:latin typeface="Calibri" panose="020F0502020204030204"/>
              </a:rPr>
              <a:t>Олегов</a:t>
            </a:r>
            <a:r>
              <a:rPr kumimoji="0" lang="ru-RU" sz="2800" b="1" i="0" u="none" strike="noStrike" kern="1200" cap="none" spc="0" normalizeH="0" baseline="0" noProof="0" dirty="0" err="1" smtClean="0">
                <a:ln>
                  <a:noFill/>
                </a:ln>
                <a:solidFill>
                  <a:prstClr val="black"/>
                </a:solidFill>
                <a:effectLst/>
                <a:uLnTx/>
                <a:uFillTx/>
                <a:latin typeface="Calibri" panose="020F0502020204030204"/>
              </a:rPr>
              <a:t>ич</a:t>
            </a:r>
            <a:r>
              <a:rPr kumimoji="0" lang="ru-RU" sz="2800" b="1" i="0" u="none" strike="noStrike" kern="1200" cap="none" spc="0" normalizeH="0" baseline="0" noProof="0" dirty="0" smtClean="0">
                <a:ln>
                  <a:noFill/>
                </a:ln>
                <a:solidFill>
                  <a:prstClr val="black"/>
                </a:solidFill>
                <a:effectLst/>
                <a:uLnTx/>
                <a:uFillTx/>
                <a:latin typeface="Calibri" panose="020F0502020204030204"/>
              </a:rPr>
              <a:t> Басов </a:t>
            </a:r>
            <a:r>
              <a:rPr kumimoji="0" lang="ru-RU" sz="2400" b="0" i="1" u="none" strike="noStrike" kern="1200" cap="none" spc="0" normalizeH="0" baseline="0" noProof="0" dirty="0" smtClean="0">
                <a:ln>
                  <a:noFill/>
                </a:ln>
                <a:solidFill>
                  <a:prstClr val="black"/>
                </a:solidFill>
                <a:effectLst/>
                <a:uLnTx/>
                <a:uFillTx/>
                <a:latin typeface="Calibri" panose="020F0502020204030204"/>
                <a:ea typeface="+mn-ea"/>
                <a:cs typeface="+mn-cs"/>
              </a:rPr>
              <a:t>предварительно…</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Управляющая кнопка: сведения 23">
            <a:hlinkClick r:id="" action="ppaction://noaction" highlightClick="1"/>
          </p:cNvPr>
          <p:cNvSpPr/>
          <p:nvPr/>
        </p:nvSpPr>
        <p:spPr>
          <a:xfrm>
            <a:off x="5947175" y="11518132"/>
            <a:ext cx="607753" cy="548682"/>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Прямоугольник 28"/>
          <p:cNvSpPr/>
          <p:nvPr/>
        </p:nvSpPr>
        <p:spPr>
          <a:xfrm>
            <a:off x="269416" y="524628"/>
            <a:ext cx="2873825" cy="707825"/>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ru-RU" sz="2800" dirty="0">
                <a:solidFill>
                  <a:prstClr val="black"/>
                </a:solidFill>
              </a:rPr>
              <a:t>МЕССЕНДЖЕР</a:t>
            </a:r>
          </a:p>
        </p:txBody>
      </p:sp>
      <p:sp>
        <p:nvSpPr>
          <p:cNvPr id="30" name="Прямоугольник 29"/>
          <p:cNvSpPr/>
          <p:nvPr/>
        </p:nvSpPr>
        <p:spPr>
          <a:xfrm>
            <a:off x="3147332" y="522802"/>
            <a:ext cx="2473775" cy="70782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ru-RU" sz="2800" dirty="0" smtClean="0">
                <a:solidFill>
                  <a:prstClr val="black"/>
                </a:solidFill>
              </a:rPr>
              <a:t>ПОЧТА</a:t>
            </a:r>
            <a:endParaRPr lang="ru-RU" sz="2800" dirty="0">
              <a:solidFill>
                <a:prstClr val="black"/>
              </a:solidFill>
            </a:endParaRPr>
          </a:p>
        </p:txBody>
      </p:sp>
      <p:sp>
        <p:nvSpPr>
          <p:cNvPr id="3" name="6-конечная звезда 2"/>
          <p:cNvSpPr/>
          <p:nvPr/>
        </p:nvSpPr>
        <p:spPr>
          <a:xfrm>
            <a:off x="5766021" y="648755"/>
            <a:ext cx="767435" cy="746955"/>
          </a:xfrm>
          <a:prstGeom prst="star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5046780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87137" y="473528"/>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ru-RU" sz="3600" b="1" dirty="0" smtClean="0">
              <a:solidFill>
                <a:schemeClr val="tx1"/>
              </a:solidFill>
            </a:endParaRPr>
          </a:p>
          <a:p>
            <a:pPr algn="ctr"/>
            <a:r>
              <a:rPr lang="ru-RU" sz="3200" b="1" u="sng" dirty="0" smtClean="0">
                <a:solidFill>
                  <a:schemeClr val="tx1"/>
                </a:solidFill>
              </a:rPr>
              <a:t>Авторизация</a:t>
            </a:r>
          </a:p>
          <a:p>
            <a:pPr algn="ctr"/>
            <a:r>
              <a:rPr lang="ru-RU" sz="2400" b="1" dirty="0" smtClean="0">
                <a:solidFill>
                  <a:schemeClr val="tx1"/>
                </a:solidFill>
              </a:rPr>
              <a:t>(для новых участников)</a:t>
            </a:r>
          </a:p>
          <a:p>
            <a:pPr algn="ctr"/>
            <a:endParaRPr lang="ru-RU" sz="2400" b="1" dirty="0" smtClean="0">
              <a:solidFill>
                <a:schemeClr val="tx1"/>
              </a:solidFill>
            </a:endParaRPr>
          </a:p>
          <a:p>
            <a:pPr algn="ctr"/>
            <a:r>
              <a:rPr lang="ru-RU" sz="2400" b="1" u="sng" dirty="0" smtClean="0">
                <a:solidFill>
                  <a:schemeClr val="tx1"/>
                </a:solidFill>
              </a:rPr>
              <a:t>ЛИЧНЫЙ КАБИНЕТ</a:t>
            </a:r>
          </a:p>
          <a:p>
            <a:pPr algn="ctr"/>
            <a:r>
              <a:rPr lang="ru-RU" sz="2400" b="1" dirty="0" smtClean="0">
                <a:solidFill>
                  <a:schemeClr val="tx1"/>
                </a:solidFill>
              </a:rPr>
              <a:t>(для </a:t>
            </a:r>
            <a:r>
              <a:rPr lang="ru-RU" sz="2400" b="1" dirty="0" err="1" smtClean="0">
                <a:solidFill>
                  <a:schemeClr val="tx1"/>
                </a:solidFill>
              </a:rPr>
              <a:t>зарегестрированных</a:t>
            </a:r>
            <a:r>
              <a:rPr lang="ru-RU" sz="2400" b="1" dirty="0" smtClean="0">
                <a:solidFill>
                  <a:schemeClr val="tx1"/>
                </a:solidFill>
              </a:rPr>
              <a:t> участников)</a:t>
            </a:r>
            <a:endParaRPr lang="ru-RU" sz="2400" b="1" dirty="0">
              <a:solidFill>
                <a:schemeClr val="tx1"/>
              </a:solidFill>
            </a:endParaRPr>
          </a:p>
        </p:txBody>
      </p:sp>
      <p:graphicFrame>
        <p:nvGraphicFramePr>
          <p:cNvPr id="5" name="Таблица 4"/>
          <p:cNvGraphicFramePr>
            <a:graphicFrameLocks noGrp="1"/>
          </p:cNvGraphicFramePr>
          <p:nvPr>
            <p:extLst>
              <p:ext uri="{D42A27DB-BD31-4B8C-83A1-F6EECF244321}">
                <p14:modId xmlns:p14="http://schemas.microsoft.com/office/powerpoint/2010/main" val="805356143"/>
              </p:ext>
            </p:extLst>
          </p:nvPr>
        </p:nvGraphicFramePr>
        <p:xfrm>
          <a:off x="644978" y="3402102"/>
          <a:ext cx="5750433" cy="914400"/>
        </p:xfrm>
        <a:graphic>
          <a:graphicData uri="http://schemas.openxmlformats.org/drawingml/2006/table">
            <a:tbl>
              <a:tblPr firstRow="1" bandRow="1">
                <a:tableStyleId>{5C22544A-7EE6-4342-B048-85BDC9FD1C3A}</a:tableStyleId>
              </a:tblPr>
              <a:tblGrid>
                <a:gridCol w="5750433">
                  <a:extLst>
                    <a:ext uri="{9D8B030D-6E8A-4147-A177-3AD203B41FA5}">
                      <a16:colId xmlns:a16="http://schemas.microsoft.com/office/drawing/2014/main" val="781837115"/>
                    </a:ext>
                  </a:extLst>
                </a:gridCol>
              </a:tblGrid>
              <a:tr h="914400">
                <a:tc>
                  <a:txBody>
                    <a:bodyPr/>
                    <a:lstStyle/>
                    <a:p>
                      <a:pPr algn="ctr"/>
                      <a:r>
                        <a:rPr lang="ru-RU" sz="2800" dirty="0" smtClean="0">
                          <a:solidFill>
                            <a:schemeClr val="tx1"/>
                          </a:solidFill>
                        </a:rPr>
                        <a:t>Мой профиль</a:t>
                      </a:r>
                      <a:endParaRPr lang="ru-RU" sz="28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3" name="Таблица 2"/>
          <p:cNvGraphicFramePr>
            <a:graphicFrameLocks noGrp="1"/>
          </p:cNvGraphicFramePr>
          <p:nvPr>
            <p:extLst>
              <p:ext uri="{D42A27DB-BD31-4B8C-83A1-F6EECF244321}">
                <p14:modId xmlns:p14="http://schemas.microsoft.com/office/powerpoint/2010/main" val="3101326913"/>
              </p:ext>
            </p:extLst>
          </p:nvPr>
        </p:nvGraphicFramePr>
        <p:xfrm>
          <a:off x="644978" y="4509093"/>
          <a:ext cx="5750433" cy="1012372"/>
        </p:xfrm>
        <a:graphic>
          <a:graphicData uri="http://schemas.openxmlformats.org/drawingml/2006/table">
            <a:tbl>
              <a:tblPr firstRow="1" bandRow="1">
                <a:tableStyleId>{5C22544A-7EE6-4342-B048-85BDC9FD1C3A}</a:tableStyleId>
              </a:tblPr>
              <a:tblGrid>
                <a:gridCol w="5750433">
                  <a:extLst>
                    <a:ext uri="{9D8B030D-6E8A-4147-A177-3AD203B41FA5}">
                      <a16:colId xmlns:a16="http://schemas.microsoft.com/office/drawing/2014/main" val="1857328191"/>
                    </a:ext>
                  </a:extLst>
                </a:gridCol>
              </a:tblGrid>
              <a:tr h="1012372">
                <a:tc>
                  <a:txBody>
                    <a:bodyPr/>
                    <a:lstStyle/>
                    <a:p>
                      <a:pPr algn="ctr"/>
                      <a:endParaRPr lang="ru-RU" sz="2000" dirty="0" smtClean="0">
                        <a:solidFill>
                          <a:schemeClr val="tx1"/>
                        </a:solidFill>
                      </a:endParaRPr>
                    </a:p>
                    <a:p>
                      <a:pPr algn="ctr"/>
                      <a:r>
                        <a:rPr lang="ru-RU" sz="2800" dirty="0" smtClean="0">
                          <a:solidFill>
                            <a:schemeClr val="tx1"/>
                          </a:solidFill>
                        </a:rPr>
                        <a:t>Настройки</a:t>
                      </a:r>
                      <a:endParaRPr lang="ru-RU" sz="2800" dirty="0">
                        <a:solidFill>
                          <a:schemeClr val="tx1"/>
                        </a:solidFill>
                      </a:endParaRPr>
                    </a:p>
                  </a:txBody>
                  <a:tcPr/>
                </a:tc>
                <a:extLst>
                  <a:ext uri="{0D108BD9-81ED-4DB2-BD59-A6C34878D82A}">
                    <a16:rowId xmlns:a16="http://schemas.microsoft.com/office/drawing/2014/main" val="4283676598"/>
                  </a:ext>
                </a:extLst>
              </a:tr>
            </a:tbl>
          </a:graphicData>
        </a:graphic>
      </p:graphicFrame>
      <p:graphicFrame>
        <p:nvGraphicFramePr>
          <p:cNvPr id="11" name="Таблица 10"/>
          <p:cNvGraphicFramePr>
            <a:graphicFrameLocks noGrp="1"/>
          </p:cNvGraphicFramePr>
          <p:nvPr>
            <p:extLst>
              <p:ext uri="{D42A27DB-BD31-4B8C-83A1-F6EECF244321}">
                <p14:modId xmlns:p14="http://schemas.microsoft.com/office/powerpoint/2010/main" val="1993802875"/>
              </p:ext>
            </p:extLst>
          </p:nvPr>
        </p:nvGraphicFramePr>
        <p:xfrm>
          <a:off x="620486" y="7091413"/>
          <a:ext cx="5668792" cy="1420586"/>
        </p:xfrm>
        <a:graphic>
          <a:graphicData uri="http://schemas.openxmlformats.org/drawingml/2006/table">
            <a:tbl>
              <a:tblPr firstRow="1" bandRow="1">
                <a:tableStyleId>{5C22544A-7EE6-4342-B048-85BDC9FD1C3A}</a:tableStyleId>
              </a:tblPr>
              <a:tblGrid>
                <a:gridCol w="5668792">
                  <a:extLst>
                    <a:ext uri="{9D8B030D-6E8A-4147-A177-3AD203B41FA5}">
                      <a16:colId xmlns:a16="http://schemas.microsoft.com/office/drawing/2014/main" val="1857328191"/>
                    </a:ext>
                  </a:extLst>
                </a:gridCol>
              </a:tblGrid>
              <a:tr h="1420586">
                <a:tc>
                  <a:txBody>
                    <a:bodyPr/>
                    <a:lstStyle/>
                    <a:p>
                      <a:pPr algn="ctr"/>
                      <a:endParaRPr lang="ru-RU" sz="2000" dirty="0" smtClean="0">
                        <a:solidFill>
                          <a:schemeClr val="tx1"/>
                        </a:solidFill>
                      </a:endParaRPr>
                    </a:p>
                    <a:p>
                      <a:pPr algn="ctr"/>
                      <a:r>
                        <a:rPr lang="ru-RU" sz="2800" dirty="0" smtClean="0">
                          <a:solidFill>
                            <a:schemeClr val="tx1"/>
                          </a:solidFill>
                        </a:rPr>
                        <a:t>Помощь</a:t>
                      </a:r>
                    </a:p>
                  </a:txBody>
                  <a:tcPr/>
                </a:tc>
                <a:extLst>
                  <a:ext uri="{0D108BD9-81ED-4DB2-BD59-A6C34878D82A}">
                    <a16:rowId xmlns:a16="http://schemas.microsoft.com/office/drawing/2014/main" val="4283676598"/>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3303397605"/>
              </p:ext>
            </p:extLst>
          </p:nvPr>
        </p:nvGraphicFramePr>
        <p:xfrm>
          <a:off x="644978" y="5690507"/>
          <a:ext cx="5701447" cy="1208315"/>
        </p:xfrm>
        <a:graphic>
          <a:graphicData uri="http://schemas.openxmlformats.org/drawingml/2006/table">
            <a:tbl>
              <a:tblPr firstRow="1" bandRow="1">
                <a:tableStyleId>{5C22544A-7EE6-4342-B048-85BDC9FD1C3A}</a:tableStyleId>
              </a:tblPr>
              <a:tblGrid>
                <a:gridCol w="5701447">
                  <a:extLst>
                    <a:ext uri="{9D8B030D-6E8A-4147-A177-3AD203B41FA5}">
                      <a16:colId xmlns:a16="http://schemas.microsoft.com/office/drawing/2014/main" val="1857328191"/>
                    </a:ext>
                  </a:extLst>
                </a:gridCol>
              </a:tblGrid>
              <a:tr h="1208315">
                <a:tc>
                  <a:txBody>
                    <a:bodyPr/>
                    <a:lstStyle/>
                    <a:p>
                      <a:pPr algn="ctr"/>
                      <a:endParaRPr lang="ru-RU" sz="2000" dirty="0" smtClean="0">
                        <a:solidFill>
                          <a:schemeClr val="tx1"/>
                        </a:solidFill>
                      </a:endParaRPr>
                    </a:p>
                    <a:p>
                      <a:pPr algn="ctr"/>
                      <a:r>
                        <a:rPr lang="ru-RU" sz="2800" dirty="0" smtClean="0">
                          <a:solidFill>
                            <a:schemeClr val="tx1"/>
                          </a:solidFill>
                        </a:rPr>
                        <a:t>Контакты</a:t>
                      </a:r>
                      <a:endParaRPr lang="ru-RU" sz="2800" dirty="0">
                        <a:solidFill>
                          <a:schemeClr val="tx1"/>
                        </a:solidFill>
                      </a:endParaRPr>
                    </a:p>
                  </a:txBody>
                  <a:tcPr/>
                </a:tc>
                <a:extLst>
                  <a:ext uri="{0D108BD9-81ED-4DB2-BD59-A6C34878D82A}">
                    <a16:rowId xmlns:a16="http://schemas.microsoft.com/office/drawing/2014/main" val="4283676598"/>
                  </a:ext>
                </a:extLst>
              </a:tr>
            </a:tbl>
          </a:graphicData>
        </a:graphic>
      </p:graphicFrame>
      <p:sp>
        <p:nvSpPr>
          <p:cNvPr id="7" name="Стрелка влево 6"/>
          <p:cNvSpPr/>
          <p:nvPr/>
        </p:nvSpPr>
        <p:spPr>
          <a:xfrm>
            <a:off x="538842" y="1138948"/>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Управляющая кнопка: сведения 7">
            <a:hlinkClick r:id="" action="ppaction://noaction" highlightClick="1"/>
          </p:cNvPr>
          <p:cNvSpPr/>
          <p:nvPr/>
        </p:nvSpPr>
        <p:spPr>
          <a:xfrm>
            <a:off x="5943600" y="11560629"/>
            <a:ext cx="630036" cy="47352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4671999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3818686728"/>
              </p:ext>
            </p:extLst>
          </p:nvPr>
        </p:nvGraphicFramePr>
        <p:xfrm>
          <a:off x="244929" y="408214"/>
          <a:ext cx="6237513" cy="11446327"/>
        </p:xfrm>
        <a:graphic>
          <a:graphicData uri="http://schemas.openxmlformats.org/drawingml/2006/table">
            <a:tbl>
              <a:tblPr firstRow="1" bandRow="1">
                <a:tableStyleId>{5C22544A-7EE6-4342-B048-85BDC9FD1C3A}</a:tableStyleId>
              </a:tblPr>
              <a:tblGrid>
                <a:gridCol w="6237513">
                  <a:extLst>
                    <a:ext uri="{9D8B030D-6E8A-4147-A177-3AD203B41FA5}">
                      <a16:colId xmlns:a16="http://schemas.microsoft.com/office/drawing/2014/main" val="3050628928"/>
                    </a:ext>
                  </a:extLst>
                </a:gridCol>
              </a:tblGrid>
              <a:tr h="11446327">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ru-RU" sz="3600" dirty="0" smtClean="0">
                          <a:solidFill>
                            <a:schemeClr val="tx1"/>
                          </a:solidFill>
                        </a:rPr>
                        <a:t>Мой профиль</a:t>
                      </a:r>
                    </a:p>
                    <a:p>
                      <a:endParaRPr lang="ru-RU" dirty="0" smtClean="0"/>
                    </a:p>
                    <a:p>
                      <a:endParaRPr lang="ru-RU" dirty="0" smtClean="0"/>
                    </a:p>
                    <a:p>
                      <a:endParaRPr lang="ru-RU" dirty="0"/>
                    </a:p>
                  </a:txBody>
                  <a:tcPr>
                    <a:solidFill>
                      <a:schemeClr val="accent1">
                        <a:lumMod val="60000"/>
                        <a:lumOff val="40000"/>
                      </a:schemeClr>
                    </a:solidFill>
                  </a:tcPr>
                </a:tc>
                <a:extLst>
                  <a:ext uri="{0D108BD9-81ED-4DB2-BD59-A6C34878D82A}">
                    <a16:rowId xmlns:a16="http://schemas.microsoft.com/office/drawing/2014/main" val="1963010574"/>
                  </a:ext>
                </a:extLst>
              </a:tr>
            </a:tbl>
          </a:graphicData>
        </a:graphic>
      </p:graphicFrame>
      <p:graphicFrame>
        <p:nvGraphicFramePr>
          <p:cNvPr id="3" name="Таблица 2"/>
          <p:cNvGraphicFramePr>
            <a:graphicFrameLocks noGrp="1"/>
          </p:cNvGraphicFramePr>
          <p:nvPr>
            <p:extLst>
              <p:ext uri="{D42A27DB-BD31-4B8C-83A1-F6EECF244321}">
                <p14:modId xmlns:p14="http://schemas.microsoft.com/office/powerpoint/2010/main" val="2346346373"/>
              </p:ext>
            </p:extLst>
          </p:nvPr>
        </p:nvGraphicFramePr>
        <p:xfrm>
          <a:off x="636815" y="1208315"/>
          <a:ext cx="5339442" cy="1645920"/>
        </p:xfrm>
        <a:graphic>
          <a:graphicData uri="http://schemas.openxmlformats.org/drawingml/2006/table">
            <a:tbl>
              <a:tblPr firstRow="1" bandRow="1">
                <a:tableStyleId>{5C22544A-7EE6-4342-B048-85BDC9FD1C3A}</a:tableStyleId>
              </a:tblPr>
              <a:tblGrid>
                <a:gridCol w="5339442">
                  <a:extLst>
                    <a:ext uri="{9D8B030D-6E8A-4147-A177-3AD203B41FA5}">
                      <a16:colId xmlns:a16="http://schemas.microsoft.com/office/drawing/2014/main" val="822233421"/>
                    </a:ext>
                  </a:extLst>
                </a:gridCol>
              </a:tblGrid>
              <a:tr h="1382401">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ru-RU" sz="1800" baseline="0" dirty="0" smtClean="0">
                        <a:solidFill>
                          <a:schemeClr val="tx1"/>
                        </a:solidFill>
                      </a:endParaRPr>
                    </a:p>
                    <a:p>
                      <a:pPr marL="0" marR="0" indent="0" algn="l" defTabSz="685800" rtl="0" eaLnBrk="1" fontAlgn="auto" latinLnBrk="0" hangingPunct="1">
                        <a:lnSpc>
                          <a:spcPct val="100000"/>
                        </a:lnSpc>
                        <a:spcBef>
                          <a:spcPts val="0"/>
                        </a:spcBef>
                        <a:spcAft>
                          <a:spcPts val="0"/>
                        </a:spcAft>
                        <a:buClrTx/>
                        <a:buSzTx/>
                        <a:buFontTx/>
                        <a:buNone/>
                        <a:tabLst/>
                        <a:defRPr/>
                      </a:pPr>
                      <a:endParaRPr lang="ru-RU" sz="1800" baseline="0" dirty="0" smtClean="0">
                        <a:solidFill>
                          <a:schemeClr val="tx1"/>
                        </a:solidFill>
                      </a:endParaRPr>
                    </a:p>
                    <a:p>
                      <a:pPr marL="0" marR="0" indent="0" algn="l" defTabSz="685800" rtl="0" eaLnBrk="1" fontAlgn="auto" latinLnBrk="0" hangingPunct="1">
                        <a:lnSpc>
                          <a:spcPct val="100000"/>
                        </a:lnSpc>
                        <a:spcBef>
                          <a:spcPts val="0"/>
                        </a:spcBef>
                        <a:spcAft>
                          <a:spcPts val="0"/>
                        </a:spcAft>
                        <a:buClrTx/>
                        <a:buSzTx/>
                        <a:buFontTx/>
                        <a:buNone/>
                        <a:tabLst/>
                        <a:defRPr/>
                      </a:pPr>
                      <a:r>
                        <a:rPr lang="ru-RU" sz="1800" dirty="0" smtClean="0">
                          <a:solidFill>
                            <a:schemeClr val="tx1"/>
                          </a:solidFill>
                        </a:rPr>
                        <a:t>                                                    Имя,</a:t>
                      </a:r>
                      <a:r>
                        <a:rPr lang="ru-RU" sz="1800" baseline="0" dirty="0" smtClean="0">
                          <a:solidFill>
                            <a:schemeClr val="tx1"/>
                          </a:solidFill>
                        </a:rPr>
                        <a:t> ник</a:t>
                      </a:r>
                      <a:endParaRPr lang="ru-RU" sz="1800" dirty="0" smtClean="0">
                        <a:solidFill>
                          <a:schemeClr val="tx1"/>
                        </a:solidFill>
                      </a:endParaRPr>
                    </a:p>
                    <a:p>
                      <a:pPr marL="0" marR="0" indent="0" algn="l" defTabSz="685800" rtl="0" eaLnBrk="1" fontAlgn="auto" latinLnBrk="0" hangingPunct="1">
                        <a:lnSpc>
                          <a:spcPct val="100000"/>
                        </a:lnSpc>
                        <a:spcBef>
                          <a:spcPts val="0"/>
                        </a:spcBef>
                        <a:spcAft>
                          <a:spcPts val="0"/>
                        </a:spcAft>
                        <a:buClrTx/>
                        <a:buSzTx/>
                        <a:buFontTx/>
                        <a:buNone/>
                        <a:tabLst/>
                        <a:defRPr/>
                      </a:pPr>
                      <a:r>
                        <a:rPr lang="ru-RU" sz="1800" baseline="0" dirty="0" smtClean="0">
                          <a:solidFill>
                            <a:schemeClr val="tx1"/>
                          </a:solidFill>
                        </a:rPr>
                        <a:t>изменить </a:t>
                      </a:r>
                      <a:r>
                        <a:rPr lang="ru-RU" sz="2400" baseline="0" dirty="0" smtClean="0">
                          <a:solidFill>
                            <a:schemeClr val="tx1"/>
                          </a:solidFill>
                        </a:rPr>
                        <a:t>                    </a:t>
                      </a:r>
                    </a:p>
                    <a:p>
                      <a:pPr marL="0" marR="0" indent="0" algn="l" defTabSz="685800" rtl="0" eaLnBrk="1" fontAlgn="auto" latinLnBrk="0" hangingPunct="1">
                        <a:lnSpc>
                          <a:spcPct val="100000"/>
                        </a:lnSpc>
                        <a:spcBef>
                          <a:spcPts val="0"/>
                        </a:spcBef>
                        <a:spcAft>
                          <a:spcPts val="0"/>
                        </a:spcAft>
                        <a:buClrTx/>
                        <a:buSzTx/>
                        <a:buFontTx/>
                        <a:buNone/>
                        <a:tabLst/>
                        <a:defRPr/>
                      </a:pPr>
                      <a:r>
                        <a:rPr lang="ru-RU" sz="2400" baseline="0" dirty="0" smtClean="0">
                          <a:solidFill>
                            <a:schemeClr val="tx1"/>
                          </a:solidFill>
                        </a:rPr>
                        <a:t>                                    </a:t>
                      </a:r>
                      <a:endParaRPr lang="ru-RU" sz="2000" dirty="0">
                        <a:solidFill>
                          <a:schemeClr val="tx1"/>
                        </a:solidFill>
                      </a:endParaRPr>
                    </a:p>
                  </a:txBody>
                  <a:tcPr>
                    <a:solidFill>
                      <a:schemeClr val="accent5"/>
                    </a:solidFill>
                  </a:tcPr>
                </a:tc>
                <a:extLst>
                  <a:ext uri="{0D108BD9-81ED-4DB2-BD59-A6C34878D82A}">
                    <a16:rowId xmlns:a16="http://schemas.microsoft.com/office/drawing/2014/main" val="710532333"/>
                  </a:ext>
                </a:extLst>
              </a:tr>
            </a:tbl>
          </a:graphicData>
        </a:graphic>
      </p:graphicFrame>
      <p:graphicFrame>
        <p:nvGraphicFramePr>
          <p:cNvPr id="4" name="Таблица 3"/>
          <p:cNvGraphicFramePr>
            <a:graphicFrameLocks noGrp="1"/>
          </p:cNvGraphicFramePr>
          <p:nvPr>
            <p:extLst>
              <p:ext uri="{D42A27DB-BD31-4B8C-83A1-F6EECF244321}">
                <p14:modId xmlns:p14="http://schemas.microsoft.com/office/powerpoint/2010/main" val="2322201230"/>
              </p:ext>
            </p:extLst>
          </p:nvPr>
        </p:nvGraphicFramePr>
        <p:xfrm>
          <a:off x="620483" y="9544347"/>
          <a:ext cx="5339443" cy="803059"/>
        </p:xfrm>
        <a:graphic>
          <a:graphicData uri="http://schemas.openxmlformats.org/drawingml/2006/table">
            <a:tbl>
              <a:tblPr firstRow="1" bandRow="1">
                <a:tableStyleId>{5C22544A-7EE6-4342-B048-85BDC9FD1C3A}</a:tableStyleId>
              </a:tblPr>
              <a:tblGrid>
                <a:gridCol w="5339443">
                  <a:extLst>
                    <a:ext uri="{9D8B030D-6E8A-4147-A177-3AD203B41FA5}">
                      <a16:colId xmlns:a16="http://schemas.microsoft.com/office/drawing/2014/main" val="965019359"/>
                    </a:ext>
                  </a:extLst>
                </a:gridCol>
              </a:tblGrid>
              <a:tr h="803059">
                <a:tc>
                  <a:txBody>
                    <a:bodyPr/>
                    <a:lstStyle/>
                    <a:p>
                      <a:r>
                        <a:rPr lang="ru-RU" sz="2000" dirty="0" smtClean="0">
                          <a:solidFill>
                            <a:schemeClr val="tx1"/>
                          </a:solidFill>
                        </a:rPr>
                        <a:t>телефон:</a:t>
                      </a:r>
                      <a:r>
                        <a:rPr lang="ru-RU" sz="2000" baseline="0" dirty="0" smtClean="0">
                          <a:solidFill>
                            <a:schemeClr val="tx1"/>
                          </a:solidFill>
                        </a:rPr>
                        <a:t> </a:t>
                      </a:r>
                      <a:r>
                        <a:rPr lang="ru-RU" sz="2000" dirty="0" smtClean="0">
                          <a:solidFill>
                            <a:schemeClr val="tx1"/>
                          </a:solidFill>
                        </a:rPr>
                        <a:t>+7(9……….______________________________</a:t>
                      </a:r>
                      <a:endParaRPr lang="ru-RU" sz="2000" dirty="0">
                        <a:solidFill>
                          <a:schemeClr val="tx1"/>
                        </a:solidFill>
                      </a:endParaRPr>
                    </a:p>
                  </a:txBody>
                  <a:tcPr>
                    <a:solidFill>
                      <a:schemeClr val="accent5"/>
                    </a:solidFill>
                  </a:tcPr>
                </a:tc>
                <a:extLst>
                  <a:ext uri="{0D108BD9-81ED-4DB2-BD59-A6C34878D82A}">
                    <a16:rowId xmlns:a16="http://schemas.microsoft.com/office/drawing/2014/main" val="2120408282"/>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2665986848"/>
              </p:ext>
            </p:extLst>
          </p:nvPr>
        </p:nvGraphicFramePr>
        <p:xfrm>
          <a:off x="620484" y="7468818"/>
          <a:ext cx="5339442" cy="559431"/>
        </p:xfrm>
        <a:graphic>
          <a:graphicData uri="http://schemas.openxmlformats.org/drawingml/2006/table">
            <a:tbl>
              <a:tblPr firstRow="1" bandRow="1">
                <a:tableStyleId>{5C22544A-7EE6-4342-B048-85BDC9FD1C3A}</a:tableStyleId>
              </a:tblPr>
              <a:tblGrid>
                <a:gridCol w="5339442">
                  <a:extLst>
                    <a:ext uri="{9D8B030D-6E8A-4147-A177-3AD203B41FA5}">
                      <a16:colId xmlns:a16="http://schemas.microsoft.com/office/drawing/2014/main" val="3861809439"/>
                    </a:ext>
                  </a:extLst>
                </a:gridCol>
              </a:tblGrid>
              <a:tr h="559431">
                <a:tc>
                  <a:txBody>
                    <a:bodyPr/>
                    <a:lstStyle/>
                    <a:p>
                      <a:r>
                        <a:rPr kumimoji="0" lang="ru-RU" sz="2000" b="1" i="0" u="none" strike="noStrike" kern="1200" cap="none" spc="0" normalizeH="0" baseline="0" noProof="0" dirty="0" smtClean="0">
                          <a:ln>
                            <a:noFill/>
                          </a:ln>
                          <a:solidFill>
                            <a:prstClr val="black"/>
                          </a:solidFill>
                          <a:effectLst/>
                          <a:uLnTx/>
                          <a:uFillTx/>
                          <a:latin typeface="+mn-lt"/>
                          <a:ea typeface="+mn-ea"/>
                          <a:cs typeface="+mn-cs"/>
                        </a:rPr>
                        <a:t>Дата рождения </a:t>
                      </a:r>
                      <a:r>
                        <a:rPr lang="ru-RU" sz="2000" dirty="0" smtClean="0">
                          <a:solidFill>
                            <a:schemeClr val="tx1"/>
                          </a:solidFill>
                        </a:rPr>
                        <a:t>__</a:t>
                      </a:r>
                      <a:r>
                        <a:rPr lang="ru-RU" sz="2000" baseline="0" dirty="0" smtClean="0">
                          <a:solidFill>
                            <a:schemeClr val="tx1"/>
                          </a:solidFill>
                        </a:rPr>
                        <a:t>    </a:t>
                      </a:r>
                      <a:r>
                        <a:rPr lang="ru-RU" sz="2000" dirty="0" smtClean="0">
                          <a:solidFill>
                            <a:schemeClr val="tx1"/>
                          </a:solidFill>
                        </a:rPr>
                        <a:t>___    ____      ___</a:t>
                      </a:r>
                      <a:endParaRPr lang="ru-RU" sz="2000" dirty="0">
                        <a:solidFill>
                          <a:schemeClr val="tx1"/>
                        </a:solidFill>
                      </a:endParaRPr>
                    </a:p>
                  </a:txBody>
                  <a:tcPr>
                    <a:solidFill>
                      <a:schemeClr val="accent5"/>
                    </a:solidFill>
                  </a:tcPr>
                </a:tc>
                <a:extLst>
                  <a:ext uri="{0D108BD9-81ED-4DB2-BD59-A6C34878D82A}">
                    <a16:rowId xmlns:a16="http://schemas.microsoft.com/office/drawing/2014/main" val="1077989737"/>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2560257505"/>
              </p:ext>
            </p:extLst>
          </p:nvPr>
        </p:nvGraphicFramePr>
        <p:xfrm>
          <a:off x="620484" y="8194792"/>
          <a:ext cx="5339442" cy="1183012"/>
        </p:xfrm>
        <a:graphic>
          <a:graphicData uri="http://schemas.openxmlformats.org/drawingml/2006/table">
            <a:tbl>
              <a:tblPr firstRow="1" bandRow="1">
                <a:tableStyleId>{5C22544A-7EE6-4342-B048-85BDC9FD1C3A}</a:tableStyleId>
              </a:tblPr>
              <a:tblGrid>
                <a:gridCol w="5339442">
                  <a:extLst>
                    <a:ext uri="{9D8B030D-6E8A-4147-A177-3AD203B41FA5}">
                      <a16:colId xmlns:a16="http://schemas.microsoft.com/office/drawing/2014/main" val="4088784356"/>
                    </a:ext>
                  </a:extLst>
                </a:gridCol>
              </a:tblGrid>
              <a:tr h="1183012">
                <a:tc>
                  <a:txBody>
                    <a:bodyPr/>
                    <a:lstStyle/>
                    <a:p>
                      <a:r>
                        <a:rPr lang="ru-RU" sz="2000" dirty="0" smtClean="0">
                          <a:solidFill>
                            <a:schemeClr val="tx1"/>
                          </a:solidFill>
                        </a:rPr>
                        <a:t>Электронная почта: служебная___________________________</a:t>
                      </a:r>
                    </a:p>
                    <a:p>
                      <a:r>
                        <a:rPr lang="ru-RU" sz="2000" dirty="0" smtClean="0">
                          <a:solidFill>
                            <a:schemeClr val="tx1"/>
                          </a:solidFill>
                        </a:rPr>
                        <a:t>личная________________________________</a:t>
                      </a:r>
                      <a:endParaRPr lang="ru-RU" sz="2000" dirty="0">
                        <a:solidFill>
                          <a:schemeClr val="tx1"/>
                        </a:solidFill>
                      </a:endParaRPr>
                    </a:p>
                  </a:txBody>
                  <a:tcPr>
                    <a:solidFill>
                      <a:schemeClr val="accent5"/>
                    </a:solidFill>
                  </a:tcPr>
                </a:tc>
                <a:extLst>
                  <a:ext uri="{0D108BD9-81ED-4DB2-BD59-A6C34878D82A}">
                    <a16:rowId xmlns:a16="http://schemas.microsoft.com/office/drawing/2014/main" val="2247805997"/>
                  </a:ext>
                </a:extLst>
              </a:tr>
            </a:tbl>
          </a:graphicData>
        </a:graphic>
      </p:graphicFrame>
      <p:graphicFrame>
        <p:nvGraphicFramePr>
          <p:cNvPr id="7" name="Таблица 6"/>
          <p:cNvGraphicFramePr>
            <a:graphicFrameLocks noGrp="1"/>
          </p:cNvGraphicFramePr>
          <p:nvPr>
            <p:extLst>
              <p:ext uri="{D42A27DB-BD31-4B8C-83A1-F6EECF244321}">
                <p14:modId xmlns:p14="http://schemas.microsoft.com/office/powerpoint/2010/main" val="452501470"/>
              </p:ext>
            </p:extLst>
          </p:nvPr>
        </p:nvGraphicFramePr>
        <p:xfrm>
          <a:off x="636812" y="4036741"/>
          <a:ext cx="5339443" cy="1366689"/>
        </p:xfrm>
        <a:graphic>
          <a:graphicData uri="http://schemas.openxmlformats.org/drawingml/2006/table">
            <a:tbl>
              <a:tblPr firstRow="1" bandRow="1">
                <a:tableStyleId>{5C22544A-7EE6-4342-B048-85BDC9FD1C3A}</a:tableStyleId>
              </a:tblPr>
              <a:tblGrid>
                <a:gridCol w="5339443">
                  <a:extLst>
                    <a:ext uri="{9D8B030D-6E8A-4147-A177-3AD203B41FA5}">
                      <a16:colId xmlns:a16="http://schemas.microsoft.com/office/drawing/2014/main" val="2528004365"/>
                    </a:ext>
                  </a:extLst>
                </a:gridCol>
              </a:tblGrid>
              <a:tr h="1366689">
                <a:tc>
                  <a:txBody>
                    <a:bodyPr/>
                    <a:lstStyle/>
                    <a:p>
                      <a:r>
                        <a:rPr kumimoji="0" lang="ru-RU" sz="2000" b="1" i="0" u="none" strike="noStrike" kern="1200" cap="none" spc="0" normalizeH="0" baseline="0" noProof="0" dirty="0" smtClean="0">
                          <a:ln>
                            <a:noFill/>
                          </a:ln>
                          <a:solidFill>
                            <a:prstClr val="black"/>
                          </a:solidFill>
                          <a:effectLst/>
                          <a:uLnTx/>
                          <a:uFillTx/>
                          <a:latin typeface="+mn-lt"/>
                          <a:ea typeface="+mn-ea"/>
                          <a:cs typeface="+mn-cs"/>
                        </a:rPr>
                        <a:t>Предприятие, компания________________ </a:t>
                      </a:r>
                    </a:p>
                    <a:p>
                      <a:endParaRPr kumimoji="0" lang="ru-RU" sz="2000" b="1" i="0" u="none" strike="noStrike" kern="1200" cap="none" spc="0" normalizeH="0" baseline="0" noProof="0" dirty="0" smtClean="0">
                        <a:ln>
                          <a:noFill/>
                        </a:ln>
                        <a:solidFill>
                          <a:prstClr val="black"/>
                        </a:solidFill>
                        <a:effectLst/>
                        <a:uLnTx/>
                        <a:uFillTx/>
                        <a:latin typeface="+mn-lt"/>
                        <a:ea typeface="+mn-ea"/>
                        <a:cs typeface="+mn-cs"/>
                      </a:endParaRPr>
                    </a:p>
                    <a:p>
                      <a:r>
                        <a:rPr kumimoji="0" lang="ru-RU" sz="2000" b="1" i="0" u="none" strike="noStrike" kern="1200" cap="none" spc="0" normalizeH="0" baseline="0" noProof="0" dirty="0" smtClean="0">
                          <a:ln>
                            <a:noFill/>
                          </a:ln>
                          <a:solidFill>
                            <a:prstClr val="black"/>
                          </a:solidFill>
                          <a:effectLst/>
                          <a:uLnTx/>
                          <a:uFillTx/>
                          <a:latin typeface="+mn-lt"/>
                          <a:ea typeface="+mn-ea"/>
                          <a:cs typeface="+mn-cs"/>
                        </a:rPr>
                        <a:t>Отдел (группа) </a:t>
                      </a:r>
                      <a:r>
                        <a:rPr lang="ru-RU" sz="2000" dirty="0" smtClean="0">
                          <a:solidFill>
                            <a:schemeClr val="tx1"/>
                          </a:solidFill>
                        </a:rPr>
                        <a:t>________________________________________</a:t>
                      </a:r>
                      <a:endParaRPr lang="ru-RU" sz="2000" dirty="0">
                        <a:solidFill>
                          <a:schemeClr val="tx1"/>
                        </a:solidFill>
                      </a:endParaRPr>
                    </a:p>
                  </a:txBody>
                  <a:tcPr>
                    <a:solidFill>
                      <a:schemeClr val="accent5"/>
                    </a:solidFill>
                  </a:tcPr>
                </a:tc>
                <a:extLst>
                  <a:ext uri="{0D108BD9-81ED-4DB2-BD59-A6C34878D82A}">
                    <a16:rowId xmlns:a16="http://schemas.microsoft.com/office/drawing/2014/main" val="3328151957"/>
                  </a:ext>
                </a:extLst>
              </a:tr>
            </a:tbl>
          </a:graphicData>
        </a:graphic>
      </p:graphicFrame>
      <p:sp>
        <p:nvSpPr>
          <p:cNvPr id="8" name="Блок-схема: узел 7"/>
          <p:cNvSpPr/>
          <p:nvPr/>
        </p:nvSpPr>
        <p:spPr>
          <a:xfrm>
            <a:off x="4514850" y="1423356"/>
            <a:ext cx="1273628" cy="121583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t>фото</a:t>
            </a:r>
            <a:endParaRPr lang="ru-RU" dirty="0"/>
          </a:p>
        </p:txBody>
      </p:sp>
      <p:sp>
        <p:nvSpPr>
          <p:cNvPr id="9" name="Диагональная полоса 8"/>
          <p:cNvSpPr/>
          <p:nvPr/>
        </p:nvSpPr>
        <p:spPr>
          <a:xfrm>
            <a:off x="1094013" y="1637890"/>
            <a:ext cx="440871" cy="496389"/>
          </a:xfrm>
          <a:prstGeom prst="diagStrip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1" name="Стрелка влево 10"/>
          <p:cNvSpPr/>
          <p:nvPr/>
        </p:nvSpPr>
        <p:spPr>
          <a:xfrm>
            <a:off x="636813" y="556808"/>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2" name="Таблица 11"/>
          <p:cNvGraphicFramePr>
            <a:graphicFrameLocks noGrp="1"/>
          </p:cNvGraphicFramePr>
          <p:nvPr>
            <p:extLst>
              <p:ext uri="{D42A27DB-BD31-4B8C-83A1-F6EECF244321}">
                <p14:modId xmlns:p14="http://schemas.microsoft.com/office/powerpoint/2010/main" val="1439791882"/>
              </p:ext>
            </p:extLst>
          </p:nvPr>
        </p:nvGraphicFramePr>
        <p:xfrm>
          <a:off x="636812" y="6457784"/>
          <a:ext cx="5339443" cy="837968"/>
        </p:xfrm>
        <a:graphic>
          <a:graphicData uri="http://schemas.openxmlformats.org/drawingml/2006/table">
            <a:tbl>
              <a:tblPr firstRow="1" bandRow="1">
                <a:tableStyleId>{5C22544A-7EE6-4342-B048-85BDC9FD1C3A}</a:tableStyleId>
              </a:tblPr>
              <a:tblGrid>
                <a:gridCol w="5339443">
                  <a:extLst>
                    <a:ext uri="{9D8B030D-6E8A-4147-A177-3AD203B41FA5}">
                      <a16:colId xmlns:a16="http://schemas.microsoft.com/office/drawing/2014/main" val="965019359"/>
                    </a:ext>
                  </a:extLst>
                </a:gridCol>
              </a:tblGrid>
              <a:tr h="837968">
                <a:tc>
                  <a:txBody>
                    <a:bodyPr/>
                    <a:lstStyle/>
                    <a:p>
                      <a:r>
                        <a:rPr kumimoji="0" lang="ru-RU" sz="2000" b="1" i="0" u="none" strike="noStrike" kern="1200" cap="none" spc="0" normalizeH="0" baseline="0" noProof="0" dirty="0" smtClean="0">
                          <a:ln>
                            <a:noFill/>
                          </a:ln>
                          <a:solidFill>
                            <a:prstClr val="black"/>
                          </a:solidFill>
                          <a:effectLst/>
                          <a:uLnTx/>
                          <a:uFillTx/>
                          <a:latin typeface="+mn-lt"/>
                          <a:ea typeface="+mn-ea"/>
                          <a:cs typeface="+mn-cs"/>
                        </a:rPr>
                        <a:t>ФИО участника</a:t>
                      </a:r>
                      <a:r>
                        <a:rPr kumimoji="0" lang="ru-RU" sz="2000" b="1" i="0" u="none" strike="noStrike" kern="1200" cap="none" spc="0" normalizeH="0" baseline="0" noProof="0" dirty="0" smtClean="0">
                          <a:ln>
                            <a:noFill/>
                          </a:ln>
                          <a:solidFill>
                            <a:schemeClr val="tx1"/>
                          </a:solidFill>
                          <a:effectLst/>
                          <a:uLnTx/>
                          <a:uFillTx/>
                          <a:latin typeface="+mn-lt"/>
                          <a:ea typeface="+mn-ea"/>
                          <a:cs typeface="+mn-cs"/>
                        </a:rPr>
                        <a:t>  </a:t>
                      </a:r>
                      <a:r>
                        <a:rPr lang="ru-RU" sz="2000" dirty="0" smtClean="0">
                          <a:solidFill>
                            <a:schemeClr val="tx1"/>
                          </a:solidFill>
                        </a:rPr>
                        <a:t>______________________________________</a:t>
                      </a:r>
                      <a:endParaRPr lang="ru-RU" sz="2000" dirty="0">
                        <a:solidFill>
                          <a:schemeClr val="tx1"/>
                        </a:solidFill>
                      </a:endParaRPr>
                    </a:p>
                  </a:txBody>
                  <a:tcPr>
                    <a:solidFill>
                      <a:schemeClr val="accent5"/>
                    </a:solidFill>
                  </a:tcPr>
                </a:tc>
                <a:extLst>
                  <a:ext uri="{0D108BD9-81ED-4DB2-BD59-A6C34878D82A}">
                    <a16:rowId xmlns:a16="http://schemas.microsoft.com/office/drawing/2014/main" val="2120408282"/>
                  </a:ext>
                </a:extLst>
              </a:tr>
            </a:tbl>
          </a:graphicData>
        </a:graphic>
      </p:graphicFrame>
      <p:graphicFrame>
        <p:nvGraphicFramePr>
          <p:cNvPr id="13" name="Таблица 12"/>
          <p:cNvGraphicFramePr>
            <a:graphicFrameLocks noGrp="1"/>
          </p:cNvGraphicFramePr>
          <p:nvPr>
            <p:extLst>
              <p:ext uri="{D42A27DB-BD31-4B8C-83A1-F6EECF244321}">
                <p14:modId xmlns:p14="http://schemas.microsoft.com/office/powerpoint/2010/main" val="3916411092"/>
              </p:ext>
            </p:extLst>
          </p:nvPr>
        </p:nvGraphicFramePr>
        <p:xfrm>
          <a:off x="620485" y="5581536"/>
          <a:ext cx="5339442" cy="701040"/>
        </p:xfrm>
        <a:graphic>
          <a:graphicData uri="http://schemas.openxmlformats.org/drawingml/2006/table">
            <a:tbl>
              <a:tblPr firstRow="1" bandRow="1">
                <a:tableStyleId>{5C22544A-7EE6-4342-B048-85BDC9FD1C3A}</a:tableStyleId>
              </a:tblPr>
              <a:tblGrid>
                <a:gridCol w="5339442">
                  <a:extLst>
                    <a:ext uri="{9D8B030D-6E8A-4147-A177-3AD203B41FA5}">
                      <a16:colId xmlns:a16="http://schemas.microsoft.com/office/drawing/2014/main" val="2528004365"/>
                    </a:ext>
                  </a:extLst>
                </a:gridCol>
              </a:tblGrid>
              <a:tr h="588794">
                <a:tc>
                  <a:txBody>
                    <a:bodyPr/>
                    <a:lstStyle/>
                    <a:p>
                      <a:r>
                        <a:rPr lang="ru-RU" sz="2000" dirty="0" smtClean="0">
                          <a:solidFill>
                            <a:schemeClr val="tx1"/>
                          </a:solidFill>
                        </a:rPr>
                        <a:t>Должность__________________________________________________________________</a:t>
                      </a:r>
                      <a:endParaRPr lang="ru-RU" sz="2000" dirty="0">
                        <a:solidFill>
                          <a:schemeClr val="tx1"/>
                        </a:solidFill>
                      </a:endParaRPr>
                    </a:p>
                  </a:txBody>
                  <a:tcPr>
                    <a:solidFill>
                      <a:schemeClr val="accent5"/>
                    </a:solidFill>
                  </a:tcPr>
                </a:tc>
                <a:extLst>
                  <a:ext uri="{0D108BD9-81ED-4DB2-BD59-A6C34878D82A}">
                    <a16:rowId xmlns:a16="http://schemas.microsoft.com/office/drawing/2014/main" val="3328151957"/>
                  </a:ext>
                </a:extLst>
              </a:tr>
            </a:tbl>
          </a:graphicData>
        </a:graphic>
      </p:graphicFrame>
      <p:graphicFrame>
        <p:nvGraphicFramePr>
          <p:cNvPr id="14" name="Таблица 13"/>
          <p:cNvGraphicFramePr>
            <a:graphicFrameLocks noGrp="1"/>
          </p:cNvGraphicFramePr>
          <p:nvPr>
            <p:extLst>
              <p:ext uri="{D42A27DB-BD31-4B8C-83A1-F6EECF244321}">
                <p14:modId xmlns:p14="http://schemas.microsoft.com/office/powerpoint/2010/main" val="3242328310"/>
              </p:ext>
            </p:extLst>
          </p:nvPr>
        </p:nvGraphicFramePr>
        <p:xfrm>
          <a:off x="620484" y="2958705"/>
          <a:ext cx="5355771" cy="1005840"/>
        </p:xfrm>
        <a:graphic>
          <a:graphicData uri="http://schemas.openxmlformats.org/drawingml/2006/table">
            <a:tbl>
              <a:tblPr firstRow="1" bandRow="1">
                <a:tableStyleId>{5C22544A-7EE6-4342-B048-85BDC9FD1C3A}</a:tableStyleId>
              </a:tblPr>
              <a:tblGrid>
                <a:gridCol w="5355771">
                  <a:extLst>
                    <a:ext uri="{9D8B030D-6E8A-4147-A177-3AD203B41FA5}">
                      <a16:colId xmlns:a16="http://schemas.microsoft.com/office/drawing/2014/main" val="965019359"/>
                    </a:ext>
                  </a:extLst>
                </a:gridCol>
              </a:tblGrid>
              <a:tr h="908523">
                <a:tc>
                  <a:txBody>
                    <a:bodyPr/>
                    <a:lstStyle/>
                    <a:p>
                      <a:pPr algn="ctr"/>
                      <a:r>
                        <a:rPr lang="ru-RU" sz="2000" dirty="0" smtClean="0">
                          <a:solidFill>
                            <a:schemeClr val="tx1"/>
                          </a:solidFill>
                        </a:rPr>
                        <a:t>Если вы не работник</a:t>
                      </a:r>
                      <a:r>
                        <a:rPr lang="ru-RU" sz="2000" baseline="0" dirty="0" smtClean="0">
                          <a:solidFill>
                            <a:schemeClr val="tx1"/>
                          </a:solidFill>
                        </a:rPr>
                        <a:t> компании</a:t>
                      </a:r>
                      <a:r>
                        <a:rPr lang="ru-RU" sz="2000" baseline="0" dirty="0" smtClean="0">
                          <a:solidFill>
                            <a:srgbClr val="FFC000"/>
                          </a:solidFill>
                        </a:rPr>
                        <a:t> </a:t>
                      </a:r>
                      <a:r>
                        <a:rPr lang="ru-RU" sz="2000" i="1" baseline="0" dirty="0" smtClean="0">
                          <a:solidFill>
                            <a:srgbClr val="FFC000"/>
                          </a:solidFill>
                        </a:rPr>
                        <a:t>«</a:t>
                      </a:r>
                      <a:r>
                        <a:rPr lang="ru-RU" sz="2000" i="1" baseline="0" dirty="0" err="1" smtClean="0">
                          <a:solidFill>
                            <a:srgbClr val="FFC000"/>
                          </a:solidFill>
                        </a:rPr>
                        <a:t>Главснаб</a:t>
                      </a:r>
                      <a:r>
                        <a:rPr lang="ru-RU" sz="2000" i="1" baseline="0" dirty="0" smtClean="0">
                          <a:solidFill>
                            <a:srgbClr val="FFC000"/>
                          </a:solidFill>
                        </a:rPr>
                        <a:t>» </a:t>
                      </a:r>
                      <a:r>
                        <a:rPr lang="ru-RU" sz="2000" i="0" baseline="0" dirty="0" smtClean="0">
                          <a:solidFill>
                            <a:schemeClr val="tx1"/>
                          </a:solidFill>
                        </a:rPr>
                        <a:t>или для анонимной отправки </a:t>
                      </a:r>
                      <a:r>
                        <a:rPr lang="ru-RU" sz="2000" baseline="0" dirty="0" smtClean="0">
                          <a:solidFill>
                            <a:schemeClr val="tx1"/>
                          </a:solidFill>
                        </a:rPr>
                        <a:t>нажмите данную кнопку</a:t>
                      </a:r>
                      <a:endParaRPr lang="ru-RU" sz="2000" dirty="0" smtClean="0">
                        <a:solidFill>
                          <a:schemeClr val="tx1"/>
                        </a:solidFill>
                      </a:endParaRPr>
                    </a:p>
                  </a:txBody>
                  <a:tcPr>
                    <a:solidFill>
                      <a:schemeClr val="accent5"/>
                    </a:solidFill>
                  </a:tcPr>
                </a:tc>
                <a:extLst>
                  <a:ext uri="{0D108BD9-81ED-4DB2-BD59-A6C34878D82A}">
                    <a16:rowId xmlns:a16="http://schemas.microsoft.com/office/drawing/2014/main" val="2120408282"/>
                  </a:ext>
                </a:extLst>
              </a:tr>
            </a:tbl>
          </a:graphicData>
        </a:graphic>
      </p:graphicFrame>
      <p:sp>
        <p:nvSpPr>
          <p:cNvPr id="15" name="Управляющая кнопка: сведения 14">
            <a:hlinkClick r:id="" action="ppaction://noaction" highlightClick="1"/>
          </p:cNvPr>
          <p:cNvSpPr/>
          <p:nvPr/>
        </p:nvSpPr>
        <p:spPr>
          <a:xfrm>
            <a:off x="5976252" y="11324368"/>
            <a:ext cx="547000" cy="477425"/>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p:cNvSpPr/>
          <p:nvPr/>
        </p:nvSpPr>
        <p:spPr>
          <a:xfrm>
            <a:off x="620482" y="10557523"/>
            <a:ext cx="3559631" cy="1072316"/>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smtClean="0">
                <a:solidFill>
                  <a:schemeClr val="tx1"/>
                </a:solidFill>
              </a:rPr>
              <a:t>Логин____________________</a:t>
            </a:r>
          </a:p>
          <a:p>
            <a:pPr algn="ctr"/>
            <a:r>
              <a:rPr lang="ru-RU" sz="2000" dirty="0" smtClean="0">
                <a:solidFill>
                  <a:schemeClr val="tx1"/>
                </a:solidFill>
              </a:rPr>
              <a:t>Пароль___________________</a:t>
            </a:r>
            <a:endParaRPr lang="ru-RU" sz="2000" dirty="0">
              <a:solidFill>
                <a:schemeClr val="tx1"/>
              </a:solidFill>
            </a:endParaRPr>
          </a:p>
        </p:txBody>
      </p:sp>
      <p:sp>
        <p:nvSpPr>
          <p:cNvPr id="19" name="Прямоугольник 18"/>
          <p:cNvSpPr/>
          <p:nvPr/>
        </p:nvSpPr>
        <p:spPr>
          <a:xfrm>
            <a:off x="4280122" y="11090732"/>
            <a:ext cx="1593397" cy="439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000" b="1" dirty="0">
                <a:solidFill>
                  <a:prstClr val="black"/>
                </a:solidFill>
              </a:rPr>
              <a:t>«сохранить»</a:t>
            </a:r>
          </a:p>
        </p:txBody>
      </p:sp>
    </p:spTree>
    <p:extLst>
      <p:ext uri="{BB962C8B-B14F-4D97-AF65-F5344CB8AC3E}">
        <p14:creationId xmlns:p14="http://schemas.microsoft.com/office/powerpoint/2010/main" val="25481008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nvPr>
        </p:nvGraphicFramePr>
        <p:xfrm>
          <a:off x="244929" y="408214"/>
          <a:ext cx="6237513" cy="11446327"/>
        </p:xfrm>
        <a:graphic>
          <a:graphicData uri="http://schemas.openxmlformats.org/drawingml/2006/table">
            <a:tbl>
              <a:tblPr firstRow="1" bandRow="1">
                <a:tableStyleId>{5C22544A-7EE6-4342-B048-85BDC9FD1C3A}</a:tableStyleId>
              </a:tblPr>
              <a:tblGrid>
                <a:gridCol w="6237513">
                  <a:extLst>
                    <a:ext uri="{9D8B030D-6E8A-4147-A177-3AD203B41FA5}">
                      <a16:colId xmlns:a16="http://schemas.microsoft.com/office/drawing/2014/main" val="3050628928"/>
                    </a:ext>
                  </a:extLst>
                </a:gridCol>
              </a:tblGrid>
              <a:tr h="11446327">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ru-RU" sz="3600" dirty="0" smtClean="0">
                          <a:solidFill>
                            <a:schemeClr val="tx1"/>
                          </a:solidFill>
                        </a:rPr>
                        <a:t>Мой профиль</a:t>
                      </a:r>
                    </a:p>
                    <a:p>
                      <a:endParaRPr lang="ru-RU" dirty="0" smtClean="0"/>
                    </a:p>
                    <a:p>
                      <a:endParaRPr lang="ru-RU" dirty="0" smtClean="0"/>
                    </a:p>
                    <a:p>
                      <a:endParaRPr lang="ru-RU" dirty="0"/>
                    </a:p>
                  </a:txBody>
                  <a:tcPr>
                    <a:solidFill>
                      <a:schemeClr val="accent1">
                        <a:lumMod val="60000"/>
                        <a:lumOff val="40000"/>
                      </a:schemeClr>
                    </a:solidFill>
                  </a:tcPr>
                </a:tc>
                <a:extLst>
                  <a:ext uri="{0D108BD9-81ED-4DB2-BD59-A6C34878D82A}">
                    <a16:rowId xmlns:a16="http://schemas.microsoft.com/office/drawing/2014/main" val="1963010574"/>
                  </a:ext>
                </a:extLst>
              </a:tr>
            </a:tbl>
          </a:graphicData>
        </a:graphic>
      </p:graphicFrame>
      <p:graphicFrame>
        <p:nvGraphicFramePr>
          <p:cNvPr id="3" name="Таблица 2"/>
          <p:cNvGraphicFramePr>
            <a:graphicFrameLocks noGrp="1"/>
          </p:cNvGraphicFramePr>
          <p:nvPr>
            <p:extLst>
              <p:ext uri="{D42A27DB-BD31-4B8C-83A1-F6EECF244321}">
                <p14:modId xmlns:p14="http://schemas.microsoft.com/office/powerpoint/2010/main" val="228027864"/>
              </p:ext>
            </p:extLst>
          </p:nvPr>
        </p:nvGraphicFramePr>
        <p:xfrm>
          <a:off x="865413" y="1208315"/>
          <a:ext cx="5110843" cy="1645920"/>
        </p:xfrm>
        <a:graphic>
          <a:graphicData uri="http://schemas.openxmlformats.org/drawingml/2006/table">
            <a:tbl>
              <a:tblPr firstRow="1" bandRow="1">
                <a:tableStyleId>{5C22544A-7EE6-4342-B048-85BDC9FD1C3A}</a:tableStyleId>
              </a:tblPr>
              <a:tblGrid>
                <a:gridCol w="5110843">
                  <a:extLst>
                    <a:ext uri="{9D8B030D-6E8A-4147-A177-3AD203B41FA5}">
                      <a16:colId xmlns:a16="http://schemas.microsoft.com/office/drawing/2014/main" val="822233421"/>
                    </a:ext>
                  </a:extLst>
                </a:gridCol>
              </a:tblGrid>
              <a:tr h="1519646">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endParaRPr lang="ru-RU" sz="1800" baseline="0" dirty="0" smtClean="0">
                        <a:solidFill>
                          <a:schemeClr val="tx1"/>
                        </a:solidFill>
                      </a:endParaRPr>
                    </a:p>
                    <a:p>
                      <a:pPr marL="0" marR="0" indent="0" algn="l" defTabSz="685800" rtl="0" eaLnBrk="1" fontAlgn="auto" latinLnBrk="0" hangingPunct="1">
                        <a:lnSpc>
                          <a:spcPct val="100000"/>
                        </a:lnSpc>
                        <a:spcBef>
                          <a:spcPts val="0"/>
                        </a:spcBef>
                        <a:spcAft>
                          <a:spcPts val="0"/>
                        </a:spcAft>
                        <a:buClrTx/>
                        <a:buSzTx/>
                        <a:buFontTx/>
                        <a:buNone/>
                        <a:tabLst/>
                        <a:defRPr/>
                      </a:pPr>
                      <a:endParaRPr lang="ru-RU" sz="1800" baseline="0" dirty="0" smtClean="0">
                        <a:solidFill>
                          <a:schemeClr val="tx1"/>
                        </a:solidFill>
                      </a:endParaRPr>
                    </a:p>
                    <a:p>
                      <a:pPr marL="0" marR="0" indent="0" algn="l" defTabSz="685800" rtl="0" eaLnBrk="1" fontAlgn="auto" latinLnBrk="0" hangingPunct="1">
                        <a:lnSpc>
                          <a:spcPct val="100000"/>
                        </a:lnSpc>
                        <a:spcBef>
                          <a:spcPts val="0"/>
                        </a:spcBef>
                        <a:spcAft>
                          <a:spcPts val="0"/>
                        </a:spcAft>
                        <a:buClrTx/>
                        <a:buSzTx/>
                        <a:buFontTx/>
                        <a:buNone/>
                        <a:tabLst/>
                        <a:defRPr/>
                      </a:pPr>
                      <a:r>
                        <a:rPr lang="ru-RU" sz="1800" dirty="0" smtClean="0">
                          <a:solidFill>
                            <a:schemeClr val="tx1"/>
                          </a:solidFill>
                        </a:rPr>
                        <a:t>                                                    Имя</a:t>
                      </a:r>
                    </a:p>
                    <a:p>
                      <a:pPr marL="0" marR="0" indent="0" algn="l" defTabSz="685800" rtl="0" eaLnBrk="1" fontAlgn="auto" latinLnBrk="0" hangingPunct="1">
                        <a:lnSpc>
                          <a:spcPct val="100000"/>
                        </a:lnSpc>
                        <a:spcBef>
                          <a:spcPts val="0"/>
                        </a:spcBef>
                        <a:spcAft>
                          <a:spcPts val="0"/>
                        </a:spcAft>
                        <a:buClrTx/>
                        <a:buSzTx/>
                        <a:buFontTx/>
                        <a:buNone/>
                        <a:tabLst/>
                        <a:defRPr/>
                      </a:pPr>
                      <a:r>
                        <a:rPr lang="ru-RU" sz="1800" baseline="0" dirty="0" smtClean="0">
                          <a:solidFill>
                            <a:schemeClr val="tx1"/>
                          </a:solidFill>
                        </a:rPr>
                        <a:t>изменить </a:t>
                      </a:r>
                      <a:r>
                        <a:rPr lang="ru-RU" sz="2400" baseline="0" dirty="0" smtClean="0">
                          <a:solidFill>
                            <a:schemeClr val="tx1"/>
                          </a:solidFill>
                        </a:rPr>
                        <a:t>       </a:t>
                      </a:r>
                      <a:r>
                        <a:rPr lang="ru-RU" sz="1800" baseline="0" dirty="0" smtClean="0">
                          <a:solidFill>
                            <a:schemeClr val="tx1"/>
                          </a:solidFill>
                        </a:rPr>
                        <a:t>сохранить</a:t>
                      </a:r>
                      <a:r>
                        <a:rPr lang="ru-RU" sz="2400" baseline="0" dirty="0" smtClean="0">
                          <a:solidFill>
                            <a:schemeClr val="tx1"/>
                          </a:solidFill>
                        </a:rPr>
                        <a:t>   </a:t>
                      </a:r>
                      <a:r>
                        <a:rPr lang="ru-RU" sz="2000" baseline="0" dirty="0" smtClean="0">
                          <a:solidFill>
                            <a:schemeClr val="tx1"/>
                          </a:solidFill>
                        </a:rPr>
                        <a:t>(Ник)</a:t>
                      </a:r>
                    </a:p>
                    <a:p>
                      <a:pPr marL="0" marR="0" indent="0" algn="l" defTabSz="685800" rtl="0" eaLnBrk="1" fontAlgn="auto" latinLnBrk="0" hangingPunct="1">
                        <a:lnSpc>
                          <a:spcPct val="100000"/>
                        </a:lnSpc>
                        <a:spcBef>
                          <a:spcPts val="0"/>
                        </a:spcBef>
                        <a:spcAft>
                          <a:spcPts val="0"/>
                        </a:spcAft>
                        <a:buClrTx/>
                        <a:buSzTx/>
                        <a:buFontTx/>
                        <a:buNone/>
                        <a:tabLst/>
                        <a:defRPr/>
                      </a:pPr>
                      <a:r>
                        <a:rPr lang="ru-RU" sz="2400" baseline="0" dirty="0" smtClean="0">
                          <a:solidFill>
                            <a:schemeClr val="tx1"/>
                          </a:solidFill>
                        </a:rPr>
                        <a:t>                                    </a:t>
                      </a:r>
                      <a:endParaRPr lang="ru-RU" sz="2000" dirty="0">
                        <a:solidFill>
                          <a:schemeClr val="tx1"/>
                        </a:solidFill>
                      </a:endParaRPr>
                    </a:p>
                  </a:txBody>
                  <a:tcPr>
                    <a:solidFill>
                      <a:schemeClr val="accent5"/>
                    </a:solidFill>
                  </a:tcPr>
                </a:tc>
                <a:extLst>
                  <a:ext uri="{0D108BD9-81ED-4DB2-BD59-A6C34878D82A}">
                    <a16:rowId xmlns:a16="http://schemas.microsoft.com/office/drawing/2014/main" val="710532333"/>
                  </a:ext>
                </a:extLst>
              </a:tr>
            </a:tbl>
          </a:graphicData>
        </a:graphic>
      </p:graphicFrame>
      <p:graphicFrame>
        <p:nvGraphicFramePr>
          <p:cNvPr id="4" name="Таблица 3"/>
          <p:cNvGraphicFramePr>
            <a:graphicFrameLocks noGrp="1"/>
          </p:cNvGraphicFramePr>
          <p:nvPr>
            <p:extLst>
              <p:ext uri="{D42A27DB-BD31-4B8C-83A1-F6EECF244321}">
                <p14:modId xmlns:p14="http://schemas.microsoft.com/office/powerpoint/2010/main" val="462286201"/>
              </p:ext>
            </p:extLst>
          </p:nvPr>
        </p:nvGraphicFramePr>
        <p:xfrm>
          <a:off x="865413" y="2899363"/>
          <a:ext cx="5110843" cy="701040"/>
        </p:xfrm>
        <a:graphic>
          <a:graphicData uri="http://schemas.openxmlformats.org/drawingml/2006/table">
            <a:tbl>
              <a:tblPr firstRow="1" bandRow="1">
                <a:tableStyleId>{5C22544A-7EE6-4342-B048-85BDC9FD1C3A}</a:tableStyleId>
              </a:tblPr>
              <a:tblGrid>
                <a:gridCol w="5110843">
                  <a:extLst>
                    <a:ext uri="{9D8B030D-6E8A-4147-A177-3AD203B41FA5}">
                      <a16:colId xmlns:a16="http://schemas.microsoft.com/office/drawing/2014/main" val="965019359"/>
                    </a:ext>
                  </a:extLst>
                </a:gridCol>
              </a:tblGrid>
              <a:tr h="671325">
                <a:tc>
                  <a:txBody>
                    <a:bodyPr/>
                    <a:lstStyle/>
                    <a:p>
                      <a:r>
                        <a:rPr lang="ru-RU" sz="2000" dirty="0" smtClean="0">
                          <a:solidFill>
                            <a:schemeClr val="tx1"/>
                          </a:solidFill>
                        </a:rPr>
                        <a:t>телефон:</a:t>
                      </a:r>
                      <a:r>
                        <a:rPr lang="ru-RU" sz="2000" baseline="0" dirty="0" smtClean="0">
                          <a:solidFill>
                            <a:schemeClr val="tx1"/>
                          </a:solidFill>
                        </a:rPr>
                        <a:t> </a:t>
                      </a:r>
                      <a:r>
                        <a:rPr lang="ru-RU" sz="2000" dirty="0" smtClean="0">
                          <a:solidFill>
                            <a:schemeClr val="tx1"/>
                          </a:solidFill>
                        </a:rPr>
                        <a:t>+7(9……….______________________________</a:t>
                      </a:r>
                      <a:endParaRPr lang="ru-RU" sz="2000" dirty="0">
                        <a:solidFill>
                          <a:schemeClr val="tx1"/>
                        </a:solidFill>
                      </a:endParaRPr>
                    </a:p>
                  </a:txBody>
                  <a:tcPr>
                    <a:solidFill>
                      <a:schemeClr val="accent5"/>
                    </a:solidFill>
                  </a:tcPr>
                </a:tc>
                <a:extLst>
                  <a:ext uri="{0D108BD9-81ED-4DB2-BD59-A6C34878D82A}">
                    <a16:rowId xmlns:a16="http://schemas.microsoft.com/office/drawing/2014/main" val="2120408282"/>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2183002379"/>
              </p:ext>
            </p:extLst>
          </p:nvPr>
        </p:nvGraphicFramePr>
        <p:xfrm>
          <a:off x="881742" y="4968192"/>
          <a:ext cx="5110842" cy="552441"/>
        </p:xfrm>
        <a:graphic>
          <a:graphicData uri="http://schemas.openxmlformats.org/drawingml/2006/table">
            <a:tbl>
              <a:tblPr firstRow="1" bandRow="1">
                <a:tableStyleId>{5C22544A-7EE6-4342-B048-85BDC9FD1C3A}</a:tableStyleId>
              </a:tblPr>
              <a:tblGrid>
                <a:gridCol w="5110842">
                  <a:extLst>
                    <a:ext uri="{9D8B030D-6E8A-4147-A177-3AD203B41FA5}">
                      <a16:colId xmlns:a16="http://schemas.microsoft.com/office/drawing/2014/main" val="3861809439"/>
                    </a:ext>
                  </a:extLst>
                </a:gridCol>
              </a:tblGrid>
              <a:tr h="552441">
                <a:tc>
                  <a:txBody>
                    <a:bodyPr/>
                    <a:lstStyle/>
                    <a:p>
                      <a:r>
                        <a:rPr kumimoji="0" lang="ru-RU" sz="2000" b="1" i="0" u="none" strike="noStrike" kern="1200" cap="none" spc="0" normalizeH="0" baseline="0" noProof="0" dirty="0" smtClean="0">
                          <a:ln>
                            <a:noFill/>
                          </a:ln>
                          <a:solidFill>
                            <a:prstClr val="black"/>
                          </a:solidFill>
                          <a:effectLst/>
                          <a:uLnTx/>
                          <a:uFillTx/>
                          <a:latin typeface="+mn-lt"/>
                          <a:ea typeface="+mn-ea"/>
                          <a:cs typeface="+mn-cs"/>
                        </a:rPr>
                        <a:t>Дата рождения </a:t>
                      </a:r>
                      <a:r>
                        <a:rPr lang="ru-RU" sz="2000" dirty="0" smtClean="0">
                          <a:solidFill>
                            <a:schemeClr val="tx1"/>
                          </a:solidFill>
                        </a:rPr>
                        <a:t>________________________</a:t>
                      </a:r>
                      <a:endParaRPr lang="ru-RU" sz="2000" dirty="0">
                        <a:solidFill>
                          <a:schemeClr val="tx1"/>
                        </a:solidFill>
                      </a:endParaRPr>
                    </a:p>
                  </a:txBody>
                  <a:tcPr>
                    <a:solidFill>
                      <a:schemeClr val="accent5"/>
                    </a:solidFill>
                  </a:tcPr>
                </a:tc>
                <a:extLst>
                  <a:ext uri="{0D108BD9-81ED-4DB2-BD59-A6C34878D82A}">
                    <a16:rowId xmlns:a16="http://schemas.microsoft.com/office/drawing/2014/main" val="1077989737"/>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462978292"/>
              </p:ext>
            </p:extLst>
          </p:nvPr>
        </p:nvGraphicFramePr>
        <p:xfrm>
          <a:off x="881742" y="3711922"/>
          <a:ext cx="5110842" cy="1166047"/>
        </p:xfrm>
        <a:graphic>
          <a:graphicData uri="http://schemas.openxmlformats.org/drawingml/2006/table">
            <a:tbl>
              <a:tblPr firstRow="1" bandRow="1">
                <a:tableStyleId>{5C22544A-7EE6-4342-B048-85BDC9FD1C3A}</a:tableStyleId>
              </a:tblPr>
              <a:tblGrid>
                <a:gridCol w="5110842">
                  <a:extLst>
                    <a:ext uri="{9D8B030D-6E8A-4147-A177-3AD203B41FA5}">
                      <a16:colId xmlns:a16="http://schemas.microsoft.com/office/drawing/2014/main" val="4088784356"/>
                    </a:ext>
                  </a:extLst>
                </a:gridCol>
              </a:tblGrid>
              <a:tr h="1166047">
                <a:tc>
                  <a:txBody>
                    <a:bodyPr/>
                    <a:lstStyle/>
                    <a:p>
                      <a:r>
                        <a:rPr lang="ru-RU" sz="2000" dirty="0" smtClean="0">
                          <a:solidFill>
                            <a:schemeClr val="tx1"/>
                          </a:solidFill>
                        </a:rPr>
                        <a:t>Электронная почта:</a:t>
                      </a:r>
                    </a:p>
                    <a:p>
                      <a:r>
                        <a:rPr lang="ru-RU" sz="2000" dirty="0" err="1" smtClean="0">
                          <a:solidFill>
                            <a:schemeClr val="tx1"/>
                          </a:solidFill>
                        </a:rPr>
                        <a:t>служебная_____________________________личная</a:t>
                      </a:r>
                      <a:r>
                        <a:rPr lang="ru-RU" sz="2000" baseline="0" dirty="0" smtClean="0">
                          <a:solidFill>
                            <a:schemeClr val="tx1"/>
                          </a:solidFill>
                        </a:rPr>
                        <a:t>       </a:t>
                      </a:r>
                      <a:r>
                        <a:rPr lang="ru-RU" sz="2000" dirty="0" smtClean="0">
                          <a:solidFill>
                            <a:schemeClr val="tx1"/>
                          </a:solidFill>
                        </a:rPr>
                        <a:t>_____________________________</a:t>
                      </a:r>
                      <a:endParaRPr lang="ru-RU" sz="2000" dirty="0">
                        <a:solidFill>
                          <a:schemeClr val="tx1"/>
                        </a:solidFill>
                      </a:endParaRPr>
                    </a:p>
                  </a:txBody>
                  <a:tcPr>
                    <a:solidFill>
                      <a:schemeClr val="accent5"/>
                    </a:solidFill>
                  </a:tcPr>
                </a:tc>
                <a:extLst>
                  <a:ext uri="{0D108BD9-81ED-4DB2-BD59-A6C34878D82A}">
                    <a16:rowId xmlns:a16="http://schemas.microsoft.com/office/drawing/2014/main" val="2247805997"/>
                  </a:ext>
                </a:extLst>
              </a:tr>
            </a:tbl>
          </a:graphicData>
        </a:graphic>
      </p:graphicFrame>
      <p:graphicFrame>
        <p:nvGraphicFramePr>
          <p:cNvPr id="7" name="Таблица 6"/>
          <p:cNvGraphicFramePr>
            <a:graphicFrameLocks noGrp="1"/>
          </p:cNvGraphicFramePr>
          <p:nvPr>
            <p:extLst>
              <p:ext uri="{D42A27DB-BD31-4B8C-83A1-F6EECF244321}">
                <p14:modId xmlns:p14="http://schemas.microsoft.com/office/powerpoint/2010/main" val="303871501"/>
              </p:ext>
            </p:extLst>
          </p:nvPr>
        </p:nvGraphicFramePr>
        <p:xfrm>
          <a:off x="865413" y="6712711"/>
          <a:ext cx="5110843" cy="826247"/>
        </p:xfrm>
        <a:graphic>
          <a:graphicData uri="http://schemas.openxmlformats.org/drawingml/2006/table">
            <a:tbl>
              <a:tblPr firstRow="1" bandRow="1">
                <a:tableStyleId>{5C22544A-7EE6-4342-B048-85BDC9FD1C3A}</a:tableStyleId>
              </a:tblPr>
              <a:tblGrid>
                <a:gridCol w="5110843">
                  <a:extLst>
                    <a:ext uri="{9D8B030D-6E8A-4147-A177-3AD203B41FA5}">
                      <a16:colId xmlns:a16="http://schemas.microsoft.com/office/drawing/2014/main" val="2528004365"/>
                    </a:ext>
                  </a:extLst>
                </a:gridCol>
              </a:tblGrid>
              <a:tr h="826247">
                <a:tc>
                  <a:txBody>
                    <a:bodyPr/>
                    <a:lstStyle/>
                    <a:p>
                      <a:r>
                        <a:rPr kumimoji="0" lang="ru-RU" sz="2000" b="1" i="0" u="none" strike="noStrike" kern="1200" cap="none" spc="0" normalizeH="0" baseline="0" noProof="0" dirty="0" smtClean="0">
                          <a:ln>
                            <a:noFill/>
                          </a:ln>
                          <a:solidFill>
                            <a:prstClr val="black"/>
                          </a:solidFill>
                          <a:effectLst/>
                          <a:uLnTx/>
                          <a:uFillTx/>
                          <a:latin typeface="+mn-lt"/>
                          <a:ea typeface="+mn-ea"/>
                          <a:cs typeface="+mn-cs"/>
                        </a:rPr>
                        <a:t>Предприятие, компания________________ Отдел (группа)</a:t>
                      </a:r>
                      <a:r>
                        <a:rPr lang="ru-RU" sz="2000" dirty="0" smtClean="0">
                          <a:solidFill>
                            <a:schemeClr val="tx1"/>
                          </a:solidFill>
                        </a:rPr>
                        <a:t>__________________________</a:t>
                      </a:r>
                      <a:endParaRPr lang="ru-RU" sz="2000" dirty="0">
                        <a:solidFill>
                          <a:schemeClr val="tx1"/>
                        </a:solidFill>
                      </a:endParaRPr>
                    </a:p>
                  </a:txBody>
                  <a:tcPr>
                    <a:solidFill>
                      <a:schemeClr val="accent5"/>
                    </a:solidFill>
                  </a:tcPr>
                </a:tc>
                <a:extLst>
                  <a:ext uri="{0D108BD9-81ED-4DB2-BD59-A6C34878D82A}">
                    <a16:rowId xmlns:a16="http://schemas.microsoft.com/office/drawing/2014/main" val="3328151957"/>
                  </a:ext>
                </a:extLst>
              </a:tr>
            </a:tbl>
          </a:graphicData>
        </a:graphic>
      </p:graphicFrame>
      <p:sp>
        <p:nvSpPr>
          <p:cNvPr id="8" name="Блок-схема: узел 7"/>
          <p:cNvSpPr/>
          <p:nvPr/>
        </p:nvSpPr>
        <p:spPr>
          <a:xfrm>
            <a:off x="4609421" y="1487661"/>
            <a:ext cx="1273628" cy="121583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smtClean="0">
                <a:ln>
                  <a:noFill/>
                </a:ln>
                <a:solidFill>
                  <a:prstClr val="white"/>
                </a:solidFill>
                <a:effectLst/>
                <a:uLnTx/>
                <a:uFillTx/>
                <a:latin typeface="Calibri" panose="020F0502020204030204"/>
                <a:ea typeface="+mn-ea"/>
                <a:cs typeface="+mn-cs"/>
              </a:rPr>
              <a:t>фото</a:t>
            </a: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Диагональная полоса 8"/>
          <p:cNvSpPr/>
          <p:nvPr/>
        </p:nvSpPr>
        <p:spPr>
          <a:xfrm>
            <a:off x="1094013" y="1637890"/>
            <a:ext cx="440871" cy="496389"/>
          </a:xfrm>
          <a:prstGeom prst="diagStrip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Стрелка влево 10"/>
          <p:cNvSpPr/>
          <p:nvPr/>
        </p:nvSpPr>
        <p:spPr>
          <a:xfrm>
            <a:off x="636813" y="556808"/>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2" name="Таблица 11"/>
          <p:cNvGraphicFramePr>
            <a:graphicFrameLocks noGrp="1"/>
          </p:cNvGraphicFramePr>
          <p:nvPr>
            <p:extLst>
              <p:ext uri="{D42A27DB-BD31-4B8C-83A1-F6EECF244321}">
                <p14:modId xmlns:p14="http://schemas.microsoft.com/office/powerpoint/2010/main" val="3084080776"/>
              </p:ext>
            </p:extLst>
          </p:nvPr>
        </p:nvGraphicFramePr>
        <p:xfrm>
          <a:off x="881741" y="5617250"/>
          <a:ext cx="5110843" cy="701040"/>
        </p:xfrm>
        <a:graphic>
          <a:graphicData uri="http://schemas.openxmlformats.org/drawingml/2006/table">
            <a:tbl>
              <a:tblPr firstRow="1" bandRow="1">
                <a:tableStyleId>{5C22544A-7EE6-4342-B048-85BDC9FD1C3A}</a:tableStyleId>
              </a:tblPr>
              <a:tblGrid>
                <a:gridCol w="5110843">
                  <a:extLst>
                    <a:ext uri="{9D8B030D-6E8A-4147-A177-3AD203B41FA5}">
                      <a16:colId xmlns:a16="http://schemas.microsoft.com/office/drawing/2014/main" val="965019359"/>
                    </a:ext>
                  </a:extLst>
                </a:gridCol>
              </a:tblGrid>
              <a:tr h="665853">
                <a:tc>
                  <a:txBody>
                    <a:bodyPr/>
                    <a:lstStyle/>
                    <a:p>
                      <a:r>
                        <a:rPr kumimoji="0" lang="ru-RU" sz="2000" b="1" i="0" u="none" strike="noStrike" kern="1200" cap="none" spc="0" normalizeH="0" baseline="0" noProof="0" dirty="0" smtClean="0">
                          <a:ln>
                            <a:noFill/>
                          </a:ln>
                          <a:solidFill>
                            <a:prstClr val="black"/>
                          </a:solidFill>
                          <a:effectLst/>
                          <a:uLnTx/>
                          <a:uFillTx/>
                          <a:latin typeface="+mn-lt"/>
                          <a:ea typeface="+mn-ea"/>
                          <a:cs typeface="+mn-cs"/>
                        </a:rPr>
                        <a:t>ФИО участника (если анонимно-Ник) </a:t>
                      </a:r>
                      <a:r>
                        <a:rPr lang="ru-RU" sz="2000" dirty="0" smtClean="0">
                          <a:solidFill>
                            <a:schemeClr val="tx1"/>
                          </a:solidFill>
                        </a:rPr>
                        <a:t>______________________________________</a:t>
                      </a:r>
                      <a:endParaRPr lang="ru-RU" sz="2000" dirty="0">
                        <a:solidFill>
                          <a:schemeClr val="tx1"/>
                        </a:solidFill>
                      </a:endParaRPr>
                    </a:p>
                  </a:txBody>
                  <a:tcPr>
                    <a:solidFill>
                      <a:schemeClr val="accent5"/>
                    </a:solidFill>
                  </a:tcPr>
                </a:tc>
                <a:extLst>
                  <a:ext uri="{0D108BD9-81ED-4DB2-BD59-A6C34878D82A}">
                    <a16:rowId xmlns:a16="http://schemas.microsoft.com/office/drawing/2014/main" val="2120408282"/>
                  </a:ext>
                </a:extLst>
              </a:tr>
            </a:tbl>
          </a:graphicData>
        </a:graphic>
      </p:graphicFrame>
      <p:graphicFrame>
        <p:nvGraphicFramePr>
          <p:cNvPr id="13" name="Таблица 12"/>
          <p:cNvGraphicFramePr>
            <a:graphicFrameLocks noGrp="1"/>
          </p:cNvGraphicFramePr>
          <p:nvPr>
            <p:extLst>
              <p:ext uri="{D42A27DB-BD31-4B8C-83A1-F6EECF244321}">
                <p14:modId xmlns:p14="http://schemas.microsoft.com/office/powerpoint/2010/main" val="1439889680"/>
              </p:ext>
            </p:extLst>
          </p:nvPr>
        </p:nvGraphicFramePr>
        <p:xfrm>
          <a:off x="865413" y="7666410"/>
          <a:ext cx="5078184" cy="934937"/>
        </p:xfrm>
        <a:graphic>
          <a:graphicData uri="http://schemas.openxmlformats.org/drawingml/2006/table">
            <a:tbl>
              <a:tblPr firstRow="1" bandRow="1">
                <a:tableStyleId>{5C22544A-7EE6-4342-B048-85BDC9FD1C3A}</a:tableStyleId>
              </a:tblPr>
              <a:tblGrid>
                <a:gridCol w="5078184">
                  <a:extLst>
                    <a:ext uri="{9D8B030D-6E8A-4147-A177-3AD203B41FA5}">
                      <a16:colId xmlns:a16="http://schemas.microsoft.com/office/drawing/2014/main" val="2528004365"/>
                    </a:ext>
                  </a:extLst>
                </a:gridCol>
              </a:tblGrid>
              <a:tr h="934937">
                <a:tc>
                  <a:txBody>
                    <a:bodyPr/>
                    <a:lstStyle/>
                    <a:p>
                      <a:r>
                        <a:rPr lang="ru-RU" sz="2000" dirty="0" smtClean="0">
                          <a:solidFill>
                            <a:schemeClr val="tx1"/>
                          </a:solidFill>
                        </a:rPr>
                        <a:t>Должность__________________________________________________________________</a:t>
                      </a:r>
                      <a:endParaRPr lang="ru-RU" sz="2000" dirty="0">
                        <a:solidFill>
                          <a:schemeClr val="tx1"/>
                        </a:solidFill>
                      </a:endParaRPr>
                    </a:p>
                  </a:txBody>
                  <a:tcPr>
                    <a:solidFill>
                      <a:schemeClr val="accent5"/>
                    </a:solidFill>
                  </a:tcPr>
                </a:tc>
                <a:extLst>
                  <a:ext uri="{0D108BD9-81ED-4DB2-BD59-A6C34878D82A}">
                    <a16:rowId xmlns:a16="http://schemas.microsoft.com/office/drawing/2014/main" val="3328151957"/>
                  </a:ext>
                </a:extLst>
              </a:tr>
            </a:tbl>
          </a:graphicData>
        </a:graphic>
      </p:graphicFrame>
      <p:graphicFrame>
        <p:nvGraphicFramePr>
          <p:cNvPr id="14" name="Таблица 13"/>
          <p:cNvGraphicFramePr>
            <a:graphicFrameLocks noGrp="1"/>
          </p:cNvGraphicFramePr>
          <p:nvPr>
            <p:extLst>
              <p:ext uri="{D42A27DB-BD31-4B8C-83A1-F6EECF244321}">
                <p14:modId xmlns:p14="http://schemas.microsoft.com/office/powerpoint/2010/main" val="1899732169"/>
              </p:ext>
            </p:extLst>
          </p:nvPr>
        </p:nvGraphicFramePr>
        <p:xfrm>
          <a:off x="881742" y="9735398"/>
          <a:ext cx="5094515" cy="2085644"/>
        </p:xfrm>
        <a:graphic>
          <a:graphicData uri="http://schemas.openxmlformats.org/drawingml/2006/table">
            <a:tbl>
              <a:tblPr firstRow="1" bandRow="1">
                <a:tableStyleId>{5C22544A-7EE6-4342-B048-85BDC9FD1C3A}</a:tableStyleId>
              </a:tblPr>
              <a:tblGrid>
                <a:gridCol w="5094515">
                  <a:extLst>
                    <a:ext uri="{9D8B030D-6E8A-4147-A177-3AD203B41FA5}">
                      <a16:colId xmlns:a16="http://schemas.microsoft.com/office/drawing/2014/main" val="965019359"/>
                    </a:ext>
                  </a:extLst>
                </a:gridCol>
              </a:tblGrid>
              <a:tr h="2085644">
                <a:tc>
                  <a:txBody>
                    <a:bodyPr/>
                    <a:lstStyle/>
                    <a:p>
                      <a:pPr algn="ctr"/>
                      <a:r>
                        <a:rPr lang="ru-RU" sz="2400" dirty="0" smtClean="0">
                          <a:solidFill>
                            <a:schemeClr val="tx1"/>
                          </a:solidFill>
                        </a:rPr>
                        <a:t>Анонимно</a:t>
                      </a:r>
                    </a:p>
                    <a:p>
                      <a:pPr algn="ctr"/>
                      <a:r>
                        <a:rPr lang="ru-RU" sz="2000" dirty="0" smtClean="0">
                          <a:solidFill>
                            <a:schemeClr val="tx1"/>
                          </a:solidFill>
                        </a:rPr>
                        <a:t>(при данном</a:t>
                      </a:r>
                      <a:r>
                        <a:rPr lang="ru-RU" sz="2000" baseline="0" dirty="0" smtClean="0">
                          <a:solidFill>
                            <a:schemeClr val="tx1"/>
                          </a:solidFill>
                        </a:rPr>
                        <a:t> варианте отправки сообщений свои </a:t>
                      </a:r>
                      <a:r>
                        <a:rPr lang="ru-RU" sz="2000" dirty="0" smtClean="0">
                          <a:solidFill>
                            <a:schemeClr val="tx1"/>
                          </a:solidFill>
                        </a:rPr>
                        <a:t>персональные данные вносить не требуется. Создайте свой Ник, логин,</a:t>
                      </a:r>
                      <a:r>
                        <a:rPr lang="ru-RU" sz="2000" baseline="0" dirty="0" smtClean="0">
                          <a:solidFill>
                            <a:schemeClr val="tx1"/>
                          </a:solidFill>
                        </a:rPr>
                        <a:t> пароль ,</a:t>
                      </a:r>
                      <a:r>
                        <a:rPr lang="ru-RU" sz="2000" dirty="0" smtClean="0">
                          <a:solidFill>
                            <a:schemeClr val="tx1"/>
                          </a:solidFill>
                        </a:rPr>
                        <a:t> нажмите данную кнопку и далее кнопку</a:t>
                      </a:r>
                    </a:p>
                  </a:txBody>
                  <a:tcPr>
                    <a:solidFill>
                      <a:srgbClr val="00B050"/>
                    </a:solidFill>
                  </a:tcPr>
                </a:tc>
                <a:extLst>
                  <a:ext uri="{0D108BD9-81ED-4DB2-BD59-A6C34878D82A}">
                    <a16:rowId xmlns:a16="http://schemas.microsoft.com/office/drawing/2014/main" val="2120408282"/>
                  </a:ext>
                </a:extLst>
              </a:tr>
            </a:tbl>
          </a:graphicData>
        </a:graphic>
      </p:graphicFrame>
      <p:sp>
        <p:nvSpPr>
          <p:cNvPr id="15" name="5-конечная звезда 14"/>
          <p:cNvSpPr/>
          <p:nvPr/>
        </p:nvSpPr>
        <p:spPr>
          <a:xfrm>
            <a:off x="2622097" y="1581828"/>
            <a:ext cx="424543" cy="489373"/>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0" name="Рисунок 9"/>
          <p:cNvPicPr>
            <a:picLocks noChangeAspect="1"/>
          </p:cNvPicPr>
          <p:nvPr/>
        </p:nvPicPr>
        <p:blipFill>
          <a:blip r:embed="rId2"/>
          <a:stretch>
            <a:fillRect/>
          </a:stretch>
        </p:blipFill>
        <p:spPr>
          <a:xfrm>
            <a:off x="5848352" y="11130122"/>
            <a:ext cx="602341" cy="690920"/>
          </a:xfrm>
          <a:prstGeom prst="rect">
            <a:avLst/>
          </a:prstGeom>
        </p:spPr>
      </p:pic>
      <p:sp>
        <p:nvSpPr>
          <p:cNvPr id="16" name="Прямоугольник 15"/>
          <p:cNvSpPr/>
          <p:nvPr/>
        </p:nvSpPr>
        <p:spPr>
          <a:xfrm>
            <a:off x="865413" y="8728800"/>
            <a:ext cx="5078184" cy="966474"/>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ru-RU" sz="2000" dirty="0">
                <a:solidFill>
                  <a:prstClr val="black"/>
                </a:solidFill>
              </a:rPr>
              <a:t>Логин____________________</a:t>
            </a:r>
          </a:p>
          <a:p>
            <a:pPr lvl="0" algn="ctr"/>
            <a:r>
              <a:rPr lang="ru-RU" sz="2000" dirty="0">
                <a:solidFill>
                  <a:prstClr val="black"/>
                </a:solidFill>
              </a:rPr>
              <a:t>Пароль___________________</a:t>
            </a:r>
          </a:p>
        </p:txBody>
      </p:sp>
      <p:sp>
        <p:nvSpPr>
          <p:cNvPr id="17" name="Прямоугольник 16"/>
          <p:cNvSpPr/>
          <p:nvPr/>
        </p:nvSpPr>
        <p:spPr>
          <a:xfrm>
            <a:off x="4163785" y="11332028"/>
            <a:ext cx="1593397" cy="439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r>
              <a:rPr lang="ru-RU" sz="2000" b="1" dirty="0">
                <a:solidFill>
                  <a:prstClr val="black"/>
                </a:solidFill>
              </a:rPr>
              <a:t>«сохранить»</a:t>
            </a:r>
          </a:p>
        </p:txBody>
      </p:sp>
    </p:spTree>
    <p:extLst>
      <p:ext uri="{BB962C8B-B14F-4D97-AF65-F5344CB8AC3E}">
        <p14:creationId xmlns:p14="http://schemas.microsoft.com/office/powerpoint/2010/main" val="33814124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87137" y="473528"/>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ru-RU" sz="3600" b="1" dirty="0" smtClean="0">
              <a:solidFill>
                <a:schemeClr val="tx1"/>
              </a:solidFill>
            </a:endParaRPr>
          </a:p>
          <a:p>
            <a:pPr algn="ctr"/>
            <a:r>
              <a:rPr lang="ru-RU" sz="3600" b="1" dirty="0" smtClean="0">
                <a:solidFill>
                  <a:schemeClr val="tx1"/>
                </a:solidFill>
              </a:rPr>
              <a:t>НАСТРОЙКИ</a:t>
            </a:r>
            <a:endParaRPr lang="ru-RU" sz="3600" b="1" dirty="0">
              <a:solidFill>
                <a:schemeClr val="tx1"/>
              </a:solidFill>
            </a:endParaRPr>
          </a:p>
        </p:txBody>
      </p:sp>
      <p:graphicFrame>
        <p:nvGraphicFramePr>
          <p:cNvPr id="5" name="Таблица 4"/>
          <p:cNvGraphicFramePr>
            <a:graphicFrameLocks noGrp="1"/>
          </p:cNvGraphicFramePr>
          <p:nvPr>
            <p:extLst>
              <p:ext uri="{D42A27DB-BD31-4B8C-83A1-F6EECF244321}">
                <p14:modId xmlns:p14="http://schemas.microsoft.com/office/powerpoint/2010/main" val="844487470"/>
              </p:ext>
            </p:extLst>
          </p:nvPr>
        </p:nvGraphicFramePr>
        <p:xfrm>
          <a:off x="734786" y="1857376"/>
          <a:ext cx="5587147" cy="1243020"/>
        </p:xfrm>
        <a:graphic>
          <a:graphicData uri="http://schemas.openxmlformats.org/drawingml/2006/table">
            <a:tbl>
              <a:tblPr firstRow="1" bandRow="1">
                <a:tableStyleId>{5C22544A-7EE6-4342-B048-85BDC9FD1C3A}</a:tableStyleId>
              </a:tblPr>
              <a:tblGrid>
                <a:gridCol w="5587147">
                  <a:extLst>
                    <a:ext uri="{9D8B030D-6E8A-4147-A177-3AD203B41FA5}">
                      <a16:colId xmlns:a16="http://schemas.microsoft.com/office/drawing/2014/main" val="781837115"/>
                    </a:ext>
                  </a:extLst>
                </a:gridCol>
              </a:tblGrid>
              <a:tr h="1243020">
                <a:tc>
                  <a:txBody>
                    <a:bodyPr/>
                    <a:lstStyle/>
                    <a:p>
                      <a:pPr algn="ctr"/>
                      <a:r>
                        <a:rPr lang="ru-RU" sz="2800" dirty="0" smtClean="0">
                          <a:solidFill>
                            <a:schemeClr val="tx1"/>
                          </a:solidFill>
                        </a:rPr>
                        <a:t>Уведомления</a:t>
                      </a:r>
                    </a:p>
                    <a:p>
                      <a:pPr algn="ctr"/>
                      <a:r>
                        <a:rPr lang="ru-RU" sz="1600" dirty="0" smtClean="0">
                          <a:solidFill>
                            <a:schemeClr val="tx1"/>
                          </a:solidFill>
                        </a:rPr>
                        <a:t>Звуки </a:t>
                      </a:r>
                      <a:r>
                        <a:rPr lang="ru-RU" sz="1600" baseline="0" dirty="0" smtClean="0">
                          <a:solidFill>
                            <a:schemeClr val="tx1"/>
                          </a:solidFill>
                        </a:rPr>
                        <a:t>сообщений, уведомлений, (</a:t>
                      </a:r>
                      <a:r>
                        <a:rPr kumimoji="0" lang="ru-RU" sz="1600" b="1" i="0" u="none" strike="noStrike" kern="1200" cap="none" spc="0" normalizeH="0" baseline="0" noProof="0" dirty="0" smtClean="0">
                          <a:ln>
                            <a:noFill/>
                          </a:ln>
                          <a:solidFill>
                            <a:prstClr val="black"/>
                          </a:solidFill>
                          <a:effectLst/>
                          <a:uLnTx/>
                          <a:uFillTx/>
                          <a:latin typeface="+mn-lt"/>
                          <a:ea typeface="+mn-ea"/>
                          <a:cs typeface="+mn-cs"/>
                        </a:rPr>
                        <a:t>звонков) </a:t>
                      </a:r>
                      <a:endParaRPr lang="ru-RU" sz="16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3" name="Таблица 2"/>
          <p:cNvGraphicFramePr>
            <a:graphicFrameLocks noGrp="1"/>
          </p:cNvGraphicFramePr>
          <p:nvPr>
            <p:extLst/>
          </p:nvPr>
        </p:nvGraphicFramePr>
        <p:xfrm>
          <a:off x="734786" y="3422879"/>
          <a:ext cx="5587147" cy="1042990"/>
        </p:xfrm>
        <a:graphic>
          <a:graphicData uri="http://schemas.openxmlformats.org/drawingml/2006/table">
            <a:tbl>
              <a:tblPr firstRow="1" bandRow="1">
                <a:tableStyleId>{5C22544A-7EE6-4342-B048-85BDC9FD1C3A}</a:tableStyleId>
              </a:tblPr>
              <a:tblGrid>
                <a:gridCol w="5587147">
                  <a:extLst>
                    <a:ext uri="{9D8B030D-6E8A-4147-A177-3AD203B41FA5}">
                      <a16:colId xmlns:a16="http://schemas.microsoft.com/office/drawing/2014/main" val="1857328191"/>
                    </a:ext>
                  </a:extLst>
                </a:gridCol>
              </a:tblGrid>
              <a:tr h="1042990">
                <a:tc>
                  <a:txBody>
                    <a:bodyPr/>
                    <a:lstStyle/>
                    <a:p>
                      <a:pPr algn="ctr"/>
                      <a:r>
                        <a:rPr lang="ru-RU" sz="2800" dirty="0" smtClean="0">
                          <a:solidFill>
                            <a:schemeClr val="tx1"/>
                          </a:solidFill>
                        </a:rPr>
                        <a:t>Язык</a:t>
                      </a:r>
                      <a:r>
                        <a:rPr lang="ru-RU" sz="2800" baseline="0" dirty="0" smtClean="0">
                          <a:solidFill>
                            <a:schemeClr val="tx1"/>
                          </a:solidFill>
                        </a:rPr>
                        <a:t> приложения</a:t>
                      </a:r>
                    </a:p>
                    <a:p>
                      <a:pPr algn="ctr"/>
                      <a:r>
                        <a:rPr lang="ru-RU" sz="1800" baseline="0" dirty="0" smtClean="0">
                          <a:solidFill>
                            <a:schemeClr val="tx1"/>
                          </a:solidFill>
                        </a:rPr>
                        <a:t>русский</a:t>
                      </a:r>
                      <a:endParaRPr lang="ru-RU" sz="1800" dirty="0" smtClean="0">
                        <a:solidFill>
                          <a:schemeClr val="tx1"/>
                        </a:solidFill>
                      </a:endParaRPr>
                    </a:p>
                  </a:txBody>
                  <a:tcPr/>
                </a:tc>
                <a:extLst>
                  <a:ext uri="{0D108BD9-81ED-4DB2-BD59-A6C34878D82A}">
                    <a16:rowId xmlns:a16="http://schemas.microsoft.com/office/drawing/2014/main" val="4283676598"/>
                  </a:ext>
                </a:extLst>
              </a:tr>
            </a:tbl>
          </a:graphicData>
        </a:graphic>
      </p:graphicFrame>
      <p:graphicFrame>
        <p:nvGraphicFramePr>
          <p:cNvPr id="11" name="Таблица 10"/>
          <p:cNvGraphicFramePr>
            <a:graphicFrameLocks noGrp="1"/>
          </p:cNvGraphicFramePr>
          <p:nvPr>
            <p:extLst/>
          </p:nvPr>
        </p:nvGraphicFramePr>
        <p:xfrm>
          <a:off x="734786" y="6243638"/>
          <a:ext cx="5587149" cy="1420586"/>
        </p:xfrm>
        <a:graphic>
          <a:graphicData uri="http://schemas.openxmlformats.org/drawingml/2006/table">
            <a:tbl>
              <a:tblPr firstRow="1" bandRow="1">
                <a:tableStyleId>{5C22544A-7EE6-4342-B048-85BDC9FD1C3A}</a:tableStyleId>
              </a:tblPr>
              <a:tblGrid>
                <a:gridCol w="5587149">
                  <a:extLst>
                    <a:ext uri="{9D8B030D-6E8A-4147-A177-3AD203B41FA5}">
                      <a16:colId xmlns:a16="http://schemas.microsoft.com/office/drawing/2014/main" val="1857328191"/>
                    </a:ext>
                  </a:extLst>
                </a:gridCol>
              </a:tblGrid>
              <a:tr h="1420586">
                <a:tc>
                  <a:txBody>
                    <a:bodyPr/>
                    <a:lstStyle/>
                    <a:p>
                      <a:pPr algn="ctr"/>
                      <a:endParaRPr lang="ru-RU" sz="2000" dirty="0" smtClean="0">
                        <a:solidFill>
                          <a:schemeClr val="tx1"/>
                        </a:solidFill>
                      </a:endParaRPr>
                    </a:p>
                    <a:p>
                      <a:pPr algn="ctr"/>
                      <a:r>
                        <a:rPr lang="ru-RU" sz="2800" dirty="0" smtClean="0">
                          <a:solidFill>
                            <a:schemeClr val="tx1"/>
                          </a:solidFill>
                        </a:rPr>
                        <a:t>Оформление, цвет</a:t>
                      </a:r>
                    </a:p>
                  </a:txBody>
                  <a:tcPr/>
                </a:tc>
                <a:extLst>
                  <a:ext uri="{0D108BD9-81ED-4DB2-BD59-A6C34878D82A}">
                    <a16:rowId xmlns:a16="http://schemas.microsoft.com/office/drawing/2014/main" val="4283676598"/>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2070834024"/>
              </p:ext>
            </p:extLst>
          </p:nvPr>
        </p:nvGraphicFramePr>
        <p:xfrm>
          <a:off x="734785" y="4788352"/>
          <a:ext cx="5587147" cy="1208315"/>
        </p:xfrm>
        <a:graphic>
          <a:graphicData uri="http://schemas.openxmlformats.org/drawingml/2006/table">
            <a:tbl>
              <a:tblPr firstRow="1" bandRow="1">
                <a:tableStyleId>{5C22544A-7EE6-4342-B048-85BDC9FD1C3A}</a:tableStyleId>
              </a:tblPr>
              <a:tblGrid>
                <a:gridCol w="5587147">
                  <a:extLst>
                    <a:ext uri="{9D8B030D-6E8A-4147-A177-3AD203B41FA5}">
                      <a16:colId xmlns:a16="http://schemas.microsoft.com/office/drawing/2014/main" val="1857328191"/>
                    </a:ext>
                  </a:extLst>
                </a:gridCol>
              </a:tblGrid>
              <a:tr h="1208315">
                <a:tc>
                  <a:txBody>
                    <a:bodyPr/>
                    <a:lstStyle/>
                    <a:p>
                      <a:pPr algn="ctr"/>
                      <a:endParaRPr lang="ru-RU" sz="2000" dirty="0" smtClean="0">
                        <a:solidFill>
                          <a:schemeClr val="tx1"/>
                        </a:solidFill>
                      </a:endParaRPr>
                    </a:p>
                    <a:p>
                      <a:pPr algn="ctr"/>
                      <a:r>
                        <a:rPr lang="ru-RU" sz="2800" dirty="0" smtClean="0">
                          <a:solidFill>
                            <a:schemeClr val="tx1"/>
                          </a:solidFill>
                        </a:rPr>
                        <a:t>Клавиатура, шрифт</a:t>
                      </a:r>
                      <a:endParaRPr lang="ru-RU" sz="2800" dirty="0">
                        <a:solidFill>
                          <a:schemeClr val="tx1"/>
                        </a:solidFill>
                      </a:endParaRPr>
                    </a:p>
                  </a:txBody>
                  <a:tcPr/>
                </a:tc>
                <a:extLst>
                  <a:ext uri="{0D108BD9-81ED-4DB2-BD59-A6C34878D82A}">
                    <a16:rowId xmlns:a16="http://schemas.microsoft.com/office/drawing/2014/main" val="4283676598"/>
                  </a:ext>
                </a:extLst>
              </a:tr>
            </a:tbl>
          </a:graphicData>
        </a:graphic>
      </p:graphicFrame>
      <p:sp>
        <p:nvSpPr>
          <p:cNvPr id="7" name="Стрелка влево 6"/>
          <p:cNvSpPr/>
          <p:nvPr/>
        </p:nvSpPr>
        <p:spPr>
          <a:xfrm>
            <a:off x="538842" y="1138948"/>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Блок-схема: узел 11"/>
          <p:cNvSpPr/>
          <p:nvPr/>
        </p:nvSpPr>
        <p:spPr>
          <a:xfrm>
            <a:off x="953824" y="2123740"/>
            <a:ext cx="708903" cy="71029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Блок-схема: узел 12"/>
          <p:cNvSpPr/>
          <p:nvPr/>
        </p:nvSpPr>
        <p:spPr>
          <a:xfrm>
            <a:off x="953824" y="3599429"/>
            <a:ext cx="708903" cy="71029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15" name="Таблица 14"/>
          <p:cNvGraphicFramePr>
            <a:graphicFrameLocks noGrp="1"/>
          </p:cNvGraphicFramePr>
          <p:nvPr>
            <p:extLst/>
          </p:nvPr>
        </p:nvGraphicFramePr>
        <p:xfrm>
          <a:off x="734786" y="7878537"/>
          <a:ext cx="5587149" cy="1420586"/>
        </p:xfrm>
        <a:graphic>
          <a:graphicData uri="http://schemas.openxmlformats.org/drawingml/2006/table">
            <a:tbl>
              <a:tblPr firstRow="1" bandRow="1">
                <a:tableStyleId>{5C22544A-7EE6-4342-B048-85BDC9FD1C3A}</a:tableStyleId>
              </a:tblPr>
              <a:tblGrid>
                <a:gridCol w="5587149">
                  <a:extLst>
                    <a:ext uri="{9D8B030D-6E8A-4147-A177-3AD203B41FA5}">
                      <a16:colId xmlns:a16="http://schemas.microsoft.com/office/drawing/2014/main" val="1857328191"/>
                    </a:ext>
                  </a:extLst>
                </a:gridCol>
              </a:tblGrid>
              <a:tr h="1420586">
                <a:tc>
                  <a:txBody>
                    <a:bodyPr/>
                    <a:lstStyle/>
                    <a:p>
                      <a:pPr algn="ctr"/>
                      <a:endParaRPr lang="ru-RU" sz="2000" dirty="0" smtClean="0">
                        <a:solidFill>
                          <a:schemeClr val="tx1"/>
                        </a:solidFill>
                      </a:endParaRPr>
                    </a:p>
                    <a:p>
                      <a:pPr algn="ctr"/>
                      <a:r>
                        <a:rPr lang="ru-RU" sz="2800" dirty="0" smtClean="0">
                          <a:solidFill>
                            <a:schemeClr val="tx1"/>
                          </a:solidFill>
                        </a:rPr>
                        <a:t>Помощь</a:t>
                      </a:r>
                    </a:p>
                    <a:p>
                      <a:pPr algn="ctr"/>
                      <a:r>
                        <a:rPr lang="ru-RU" sz="2000" dirty="0" smtClean="0">
                          <a:solidFill>
                            <a:schemeClr val="tx1"/>
                          </a:solidFill>
                        </a:rPr>
                        <a:t>техподдержка</a:t>
                      </a:r>
                    </a:p>
                  </a:txBody>
                  <a:tcPr/>
                </a:tc>
                <a:extLst>
                  <a:ext uri="{0D108BD9-81ED-4DB2-BD59-A6C34878D82A}">
                    <a16:rowId xmlns:a16="http://schemas.microsoft.com/office/drawing/2014/main" val="4283676598"/>
                  </a:ext>
                </a:extLst>
              </a:tr>
            </a:tbl>
          </a:graphicData>
        </a:graphic>
      </p:graphicFrame>
      <p:sp>
        <p:nvSpPr>
          <p:cNvPr id="16" name="Блок-схема: узел 15"/>
          <p:cNvSpPr/>
          <p:nvPr/>
        </p:nvSpPr>
        <p:spPr>
          <a:xfrm>
            <a:off x="1054580" y="8233684"/>
            <a:ext cx="708903" cy="71029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Блок-схема: узел 17"/>
          <p:cNvSpPr/>
          <p:nvPr/>
        </p:nvSpPr>
        <p:spPr>
          <a:xfrm>
            <a:off x="996042" y="5005733"/>
            <a:ext cx="708903" cy="71029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Блок-схема: узел 18"/>
          <p:cNvSpPr/>
          <p:nvPr/>
        </p:nvSpPr>
        <p:spPr>
          <a:xfrm>
            <a:off x="996042" y="6582456"/>
            <a:ext cx="708903" cy="710292"/>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4" name="Рисунок 3"/>
          <p:cNvPicPr>
            <a:picLocks noChangeAspect="1"/>
          </p:cNvPicPr>
          <p:nvPr/>
        </p:nvPicPr>
        <p:blipFill>
          <a:blip r:embed="rId2"/>
          <a:stretch>
            <a:fillRect/>
          </a:stretch>
        </p:blipFill>
        <p:spPr>
          <a:xfrm>
            <a:off x="6047548" y="11452043"/>
            <a:ext cx="548767" cy="629468"/>
          </a:xfrm>
          <a:prstGeom prst="rect">
            <a:avLst/>
          </a:prstGeom>
        </p:spPr>
      </p:pic>
    </p:spTree>
    <p:extLst>
      <p:ext uri="{BB962C8B-B14F-4D97-AF65-F5344CB8AC3E}">
        <p14:creationId xmlns:p14="http://schemas.microsoft.com/office/powerpoint/2010/main" val="427187781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87137" y="473528"/>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3600" b="1"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600" b="1" i="0" u="none" strike="noStrike" kern="1200" cap="none" spc="0" normalizeH="0" baseline="0" noProof="0" dirty="0" smtClean="0">
                <a:ln>
                  <a:noFill/>
                </a:ln>
                <a:solidFill>
                  <a:prstClr val="black"/>
                </a:solidFill>
                <a:effectLst/>
                <a:uLnTx/>
                <a:uFillTx/>
                <a:latin typeface="Calibri" panose="020F0502020204030204"/>
                <a:ea typeface="+mn-ea"/>
                <a:cs typeface="+mn-cs"/>
              </a:rPr>
              <a:t>КОНТАКТЫ</a:t>
            </a:r>
            <a:endParaRPr kumimoji="0" lang="ru-RU" sz="3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Таблица 4"/>
          <p:cNvGraphicFramePr>
            <a:graphicFrameLocks noGrp="1"/>
          </p:cNvGraphicFramePr>
          <p:nvPr>
            <p:extLst>
              <p:ext uri="{D42A27DB-BD31-4B8C-83A1-F6EECF244321}">
                <p14:modId xmlns:p14="http://schemas.microsoft.com/office/powerpoint/2010/main" val="500947684"/>
              </p:ext>
            </p:extLst>
          </p:nvPr>
        </p:nvGraphicFramePr>
        <p:xfrm>
          <a:off x="571500" y="2139043"/>
          <a:ext cx="5750433" cy="914400"/>
        </p:xfrm>
        <a:graphic>
          <a:graphicData uri="http://schemas.openxmlformats.org/drawingml/2006/table">
            <a:tbl>
              <a:tblPr firstRow="1" bandRow="1">
                <a:tableStyleId>{5C22544A-7EE6-4342-B048-85BDC9FD1C3A}</a:tableStyleId>
              </a:tblPr>
              <a:tblGrid>
                <a:gridCol w="5750433">
                  <a:extLst>
                    <a:ext uri="{9D8B030D-6E8A-4147-A177-3AD203B41FA5}">
                      <a16:colId xmlns:a16="http://schemas.microsoft.com/office/drawing/2014/main" val="781837115"/>
                    </a:ext>
                  </a:extLst>
                </a:gridCol>
              </a:tblGrid>
              <a:tr h="914400">
                <a:tc>
                  <a:txBody>
                    <a:bodyPr/>
                    <a:lstStyle/>
                    <a:p>
                      <a:pPr algn="ctr"/>
                      <a:r>
                        <a:rPr lang="ru-RU" sz="2800" dirty="0" smtClean="0">
                          <a:solidFill>
                            <a:schemeClr val="tx1"/>
                          </a:solidFill>
                        </a:rPr>
                        <a:t>Мое предприятие</a:t>
                      </a:r>
                      <a:endParaRPr lang="ru-RU" sz="28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3" name="Таблица 2"/>
          <p:cNvGraphicFramePr>
            <a:graphicFrameLocks noGrp="1"/>
          </p:cNvGraphicFramePr>
          <p:nvPr>
            <p:extLst>
              <p:ext uri="{D42A27DB-BD31-4B8C-83A1-F6EECF244321}">
                <p14:modId xmlns:p14="http://schemas.microsoft.com/office/powerpoint/2010/main" val="963096719"/>
              </p:ext>
            </p:extLst>
          </p:nvPr>
        </p:nvGraphicFramePr>
        <p:xfrm>
          <a:off x="571500" y="3298371"/>
          <a:ext cx="5750433" cy="1012372"/>
        </p:xfrm>
        <a:graphic>
          <a:graphicData uri="http://schemas.openxmlformats.org/drawingml/2006/table">
            <a:tbl>
              <a:tblPr firstRow="1" bandRow="1">
                <a:tableStyleId>{5C22544A-7EE6-4342-B048-85BDC9FD1C3A}</a:tableStyleId>
              </a:tblPr>
              <a:tblGrid>
                <a:gridCol w="5750433">
                  <a:extLst>
                    <a:ext uri="{9D8B030D-6E8A-4147-A177-3AD203B41FA5}">
                      <a16:colId xmlns:a16="http://schemas.microsoft.com/office/drawing/2014/main" val="1857328191"/>
                    </a:ext>
                  </a:extLst>
                </a:gridCol>
              </a:tblGrid>
              <a:tr h="1012372">
                <a:tc>
                  <a:txBody>
                    <a:bodyPr/>
                    <a:lstStyle/>
                    <a:p>
                      <a:pPr algn="ctr"/>
                      <a:endParaRPr lang="ru-RU" sz="2000" dirty="0" smtClean="0">
                        <a:solidFill>
                          <a:schemeClr val="tx1"/>
                        </a:solidFill>
                      </a:endParaRPr>
                    </a:p>
                    <a:p>
                      <a:pPr algn="ctr"/>
                      <a:r>
                        <a:rPr lang="ru-RU" sz="2800" dirty="0" smtClean="0">
                          <a:solidFill>
                            <a:schemeClr val="tx1"/>
                          </a:solidFill>
                        </a:rPr>
                        <a:t>Смежные</a:t>
                      </a:r>
                      <a:r>
                        <a:rPr lang="ru-RU" sz="2800" baseline="0" dirty="0" smtClean="0">
                          <a:solidFill>
                            <a:schemeClr val="tx1"/>
                          </a:solidFill>
                        </a:rPr>
                        <a:t> предприятия</a:t>
                      </a:r>
                      <a:endParaRPr lang="ru-RU" sz="2800" dirty="0">
                        <a:solidFill>
                          <a:schemeClr val="tx1"/>
                        </a:solidFill>
                      </a:endParaRPr>
                    </a:p>
                  </a:txBody>
                  <a:tcPr/>
                </a:tc>
                <a:extLst>
                  <a:ext uri="{0D108BD9-81ED-4DB2-BD59-A6C34878D82A}">
                    <a16:rowId xmlns:a16="http://schemas.microsoft.com/office/drawing/2014/main" val="4283676598"/>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3212775043"/>
              </p:ext>
            </p:extLst>
          </p:nvPr>
        </p:nvGraphicFramePr>
        <p:xfrm>
          <a:off x="620486" y="4555671"/>
          <a:ext cx="5701447" cy="1208315"/>
        </p:xfrm>
        <a:graphic>
          <a:graphicData uri="http://schemas.openxmlformats.org/drawingml/2006/table">
            <a:tbl>
              <a:tblPr firstRow="1" bandRow="1">
                <a:tableStyleId>{5C22544A-7EE6-4342-B048-85BDC9FD1C3A}</a:tableStyleId>
              </a:tblPr>
              <a:tblGrid>
                <a:gridCol w="5701447">
                  <a:extLst>
                    <a:ext uri="{9D8B030D-6E8A-4147-A177-3AD203B41FA5}">
                      <a16:colId xmlns:a16="http://schemas.microsoft.com/office/drawing/2014/main" val="1857328191"/>
                    </a:ext>
                  </a:extLst>
                </a:gridCol>
              </a:tblGrid>
              <a:tr h="1208315">
                <a:tc>
                  <a:txBody>
                    <a:bodyPr/>
                    <a:lstStyle/>
                    <a:p>
                      <a:pPr algn="ctr"/>
                      <a:endParaRPr lang="ru-RU" sz="2000" dirty="0" smtClean="0">
                        <a:solidFill>
                          <a:schemeClr val="tx1"/>
                        </a:solidFill>
                      </a:endParaRPr>
                    </a:p>
                    <a:p>
                      <a:pPr algn="ctr"/>
                      <a:r>
                        <a:rPr lang="ru-RU" sz="2800" baseline="0" dirty="0" smtClean="0">
                          <a:solidFill>
                            <a:schemeClr val="tx1"/>
                          </a:solidFill>
                        </a:rPr>
                        <a:t>Клиенты, </a:t>
                      </a:r>
                      <a:r>
                        <a:rPr kumimoji="0" lang="ru-RU" sz="2800" b="1" i="0" u="none" strike="noStrike" kern="1200" cap="none" spc="0" normalizeH="0" baseline="0" noProof="0" dirty="0" smtClean="0">
                          <a:ln>
                            <a:noFill/>
                          </a:ln>
                          <a:solidFill>
                            <a:prstClr val="black"/>
                          </a:solidFill>
                          <a:effectLst/>
                          <a:uLnTx/>
                          <a:uFillTx/>
                          <a:latin typeface="+mn-lt"/>
                          <a:ea typeface="+mn-ea"/>
                          <a:cs typeface="+mn-cs"/>
                        </a:rPr>
                        <a:t>потребители</a:t>
                      </a:r>
                      <a:endParaRPr lang="ru-RU" sz="2800" dirty="0">
                        <a:solidFill>
                          <a:schemeClr val="tx1"/>
                        </a:solidFill>
                      </a:endParaRPr>
                    </a:p>
                  </a:txBody>
                  <a:tcPr/>
                </a:tc>
                <a:extLst>
                  <a:ext uri="{0D108BD9-81ED-4DB2-BD59-A6C34878D82A}">
                    <a16:rowId xmlns:a16="http://schemas.microsoft.com/office/drawing/2014/main" val="4283676598"/>
                  </a:ext>
                </a:extLst>
              </a:tr>
            </a:tbl>
          </a:graphicData>
        </a:graphic>
      </p:graphicFrame>
      <p:sp>
        <p:nvSpPr>
          <p:cNvPr id="7" name="Стрелка влево 6"/>
          <p:cNvSpPr/>
          <p:nvPr/>
        </p:nvSpPr>
        <p:spPr>
          <a:xfrm>
            <a:off x="538842" y="1138948"/>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Рисунок 3"/>
          <p:cNvPicPr>
            <a:picLocks noChangeAspect="1"/>
          </p:cNvPicPr>
          <p:nvPr/>
        </p:nvPicPr>
        <p:blipFill>
          <a:blip r:embed="rId2"/>
          <a:stretch>
            <a:fillRect/>
          </a:stretch>
        </p:blipFill>
        <p:spPr>
          <a:xfrm>
            <a:off x="6031221" y="11367230"/>
            <a:ext cx="581424" cy="666927"/>
          </a:xfrm>
          <a:prstGeom prst="rect">
            <a:avLst/>
          </a:prstGeom>
        </p:spPr>
      </p:pic>
    </p:spTree>
    <p:extLst>
      <p:ext uri="{BB962C8B-B14F-4D97-AF65-F5344CB8AC3E}">
        <p14:creationId xmlns:p14="http://schemas.microsoft.com/office/powerpoint/2010/main" val="32890164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36124" y="310243"/>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3600" b="1"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lvl="0" algn="ctr" defTabSz="685800"/>
            <a:r>
              <a:rPr lang="ru-RU" sz="3600" b="1" dirty="0" smtClean="0">
                <a:solidFill>
                  <a:prstClr val="black"/>
                </a:solidFill>
              </a:rPr>
              <a:t>ПОМОЩЬ</a:t>
            </a:r>
          </a:p>
          <a:p>
            <a:pPr lvl="0" algn="ctr" defTabSz="685800"/>
            <a:r>
              <a:rPr lang="ru-RU" sz="2400" b="1" dirty="0" smtClean="0">
                <a:solidFill>
                  <a:prstClr val="black"/>
                </a:solidFill>
              </a:rPr>
              <a:t>техподдержка</a:t>
            </a:r>
            <a:endParaRPr lang="ru-RU" sz="2400" b="1" dirty="0">
              <a:solidFill>
                <a:prstClr val="black"/>
              </a:solidFill>
            </a:endParaRPr>
          </a:p>
        </p:txBody>
      </p:sp>
      <p:sp>
        <p:nvSpPr>
          <p:cNvPr id="7" name="Стрелка влево 6"/>
          <p:cNvSpPr/>
          <p:nvPr/>
        </p:nvSpPr>
        <p:spPr>
          <a:xfrm>
            <a:off x="538842" y="1138948"/>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4" name="Таблица 13"/>
          <p:cNvGraphicFramePr>
            <a:graphicFrameLocks noGrp="1"/>
          </p:cNvGraphicFramePr>
          <p:nvPr>
            <p:extLst>
              <p:ext uri="{D42A27DB-BD31-4B8C-83A1-F6EECF244321}">
                <p14:modId xmlns:p14="http://schemas.microsoft.com/office/powerpoint/2010/main" val="1182119179"/>
              </p:ext>
            </p:extLst>
          </p:nvPr>
        </p:nvGraphicFramePr>
        <p:xfrm>
          <a:off x="685800" y="2343152"/>
          <a:ext cx="5587149" cy="1420586"/>
        </p:xfrm>
        <a:graphic>
          <a:graphicData uri="http://schemas.openxmlformats.org/drawingml/2006/table">
            <a:tbl>
              <a:tblPr firstRow="1" bandRow="1">
                <a:tableStyleId>{5C22544A-7EE6-4342-B048-85BDC9FD1C3A}</a:tableStyleId>
              </a:tblPr>
              <a:tblGrid>
                <a:gridCol w="5587149">
                  <a:extLst>
                    <a:ext uri="{9D8B030D-6E8A-4147-A177-3AD203B41FA5}">
                      <a16:colId xmlns:a16="http://schemas.microsoft.com/office/drawing/2014/main" val="1857328191"/>
                    </a:ext>
                  </a:extLst>
                </a:gridCol>
              </a:tblGrid>
              <a:tr h="1420586">
                <a:tc>
                  <a:txBody>
                    <a:bodyPr/>
                    <a:lstStyle/>
                    <a:p>
                      <a:pPr algn="ctr"/>
                      <a:endParaRPr lang="ru-RU" sz="2000" dirty="0" smtClean="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4283676598"/>
                  </a:ext>
                </a:extLst>
              </a:tr>
            </a:tbl>
          </a:graphicData>
        </a:graphic>
      </p:graphicFrame>
      <p:sp>
        <p:nvSpPr>
          <p:cNvPr id="4" name="Прямоугольник 3"/>
          <p:cNvSpPr/>
          <p:nvPr/>
        </p:nvSpPr>
        <p:spPr>
          <a:xfrm>
            <a:off x="996041" y="2726871"/>
            <a:ext cx="5045529" cy="6449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dirty="0" smtClean="0">
                <a:solidFill>
                  <a:schemeClr val="tx1"/>
                </a:solidFill>
              </a:rPr>
              <a:t>Введите ваш вопрос</a:t>
            </a:r>
            <a:endParaRPr lang="ru-RU" sz="2400" b="1" dirty="0">
              <a:solidFill>
                <a:schemeClr val="tx1"/>
              </a:solidFill>
            </a:endParaRPr>
          </a:p>
        </p:txBody>
      </p:sp>
      <p:graphicFrame>
        <p:nvGraphicFramePr>
          <p:cNvPr id="17" name="Таблица 16"/>
          <p:cNvGraphicFramePr>
            <a:graphicFrameLocks noGrp="1"/>
          </p:cNvGraphicFramePr>
          <p:nvPr>
            <p:extLst>
              <p:ext uri="{D42A27DB-BD31-4B8C-83A1-F6EECF244321}">
                <p14:modId xmlns:p14="http://schemas.microsoft.com/office/powerpoint/2010/main" val="3202994348"/>
              </p:ext>
            </p:extLst>
          </p:nvPr>
        </p:nvGraphicFramePr>
        <p:xfrm>
          <a:off x="725230" y="4135210"/>
          <a:ext cx="5587149" cy="1420586"/>
        </p:xfrm>
        <a:graphic>
          <a:graphicData uri="http://schemas.openxmlformats.org/drawingml/2006/table">
            <a:tbl>
              <a:tblPr firstRow="1" bandRow="1">
                <a:tableStyleId>{5C22544A-7EE6-4342-B048-85BDC9FD1C3A}</a:tableStyleId>
              </a:tblPr>
              <a:tblGrid>
                <a:gridCol w="5587149">
                  <a:extLst>
                    <a:ext uri="{9D8B030D-6E8A-4147-A177-3AD203B41FA5}">
                      <a16:colId xmlns:a16="http://schemas.microsoft.com/office/drawing/2014/main" val="1857328191"/>
                    </a:ext>
                  </a:extLst>
                </a:gridCol>
              </a:tblGrid>
              <a:tr h="1420586">
                <a:tc>
                  <a:txBody>
                    <a:bodyPr/>
                    <a:lstStyle/>
                    <a:p>
                      <a:pPr algn="ctr"/>
                      <a:endParaRPr lang="ru-RU" sz="2000" dirty="0" smtClean="0">
                        <a:solidFill>
                          <a:schemeClr val="tx1"/>
                        </a:solidFill>
                      </a:endParaRPr>
                    </a:p>
                    <a:p>
                      <a:pPr algn="ctr"/>
                      <a:endParaRPr lang="ru-RU" sz="2000" dirty="0" smtClean="0">
                        <a:solidFill>
                          <a:schemeClr val="tx1"/>
                        </a:solidFill>
                      </a:endParaRPr>
                    </a:p>
                    <a:p>
                      <a:pPr algn="ctr"/>
                      <a:r>
                        <a:rPr lang="ru-RU" sz="2400" dirty="0" smtClean="0">
                          <a:solidFill>
                            <a:schemeClr val="tx1"/>
                          </a:solidFill>
                        </a:rPr>
                        <a:t>История обращений </a:t>
                      </a:r>
                    </a:p>
                  </a:txBody>
                  <a:tcPr/>
                </a:tc>
                <a:extLst>
                  <a:ext uri="{0D108BD9-81ED-4DB2-BD59-A6C34878D82A}">
                    <a16:rowId xmlns:a16="http://schemas.microsoft.com/office/drawing/2014/main" val="4283676598"/>
                  </a:ext>
                </a:extLst>
              </a:tr>
            </a:tbl>
          </a:graphicData>
        </a:graphic>
      </p:graphicFrame>
      <p:pic>
        <p:nvPicPr>
          <p:cNvPr id="3" name="Рисунок 2"/>
          <p:cNvPicPr>
            <a:picLocks noChangeAspect="1"/>
          </p:cNvPicPr>
          <p:nvPr/>
        </p:nvPicPr>
        <p:blipFill>
          <a:blip r:embed="rId2"/>
          <a:stretch>
            <a:fillRect/>
          </a:stretch>
        </p:blipFill>
        <p:spPr>
          <a:xfrm>
            <a:off x="5982039" y="11136086"/>
            <a:ext cx="640583" cy="734786"/>
          </a:xfrm>
          <a:prstGeom prst="rect">
            <a:avLst/>
          </a:prstGeom>
        </p:spPr>
      </p:pic>
      <p:sp>
        <p:nvSpPr>
          <p:cNvPr id="5" name="Стрелка вниз 4"/>
          <p:cNvSpPr/>
          <p:nvPr/>
        </p:nvSpPr>
        <p:spPr>
          <a:xfrm>
            <a:off x="5597553" y="3530319"/>
            <a:ext cx="391884" cy="4191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4222760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Прямоугольник 1"/>
          <p:cNvSpPr/>
          <p:nvPr/>
        </p:nvSpPr>
        <p:spPr>
          <a:xfrm>
            <a:off x="287137" y="473528"/>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3600" b="1"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ru-RU" sz="2800" b="1" dirty="0" smtClean="0">
                <a:solidFill>
                  <a:prstClr val="black"/>
                </a:solidFill>
                <a:latin typeface="Calibri" panose="020F0502020204030204"/>
              </a:rPr>
              <a:t>База всех идей, предложений</a:t>
            </a:r>
          </a:p>
          <a:p>
            <a:pPr marL="0" marR="0" lvl="0" indent="0" algn="ctr" defTabSz="457200" rtl="0" eaLnBrk="1" fontAlgn="auto" latinLnBrk="0" hangingPunct="1">
              <a:lnSpc>
                <a:spcPct val="100000"/>
              </a:lnSpc>
              <a:spcBef>
                <a:spcPts val="0"/>
              </a:spcBef>
              <a:spcAft>
                <a:spcPts val="0"/>
              </a:spcAft>
              <a:buClrTx/>
              <a:buSzTx/>
              <a:buFontTx/>
              <a:buNone/>
              <a:tabLst/>
              <a:defRPr/>
            </a:pPr>
            <a:r>
              <a:rPr lang="ru-RU" sz="2800" b="1" dirty="0" smtClean="0">
                <a:solidFill>
                  <a:prstClr val="black"/>
                </a:solidFill>
                <a:latin typeface="Calibri" panose="020F0502020204030204"/>
              </a:rPr>
              <a:t> нашего предприятия, к</a:t>
            </a:r>
            <a:r>
              <a:rPr kumimoji="0" lang="ru-RU" sz="2800" b="1" i="0" u="none" strike="noStrike" kern="1200" cap="none" spc="0" normalizeH="0" baseline="0" noProof="0" dirty="0" err="1" smtClean="0">
                <a:ln>
                  <a:noFill/>
                </a:ln>
                <a:solidFill>
                  <a:prstClr val="black"/>
                </a:solidFill>
                <a:effectLst/>
                <a:uLnTx/>
                <a:uFillTx/>
                <a:latin typeface="Calibri" panose="020F0502020204030204"/>
                <a:ea typeface="+mn-ea"/>
                <a:cs typeface="+mn-cs"/>
              </a:rPr>
              <a:t>лиентов</a:t>
            </a:r>
            <a:r>
              <a:rPr lang="ru-RU" sz="2800" b="1" dirty="0">
                <a:solidFill>
                  <a:prstClr val="black"/>
                </a:solidFill>
                <a:latin typeface="Calibri" panose="020F0502020204030204"/>
              </a:rPr>
              <a:t> </a:t>
            </a:r>
            <a:r>
              <a:rPr lang="ru-RU" sz="2800" b="1" dirty="0" smtClean="0">
                <a:solidFill>
                  <a:prstClr val="black"/>
                </a:solidFill>
                <a:latin typeface="Calibri" panose="020F0502020204030204"/>
              </a:rPr>
              <a:t>, смежных</a:t>
            </a:r>
            <a:r>
              <a:rPr kumimoji="0" lang="ru-RU" sz="2800" b="1" i="0" u="none" strike="noStrike" kern="1200" cap="none" spc="0" normalizeH="0" baseline="0" noProof="0" dirty="0" smtClean="0">
                <a:ln>
                  <a:noFill/>
                </a:ln>
                <a:solidFill>
                  <a:prstClr val="black"/>
                </a:solidFill>
                <a:effectLst/>
                <a:uLnTx/>
                <a:uFillTx/>
                <a:latin typeface="Calibri" panose="020F0502020204030204"/>
                <a:ea typeface="+mn-ea"/>
                <a:cs typeface="+mn-cs"/>
              </a:rPr>
              <a:t> предприятий</a:t>
            </a:r>
            <a:endParaRPr kumimoji="0" lang="ru-RU" sz="2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Таблица 4"/>
          <p:cNvGraphicFramePr>
            <a:graphicFrameLocks noGrp="1"/>
          </p:cNvGraphicFramePr>
          <p:nvPr>
            <p:extLst>
              <p:ext uri="{D42A27DB-BD31-4B8C-83A1-F6EECF244321}">
                <p14:modId xmlns:p14="http://schemas.microsoft.com/office/powerpoint/2010/main" val="3221500766"/>
              </p:ext>
            </p:extLst>
          </p:nvPr>
        </p:nvGraphicFramePr>
        <p:xfrm>
          <a:off x="538833" y="2808515"/>
          <a:ext cx="5783091" cy="1981200"/>
        </p:xfrm>
        <a:graphic>
          <a:graphicData uri="http://schemas.openxmlformats.org/drawingml/2006/table">
            <a:tbl>
              <a:tblPr firstRow="1" bandRow="1">
                <a:tableStyleId>{5C22544A-7EE6-4342-B048-85BDC9FD1C3A}</a:tableStyleId>
              </a:tblPr>
              <a:tblGrid>
                <a:gridCol w="5783091">
                  <a:extLst>
                    <a:ext uri="{9D8B030D-6E8A-4147-A177-3AD203B41FA5}">
                      <a16:colId xmlns:a16="http://schemas.microsoft.com/office/drawing/2014/main" val="781837115"/>
                    </a:ext>
                  </a:extLst>
                </a:gridCol>
              </a:tblGrid>
              <a:tr h="1801954">
                <a:tc>
                  <a:txBody>
                    <a:bodyPr/>
                    <a:lstStyle/>
                    <a:p>
                      <a:pPr algn="ctr"/>
                      <a:r>
                        <a:rPr lang="ru-RU" sz="2800" dirty="0" smtClean="0">
                          <a:solidFill>
                            <a:schemeClr val="tx1"/>
                          </a:solidFill>
                        </a:rPr>
                        <a:t>Нашего</a:t>
                      </a:r>
                      <a:r>
                        <a:rPr lang="ru-RU" sz="2800" baseline="0" dirty="0" smtClean="0">
                          <a:solidFill>
                            <a:schemeClr val="tx1"/>
                          </a:solidFill>
                        </a:rPr>
                        <a:t> предприятия</a:t>
                      </a:r>
                      <a:endParaRPr lang="ru-RU" sz="2800" dirty="0" smtClean="0">
                        <a:solidFill>
                          <a:schemeClr val="tx1"/>
                        </a:solidFill>
                      </a:endParaRPr>
                    </a:p>
                    <a:p>
                      <a:pPr algn="ctr"/>
                      <a:r>
                        <a:rPr lang="ru-RU" sz="2400" dirty="0" smtClean="0">
                          <a:solidFill>
                            <a:schemeClr val="tx1"/>
                          </a:solidFill>
                        </a:rPr>
                        <a:t>№1</a:t>
                      </a:r>
                      <a:r>
                        <a:rPr lang="ru-RU" sz="2400" baseline="0" dirty="0" smtClean="0">
                          <a:solidFill>
                            <a:schemeClr val="tx1"/>
                          </a:solidFill>
                        </a:rPr>
                        <a:t> 23</a:t>
                      </a:r>
                      <a:r>
                        <a:rPr lang="ru-RU" sz="2400" dirty="0" smtClean="0">
                          <a:solidFill>
                            <a:schemeClr val="tx1"/>
                          </a:solidFill>
                        </a:rPr>
                        <a:t>.07.2026 12.47 </a:t>
                      </a:r>
                      <a:r>
                        <a:rPr lang="ru-RU" sz="2400" dirty="0" err="1" smtClean="0">
                          <a:solidFill>
                            <a:schemeClr val="tx1"/>
                          </a:solidFill>
                        </a:rPr>
                        <a:t>бухг</a:t>
                      </a:r>
                      <a:r>
                        <a:rPr lang="ru-RU" sz="2400" dirty="0" smtClean="0">
                          <a:solidFill>
                            <a:schemeClr val="tx1"/>
                          </a:solidFill>
                        </a:rPr>
                        <a:t> УМТ Носова И.А.</a:t>
                      </a:r>
                    </a:p>
                    <a:p>
                      <a:pPr algn="ctr"/>
                      <a:r>
                        <a:rPr lang="ru-RU" sz="2400" dirty="0" smtClean="0">
                          <a:solidFill>
                            <a:schemeClr val="tx1"/>
                          </a:solidFill>
                        </a:rPr>
                        <a:t>№2 25.07.2026</a:t>
                      </a:r>
                      <a:r>
                        <a:rPr lang="ru-RU" sz="2400" baseline="0" dirty="0" smtClean="0">
                          <a:solidFill>
                            <a:schemeClr val="tx1"/>
                          </a:solidFill>
                        </a:rPr>
                        <a:t> 14:32 </a:t>
                      </a:r>
                      <a:r>
                        <a:rPr lang="ru-RU" sz="2400" baseline="0" dirty="0" err="1" smtClean="0">
                          <a:solidFill>
                            <a:schemeClr val="tx1"/>
                          </a:solidFill>
                        </a:rPr>
                        <a:t>инж</a:t>
                      </a:r>
                      <a:r>
                        <a:rPr lang="ru-RU" sz="2400" baseline="0" dirty="0" smtClean="0">
                          <a:solidFill>
                            <a:schemeClr val="tx1"/>
                          </a:solidFill>
                        </a:rPr>
                        <a:t> ОМТС Сергеев Н.В.</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3" name="Таблица 2"/>
          <p:cNvGraphicFramePr>
            <a:graphicFrameLocks noGrp="1"/>
          </p:cNvGraphicFramePr>
          <p:nvPr>
            <p:extLst>
              <p:ext uri="{D42A27DB-BD31-4B8C-83A1-F6EECF244321}">
                <p14:modId xmlns:p14="http://schemas.microsoft.com/office/powerpoint/2010/main" val="3101844373"/>
              </p:ext>
            </p:extLst>
          </p:nvPr>
        </p:nvGraphicFramePr>
        <p:xfrm>
          <a:off x="538834" y="7402286"/>
          <a:ext cx="5783090" cy="2362745"/>
        </p:xfrm>
        <a:graphic>
          <a:graphicData uri="http://schemas.openxmlformats.org/drawingml/2006/table">
            <a:tbl>
              <a:tblPr firstRow="1" bandRow="1">
                <a:tableStyleId>{5C22544A-7EE6-4342-B048-85BDC9FD1C3A}</a:tableStyleId>
              </a:tblPr>
              <a:tblGrid>
                <a:gridCol w="5783090">
                  <a:extLst>
                    <a:ext uri="{9D8B030D-6E8A-4147-A177-3AD203B41FA5}">
                      <a16:colId xmlns:a16="http://schemas.microsoft.com/office/drawing/2014/main" val="1857328191"/>
                    </a:ext>
                  </a:extLst>
                </a:gridCol>
              </a:tblGrid>
              <a:tr h="2362745">
                <a:tc>
                  <a:txBody>
                    <a:bodyPr/>
                    <a:lstStyle/>
                    <a:p>
                      <a:pPr algn="ctr"/>
                      <a:r>
                        <a:rPr lang="ru-RU" sz="2800" dirty="0" smtClean="0">
                          <a:solidFill>
                            <a:schemeClr val="tx1"/>
                          </a:solidFill>
                        </a:rPr>
                        <a:t>Клиентов предприятия</a:t>
                      </a:r>
                    </a:p>
                    <a:p>
                      <a:pPr algn="ctr"/>
                      <a:r>
                        <a:rPr lang="ru-RU" sz="2800" dirty="0" smtClean="0">
                          <a:solidFill>
                            <a:schemeClr val="tx1"/>
                          </a:solidFill>
                        </a:rPr>
                        <a:t>12.08.2025 20:17  ник «</a:t>
                      </a:r>
                      <a:r>
                        <a:rPr lang="ru-RU" sz="2800" dirty="0" err="1" smtClean="0">
                          <a:solidFill>
                            <a:schemeClr val="tx1"/>
                          </a:solidFill>
                        </a:rPr>
                        <a:t>Страйкер</a:t>
                      </a:r>
                      <a:r>
                        <a:rPr lang="ru-RU" sz="2800" dirty="0" smtClean="0">
                          <a:solidFill>
                            <a:schemeClr val="tx1"/>
                          </a:solidFill>
                        </a:rPr>
                        <a:t>»</a:t>
                      </a:r>
                    </a:p>
                    <a:p>
                      <a:pPr algn="ctr"/>
                      <a:r>
                        <a:rPr lang="ru-RU" sz="2800" dirty="0" smtClean="0">
                          <a:solidFill>
                            <a:schemeClr val="tx1"/>
                          </a:solidFill>
                        </a:rPr>
                        <a:t>15.08.2025  15.37</a:t>
                      </a:r>
                      <a:r>
                        <a:rPr lang="ru-RU" sz="2800" baseline="0" dirty="0" smtClean="0">
                          <a:solidFill>
                            <a:schemeClr val="tx1"/>
                          </a:solidFill>
                        </a:rPr>
                        <a:t> Иванов С.Н.</a:t>
                      </a:r>
                      <a:endParaRPr lang="ru-RU" sz="2800" dirty="0">
                        <a:solidFill>
                          <a:schemeClr val="tx1"/>
                        </a:solidFill>
                      </a:endParaRPr>
                    </a:p>
                  </a:txBody>
                  <a:tcPr/>
                </a:tc>
                <a:extLst>
                  <a:ext uri="{0D108BD9-81ED-4DB2-BD59-A6C34878D82A}">
                    <a16:rowId xmlns:a16="http://schemas.microsoft.com/office/drawing/2014/main" val="4283676598"/>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2696513863"/>
              </p:ext>
            </p:extLst>
          </p:nvPr>
        </p:nvGraphicFramePr>
        <p:xfrm>
          <a:off x="538833" y="5173436"/>
          <a:ext cx="5783091" cy="1845129"/>
        </p:xfrm>
        <a:graphic>
          <a:graphicData uri="http://schemas.openxmlformats.org/drawingml/2006/table">
            <a:tbl>
              <a:tblPr firstRow="1" bandRow="1">
                <a:tableStyleId>{5C22544A-7EE6-4342-B048-85BDC9FD1C3A}</a:tableStyleId>
              </a:tblPr>
              <a:tblGrid>
                <a:gridCol w="5783091">
                  <a:extLst>
                    <a:ext uri="{9D8B030D-6E8A-4147-A177-3AD203B41FA5}">
                      <a16:colId xmlns:a16="http://schemas.microsoft.com/office/drawing/2014/main" val="1857328191"/>
                    </a:ext>
                  </a:extLst>
                </a:gridCol>
              </a:tblGrid>
              <a:tr h="1845129">
                <a:tc>
                  <a:txBody>
                    <a:bodyPr/>
                    <a:lstStyle/>
                    <a:p>
                      <a:pPr algn="ctr"/>
                      <a:r>
                        <a:rPr lang="ru-RU" sz="2800" dirty="0" smtClean="0">
                          <a:solidFill>
                            <a:schemeClr val="tx1"/>
                          </a:solidFill>
                        </a:rPr>
                        <a:t>Смежных</a:t>
                      </a:r>
                      <a:r>
                        <a:rPr lang="ru-RU" sz="2800" baseline="0" dirty="0" smtClean="0">
                          <a:solidFill>
                            <a:schemeClr val="tx1"/>
                          </a:solidFill>
                        </a:rPr>
                        <a:t> п</a:t>
                      </a:r>
                      <a:r>
                        <a:rPr lang="ru-RU" sz="2800" dirty="0" smtClean="0">
                          <a:solidFill>
                            <a:schemeClr val="tx1"/>
                          </a:solidFill>
                        </a:rPr>
                        <a:t>редприятий</a:t>
                      </a:r>
                    </a:p>
                    <a:p>
                      <a:pPr algn="ctr"/>
                      <a:endParaRPr lang="ru-RU" sz="2800" dirty="0" smtClean="0">
                        <a:solidFill>
                          <a:schemeClr val="tx1"/>
                        </a:solidFill>
                      </a:endParaRPr>
                    </a:p>
                    <a:p>
                      <a:pPr algn="ctr"/>
                      <a:r>
                        <a:rPr lang="ru-RU" sz="2800" dirty="0" smtClean="0">
                          <a:solidFill>
                            <a:schemeClr val="tx1"/>
                          </a:solidFill>
                        </a:rPr>
                        <a:t>03.09.2025 12:27</a:t>
                      </a:r>
                      <a:r>
                        <a:rPr lang="ru-RU" sz="2800" baseline="0" dirty="0" smtClean="0">
                          <a:solidFill>
                            <a:schemeClr val="tx1"/>
                          </a:solidFill>
                        </a:rPr>
                        <a:t> Кавунов Э.О. инженер ЗАО «</a:t>
                      </a:r>
                      <a:r>
                        <a:rPr lang="ru-RU" sz="2800" baseline="0" dirty="0" err="1" smtClean="0">
                          <a:solidFill>
                            <a:schemeClr val="tx1"/>
                          </a:solidFill>
                        </a:rPr>
                        <a:t>Капстрой</a:t>
                      </a:r>
                      <a:r>
                        <a:rPr lang="ru-RU" sz="2800" baseline="0" dirty="0" smtClean="0">
                          <a:solidFill>
                            <a:schemeClr val="tx1"/>
                          </a:solidFill>
                        </a:rPr>
                        <a:t>»</a:t>
                      </a:r>
                      <a:endParaRPr lang="ru-RU" sz="2800" dirty="0" smtClean="0">
                        <a:solidFill>
                          <a:schemeClr val="tx1"/>
                        </a:solidFill>
                      </a:endParaRPr>
                    </a:p>
                  </a:txBody>
                  <a:tcPr/>
                </a:tc>
                <a:extLst>
                  <a:ext uri="{0D108BD9-81ED-4DB2-BD59-A6C34878D82A}">
                    <a16:rowId xmlns:a16="http://schemas.microsoft.com/office/drawing/2014/main" val="4283676598"/>
                  </a:ext>
                </a:extLst>
              </a:tr>
            </a:tbl>
          </a:graphicData>
        </a:graphic>
      </p:graphicFrame>
      <p:sp>
        <p:nvSpPr>
          <p:cNvPr id="7" name="Стрелка влево 6"/>
          <p:cNvSpPr/>
          <p:nvPr/>
        </p:nvSpPr>
        <p:spPr>
          <a:xfrm>
            <a:off x="538842" y="1138948"/>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Рисунок 3"/>
          <p:cNvPicPr>
            <a:picLocks noChangeAspect="1"/>
          </p:cNvPicPr>
          <p:nvPr/>
        </p:nvPicPr>
        <p:blipFill>
          <a:blip r:embed="rId2"/>
          <a:stretch>
            <a:fillRect/>
          </a:stretch>
        </p:blipFill>
        <p:spPr>
          <a:xfrm>
            <a:off x="5744508" y="11075674"/>
            <a:ext cx="829128" cy="951058"/>
          </a:xfrm>
          <a:prstGeom prst="rect">
            <a:avLst/>
          </a:prstGeom>
        </p:spPr>
      </p:pic>
    </p:spTree>
    <p:extLst>
      <p:ext uri="{BB962C8B-B14F-4D97-AF65-F5344CB8AC3E}">
        <p14:creationId xmlns:p14="http://schemas.microsoft.com/office/powerpoint/2010/main" val="270904856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21100" y="164559"/>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lang="ru-RU" sz="3200" b="1" dirty="0" smtClean="0">
                <a:solidFill>
                  <a:prstClr val="black"/>
                </a:solidFill>
                <a:latin typeface="Calibri" panose="020F0502020204030204"/>
              </a:rPr>
              <a:t>БАЗА </a:t>
            </a:r>
            <a:r>
              <a:rPr kumimoji="0" lang="ru-RU" sz="3200" b="1" i="0" u="none" strike="noStrike" kern="1200" cap="none" spc="0" normalizeH="0" baseline="0" noProof="0" dirty="0" smtClean="0">
                <a:ln>
                  <a:noFill/>
                </a:ln>
                <a:solidFill>
                  <a:prstClr val="black"/>
                </a:solidFill>
                <a:effectLst/>
                <a:uLnTx/>
                <a:uFillTx/>
                <a:latin typeface="Calibri" panose="020F0502020204030204"/>
                <a:ea typeface="+mn-ea"/>
                <a:cs typeface="+mn-cs"/>
              </a:rPr>
              <a:t>ПРЕДЛОЖЕНИЙ</a:t>
            </a:r>
            <a:endParaRPr kumimoji="0" lang="ru-RU" sz="3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Таблица 3"/>
          <p:cNvGraphicFramePr>
            <a:graphicFrameLocks noGrp="1"/>
          </p:cNvGraphicFramePr>
          <p:nvPr>
            <p:extLst>
              <p:ext uri="{D42A27DB-BD31-4B8C-83A1-F6EECF244321}">
                <p14:modId xmlns:p14="http://schemas.microsoft.com/office/powerpoint/2010/main" val="3308326689"/>
              </p:ext>
            </p:extLst>
          </p:nvPr>
        </p:nvGraphicFramePr>
        <p:xfrm>
          <a:off x="522513" y="1175657"/>
          <a:ext cx="5829300" cy="595996"/>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4096374418"/>
                    </a:ext>
                  </a:extLst>
                </a:gridCol>
                <a:gridCol w="2714536">
                  <a:extLst>
                    <a:ext uri="{9D8B030D-6E8A-4147-A177-3AD203B41FA5}">
                      <a16:colId xmlns:a16="http://schemas.microsoft.com/office/drawing/2014/main" val="3004465261"/>
                    </a:ext>
                  </a:extLst>
                </a:gridCol>
                <a:gridCol w="2906484">
                  <a:extLst>
                    <a:ext uri="{9D8B030D-6E8A-4147-A177-3AD203B41FA5}">
                      <a16:colId xmlns:a16="http://schemas.microsoft.com/office/drawing/2014/main" val="495450802"/>
                    </a:ext>
                  </a:extLst>
                </a:gridCol>
              </a:tblGrid>
              <a:tr h="595996">
                <a:tc>
                  <a:txBody>
                    <a:bodyPr/>
                    <a:lstStyle/>
                    <a:p>
                      <a:pPr algn="ctr"/>
                      <a:endParaRPr lang="ru-RU" sz="2400" dirty="0">
                        <a:solidFill>
                          <a:schemeClr val="tx1"/>
                        </a:solidFill>
                      </a:endParaRPr>
                    </a:p>
                  </a:txBody>
                  <a:tcPr anchor="ctr"/>
                </a:tc>
                <a:tc>
                  <a:txBody>
                    <a:bodyPr/>
                    <a:lstStyle/>
                    <a:p>
                      <a:pPr algn="ctr"/>
                      <a:r>
                        <a:rPr lang="ru-RU" sz="2400" dirty="0" smtClean="0">
                          <a:solidFill>
                            <a:schemeClr val="tx1"/>
                          </a:solidFill>
                        </a:rPr>
                        <a:t>ПРЕДПРИЯТИЯ</a:t>
                      </a:r>
                      <a:endParaRPr lang="ru-RU" sz="2400" dirty="0">
                        <a:solidFill>
                          <a:schemeClr val="tx1"/>
                        </a:solidFill>
                      </a:endParaRPr>
                    </a:p>
                  </a:txBody>
                  <a:tcPr anchor="ctr">
                    <a:solidFill>
                      <a:srgbClr val="FFC000"/>
                    </a:solidFill>
                  </a:tcPr>
                </a:tc>
                <a:tc>
                  <a:txBody>
                    <a:bodyPr/>
                    <a:lstStyle/>
                    <a:p>
                      <a:pPr algn="ctr"/>
                      <a:r>
                        <a:rPr lang="ru-RU" sz="2400" dirty="0" smtClean="0">
                          <a:solidFill>
                            <a:schemeClr val="tx1"/>
                          </a:solidFill>
                        </a:rPr>
                        <a:t>КЛИЕНТЫ</a:t>
                      </a:r>
                      <a:endParaRPr lang="ru-RU" sz="2400" dirty="0">
                        <a:solidFill>
                          <a:schemeClr val="tx1"/>
                        </a:solidFill>
                      </a:endParaRPr>
                    </a:p>
                  </a:txBody>
                  <a:tcPr anchor="ct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ext uri="{D42A27DB-BD31-4B8C-83A1-F6EECF244321}">
                <p14:modId xmlns:p14="http://schemas.microsoft.com/office/powerpoint/2010/main" val="1251371311"/>
              </p:ext>
            </p:extLst>
          </p:nvPr>
        </p:nvGraphicFramePr>
        <p:xfrm>
          <a:off x="522513" y="1910443"/>
          <a:ext cx="3886201" cy="457200"/>
        </p:xfrm>
        <a:graphic>
          <a:graphicData uri="http://schemas.openxmlformats.org/drawingml/2006/table">
            <a:tbl>
              <a:tblPr firstRow="1" bandRow="1">
                <a:tableStyleId>{5C22544A-7EE6-4342-B048-85BDC9FD1C3A}</a:tableStyleId>
              </a:tblPr>
              <a:tblGrid>
                <a:gridCol w="3886201">
                  <a:extLst>
                    <a:ext uri="{9D8B030D-6E8A-4147-A177-3AD203B41FA5}">
                      <a16:colId xmlns:a16="http://schemas.microsoft.com/office/drawing/2014/main" val="781837115"/>
                    </a:ext>
                  </a:extLst>
                </a:gridCol>
              </a:tblGrid>
              <a:tr h="400049">
                <a:tc>
                  <a:txBody>
                    <a:bodyPr/>
                    <a:lstStyle/>
                    <a:p>
                      <a:pPr algn="ctr"/>
                      <a:r>
                        <a:rPr lang="ru-RU" sz="2400" dirty="0" smtClean="0">
                          <a:solidFill>
                            <a:schemeClr val="tx1"/>
                          </a:solidFill>
                        </a:rPr>
                        <a:t>01 марта 2026 14</a:t>
                      </a:r>
                      <a:r>
                        <a:rPr lang="ru-RU" sz="2400" baseline="0" dirty="0" smtClean="0">
                          <a:solidFill>
                            <a:schemeClr val="tx1"/>
                          </a:solidFill>
                        </a:rPr>
                        <a:t> ч 15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sp>
        <p:nvSpPr>
          <p:cNvPr id="12" name="Стрелка влево 11"/>
          <p:cNvSpPr/>
          <p:nvPr/>
        </p:nvSpPr>
        <p:spPr>
          <a:xfrm>
            <a:off x="522513" y="664481"/>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Рисунок 6"/>
          <p:cNvPicPr>
            <a:picLocks noChangeAspect="1"/>
          </p:cNvPicPr>
          <p:nvPr/>
        </p:nvPicPr>
        <p:blipFill>
          <a:blip r:embed="rId2"/>
          <a:stretch>
            <a:fillRect/>
          </a:stretch>
        </p:blipFill>
        <p:spPr>
          <a:xfrm>
            <a:off x="576888" y="5383992"/>
            <a:ext cx="5791702" cy="1377815"/>
          </a:xfrm>
          <a:prstGeom prst="rect">
            <a:avLst/>
          </a:prstGeom>
        </p:spPr>
      </p:pic>
      <p:sp>
        <p:nvSpPr>
          <p:cNvPr id="16" name="Прямоугольник 15"/>
          <p:cNvSpPr/>
          <p:nvPr/>
        </p:nvSpPr>
        <p:spPr>
          <a:xfrm>
            <a:off x="576888" y="2983596"/>
            <a:ext cx="5774925" cy="121236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на</a:t>
            </a:r>
            <a:r>
              <a:rPr kumimoji="0" lang="ru-RU" sz="2400" b="1" i="0" u="none" strike="noStrike" kern="1200" cap="none" spc="0" normalizeH="0" noProof="0" dirty="0" smtClean="0">
                <a:ln>
                  <a:noFill/>
                </a:ln>
                <a:solidFill>
                  <a:prstClr val="black"/>
                </a:solidFill>
                <a:effectLst/>
                <a:uLnTx/>
                <a:uFillTx/>
                <a:latin typeface="Calibri" panose="020F0502020204030204" pitchFamily="34" charset="0"/>
                <a:ea typeface="+mn-ea"/>
                <a:cs typeface="+mn-cs"/>
              </a:rPr>
              <a:t> согласовании</a:t>
            </a:r>
            <a:endParaRPr kumimoji="0" lang="ru-RU"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12 от 30.07.2025 12:47 </a:t>
            </a:r>
            <a:r>
              <a:rPr kumimoji="0" lang="ru-RU" sz="2400" b="1" i="0" u="none" strike="noStrike" kern="1200" cap="none" spc="0" normalizeH="0" baseline="0" noProof="0" dirty="0" err="1" smtClean="0">
                <a:ln>
                  <a:noFill/>
                </a:ln>
                <a:solidFill>
                  <a:prstClr val="black"/>
                </a:solidFill>
                <a:effectLst/>
                <a:uLnTx/>
                <a:uFillTx/>
                <a:latin typeface="Calibri" panose="020F0502020204030204" pitchFamily="34" charset="0"/>
                <a:ea typeface="+mn-ea"/>
                <a:cs typeface="+mn-cs"/>
              </a:rPr>
              <a:t>инж</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a:t>
            </a:r>
            <a:r>
              <a:rPr kumimoji="0" lang="en-US"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IT </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Петров С.Н. «Внедрение системы регуляции…»</a:t>
            </a:r>
          </a:p>
        </p:txBody>
      </p:sp>
      <p:sp>
        <p:nvSpPr>
          <p:cNvPr id="17" name="Прямоугольник 16"/>
          <p:cNvSpPr/>
          <p:nvPr/>
        </p:nvSpPr>
        <p:spPr>
          <a:xfrm>
            <a:off x="585276" y="9767963"/>
            <a:ext cx="5774925" cy="121236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Отказ                                                                    № 12 от 30.07.2025 12:47 </a:t>
            </a:r>
            <a:r>
              <a:rPr kumimoji="0" lang="ru-RU" sz="2400" b="1" i="0" u="none" strike="noStrike" kern="1200" cap="none" spc="0" normalizeH="0" baseline="0" noProof="0" dirty="0" err="1" smtClean="0">
                <a:ln>
                  <a:noFill/>
                </a:ln>
                <a:solidFill>
                  <a:prstClr val="black"/>
                </a:solidFill>
                <a:effectLst/>
                <a:uLnTx/>
                <a:uFillTx/>
                <a:latin typeface="Calibri" panose="020F0502020204030204" pitchFamily="34" charset="0"/>
                <a:ea typeface="+mn-ea"/>
                <a:cs typeface="+mn-cs"/>
              </a:rPr>
              <a:t>инж</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a:t>
            </a:r>
            <a:r>
              <a:rPr kumimoji="0" lang="en-US"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IT </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Петров С.Н. «Внедрение системы регуляции…»</a:t>
            </a:r>
          </a:p>
        </p:txBody>
      </p:sp>
      <p:sp>
        <p:nvSpPr>
          <p:cNvPr id="14" name="TextBox 13"/>
          <p:cNvSpPr txBox="1"/>
          <p:nvPr/>
        </p:nvSpPr>
        <p:spPr>
          <a:xfrm>
            <a:off x="1485901" y="2387606"/>
            <a:ext cx="3711702" cy="400110"/>
          </a:xfrm>
          <a:prstGeom prst="rect">
            <a:avLst/>
          </a:prstGeom>
          <a:noFill/>
        </p:spPr>
        <p:txBody>
          <a:bodyPr wrap="square" rtlCol="0">
            <a:spAutoFit/>
          </a:bodyPr>
          <a:lstStyle/>
          <a:p>
            <a:r>
              <a:rPr lang="ru-RU" sz="2000" b="1" u="sng" dirty="0"/>
              <a:t>п</a:t>
            </a:r>
            <a:r>
              <a:rPr lang="ru-RU" sz="2000" b="1" u="sng" dirty="0" smtClean="0"/>
              <a:t>оступившие предложения</a:t>
            </a:r>
            <a:endParaRPr lang="ru-RU" sz="2000" b="1" u="sng" dirty="0"/>
          </a:p>
        </p:txBody>
      </p:sp>
      <p:sp>
        <p:nvSpPr>
          <p:cNvPr id="15" name="TextBox 14"/>
          <p:cNvSpPr txBox="1"/>
          <p:nvPr/>
        </p:nvSpPr>
        <p:spPr>
          <a:xfrm>
            <a:off x="1240971" y="4391842"/>
            <a:ext cx="4229100" cy="400110"/>
          </a:xfrm>
          <a:prstGeom prst="rect">
            <a:avLst/>
          </a:prstGeom>
          <a:noFill/>
        </p:spPr>
        <p:txBody>
          <a:bodyPr wrap="square" rtlCol="0">
            <a:spAutoFit/>
          </a:bodyPr>
          <a:lstStyle/>
          <a:p>
            <a:pPr algn="ctr"/>
            <a:r>
              <a:rPr lang="ru-RU" sz="2000" b="1" u="sng" dirty="0" smtClean="0"/>
              <a:t>исполняемые</a:t>
            </a:r>
            <a:endParaRPr lang="ru-RU" sz="2000" b="1" u="sng" dirty="0"/>
          </a:p>
        </p:txBody>
      </p:sp>
      <p:graphicFrame>
        <p:nvGraphicFramePr>
          <p:cNvPr id="21" name="Таблица 20"/>
          <p:cNvGraphicFramePr>
            <a:graphicFrameLocks noGrp="1"/>
          </p:cNvGraphicFramePr>
          <p:nvPr>
            <p:extLst>
              <p:ext uri="{D42A27DB-BD31-4B8C-83A1-F6EECF244321}">
                <p14:modId xmlns:p14="http://schemas.microsoft.com/office/powerpoint/2010/main" val="2750223837"/>
              </p:ext>
            </p:extLst>
          </p:nvPr>
        </p:nvGraphicFramePr>
        <p:xfrm>
          <a:off x="4610127" y="1868173"/>
          <a:ext cx="1628293" cy="621762"/>
        </p:xfrm>
        <a:graphic>
          <a:graphicData uri="http://schemas.openxmlformats.org/drawingml/2006/table">
            <a:tbl>
              <a:tblPr firstRow="1" bandRow="1">
                <a:tableStyleId>{5C22544A-7EE6-4342-B048-85BDC9FD1C3A}</a:tableStyleId>
              </a:tblPr>
              <a:tblGrid>
                <a:gridCol w="1628293">
                  <a:extLst>
                    <a:ext uri="{9D8B030D-6E8A-4147-A177-3AD203B41FA5}">
                      <a16:colId xmlns:a16="http://schemas.microsoft.com/office/drawing/2014/main" val="333183870"/>
                    </a:ext>
                  </a:extLst>
                </a:gridCol>
              </a:tblGrid>
              <a:tr h="621762">
                <a:tc>
                  <a:txBody>
                    <a:bodyPr/>
                    <a:lstStyle/>
                    <a:p>
                      <a:r>
                        <a:rPr lang="ru-RU" sz="2000" dirty="0" smtClean="0"/>
                        <a:t>поиск</a:t>
                      </a:r>
                      <a:endParaRPr lang="ru-RU" sz="2000" dirty="0"/>
                    </a:p>
                  </a:txBody>
                  <a:tcPr/>
                </a:tc>
                <a:extLst>
                  <a:ext uri="{0D108BD9-81ED-4DB2-BD59-A6C34878D82A}">
                    <a16:rowId xmlns:a16="http://schemas.microsoft.com/office/drawing/2014/main" val="4063895717"/>
                  </a:ext>
                </a:extLst>
              </a:tr>
            </a:tbl>
          </a:graphicData>
        </a:graphic>
      </p:graphicFrame>
      <p:sp>
        <p:nvSpPr>
          <p:cNvPr id="23" name="Управляющая кнопка: сведения 22">
            <a:hlinkClick r:id="" action="ppaction://noaction" highlightClick="1"/>
          </p:cNvPr>
          <p:cNvSpPr/>
          <p:nvPr/>
        </p:nvSpPr>
        <p:spPr>
          <a:xfrm>
            <a:off x="6139541" y="11258803"/>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9" name="Скругленный прямоугольник 18"/>
          <p:cNvSpPr/>
          <p:nvPr/>
        </p:nvSpPr>
        <p:spPr>
          <a:xfrm>
            <a:off x="585276" y="7798107"/>
            <a:ext cx="5653144" cy="129127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defRPr/>
            </a:pPr>
            <a:r>
              <a:rPr lang="ru-RU" sz="2400" b="1" dirty="0">
                <a:solidFill>
                  <a:prstClr val="black"/>
                </a:solidFill>
              </a:rPr>
              <a:t>№ 12 от 30.07.2025 12:47 </a:t>
            </a:r>
            <a:r>
              <a:rPr lang="ru-RU" sz="2400" b="1" dirty="0" err="1">
                <a:solidFill>
                  <a:prstClr val="black"/>
                </a:solidFill>
              </a:rPr>
              <a:t>инж</a:t>
            </a:r>
            <a:r>
              <a:rPr lang="ru-RU" sz="2400" b="1" dirty="0">
                <a:solidFill>
                  <a:prstClr val="black"/>
                </a:solidFill>
              </a:rPr>
              <a:t> </a:t>
            </a:r>
            <a:r>
              <a:rPr lang="en-US" sz="2400" b="1" dirty="0">
                <a:solidFill>
                  <a:prstClr val="black"/>
                </a:solidFill>
                <a:latin typeface="Calibri" panose="020F0502020204030204" pitchFamily="34" charset="0"/>
              </a:rPr>
              <a:t>IT </a:t>
            </a:r>
            <a:r>
              <a:rPr lang="ru-RU" sz="2400" b="1" dirty="0">
                <a:solidFill>
                  <a:prstClr val="black"/>
                </a:solidFill>
              </a:rPr>
              <a:t>Петров С.Н. «Внедрение системы регуляции…»</a:t>
            </a:r>
          </a:p>
        </p:txBody>
      </p:sp>
      <p:sp>
        <p:nvSpPr>
          <p:cNvPr id="24" name="TextBox 23"/>
          <p:cNvSpPr txBox="1"/>
          <p:nvPr/>
        </p:nvSpPr>
        <p:spPr>
          <a:xfrm>
            <a:off x="1240972" y="7076204"/>
            <a:ext cx="4229099" cy="461665"/>
          </a:xfrm>
          <a:prstGeom prst="rect">
            <a:avLst/>
          </a:prstGeom>
          <a:noFill/>
        </p:spPr>
        <p:txBody>
          <a:bodyPr wrap="square" rtlCol="0">
            <a:spAutoFit/>
          </a:bodyPr>
          <a:lstStyle/>
          <a:p>
            <a:pPr algn="ctr"/>
            <a:r>
              <a:rPr lang="ru-RU" sz="2400" b="1" u="sng" dirty="0" smtClean="0"/>
              <a:t>Архив</a:t>
            </a:r>
            <a:endParaRPr lang="ru-RU" sz="2400" dirty="0"/>
          </a:p>
        </p:txBody>
      </p:sp>
      <p:sp>
        <p:nvSpPr>
          <p:cNvPr id="25" name="TextBox 24"/>
          <p:cNvSpPr txBox="1"/>
          <p:nvPr/>
        </p:nvSpPr>
        <p:spPr>
          <a:xfrm>
            <a:off x="3521499" y="7677106"/>
            <a:ext cx="2618042" cy="461665"/>
          </a:xfrm>
          <a:prstGeom prst="rect">
            <a:avLst/>
          </a:prstGeom>
          <a:noFill/>
        </p:spPr>
        <p:txBody>
          <a:bodyPr wrap="square" rtlCol="0">
            <a:spAutoFit/>
          </a:bodyPr>
          <a:lstStyle/>
          <a:p>
            <a:pPr algn="r"/>
            <a:r>
              <a:rPr lang="ru-RU" sz="2400" b="1" dirty="0" smtClean="0"/>
              <a:t>выполнено</a:t>
            </a:r>
            <a:endParaRPr lang="ru-RU" sz="2400" b="1" dirty="0"/>
          </a:p>
        </p:txBody>
      </p:sp>
    </p:spTree>
    <p:extLst>
      <p:ext uri="{BB962C8B-B14F-4D97-AF65-F5344CB8AC3E}">
        <p14:creationId xmlns:p14="http://schemas.microsoft.com/office/powerpoint/2010/main" val="236102851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93914" y="124896"/>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defRPr/>
            </a:pPr>
            <a:r>
              <a:rPr lang="ru-RU" sz="3200" b="1" dirty="0" smtClean="0">
                <a:solidFill>
                  <a:prstClr val="black"/>
                </a:solidFill>
                <a:latin typeface="Calibri" panose="020F0502020204030204"/>
              </a:rPr>
              <a:t>БАЗА ПРЕДЛОЖЕНИЙ</a:t>
            </a:r>
            <a:endParaRPr lang="ru-RU" sz="3200" b="1" dirty="0">
              <a:solidFill>
                <a:prstClr val="black"/>
              </a:solidFill>
              <a:latin typeface="Calibri" panose="020F0502020204030204"/>
            </a:endParaRPr>
          </a:p>
        </p:txBody>
      </p:sp>
      <p:graphicFrame>
        <p:nvGraphicFramePr>
          <p:cNvPr id="5" name="Таблица 4"/>
          <p:cNvGraphicFramePr>
            <a:graphicFrameLocks noGrp="1"/>
          </p:cNvGraphicFramePr>
          <p:nvPr>
            <p:extLst>
              <p:ext uri="{D42A27DB-BD31-4B8C-83A1-F6EECF244321}">
                <p14:modId xmlns:p14="http://schemas.microsoft.com/office/powerpoint/2010/main" val="3752436339"/>
              </p:ext>
            </p:extLst>
          </p:nvPr>
        </p:nvGraphicFramePr>
        <p:xfrm>
          <a:off x="522513" y="1502229"/>
          <a:ext cx="5806500" cy="457200"/>
        </p:xfrm>
        <a:graphic>
          <a:graphicData uri="http://schemas.openxmlformats.org/drawingml/2006/table">
            <a:tbl>
              <a:tblPr firstRow="1" bandRow="1">
                <a:tableStyleId>{5C22544A-7EE6-4342-B048-85BDC9FD1C3A}</a:tableStyleId>
              </a:tblPr>
              <a:tblGrid>
                <a:gridCol w="5806500">
                  <a:extLst>
                    <a:ext uri="{9D8B030D-6E8A-4147-A177-3AD203B41FA5}">
                      <a16:colId xmlns:a16="http://schemas.microsoft.com/office/drawing/2014/main" val="781837115"/>
                    </a:ext>
                  </a:extLst>
                </a:gridCol>
              </a:tblGrid>
              <a:tr h="418393">
                <a:tc>
                  <a:txBody>
                    <a:bodyPr/>
                    <a:lstStyle/>
                    <a:p>
                      <a:pPr algn="ctr"/>
                      <a:r>
                        <a:rPr lang="ru-RU" sz="2400" dirty="0" smtClean="0">
                          <a:solidFill>
                            <a:schemeClr val="tx1"/>
                          </a:solidFill>
                        </a:rPr>
                        <a:t>01 марта 2026</a:t>
                      </a:r>
                      <a:r>
                        <a:rPr lang="ru-RU" sz="2400" baseline="0" dirty="0" smtClean="0">
                          <a:solidFill>
                            <a:schemeClr val="tx1"/>
                          </a:solidFill>
                        </a:rPr>
                        <a:t> </a:t>
                      </a:r>
                      <a:r>
                        <a:rPr lang="ru-RU" sz="2400" dirty="0" smtClean="0">
                          <a:solidFill>
                            <a:schemeClr val="tx1"/>
                          </a:solidFill>
                        </a:rPr>
                        <a:t>10 ч 12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6" name="Таблица 5"/>
          <p:cNvGraphicFramePr>
            <a:graphicFrameLocks noGrp="1"/>
          </p:cNvGraphicFramePr>
          <p:nvPr>
            <p:extLst/>
          </p:nvPr>
        </p:nvGraphicFramePr>
        <p:xfrm>
          <a:off x="457200" y="2024743"/>
          <a:ext cx="5894612" cy="9405257"/>
        </p:xfrm>
        <a:graphic>
          <a:graphicData uri="http://schemas.openxmlformats.org/drawingml/2006/table">
            <a:tbl>
              <a:tblPr firstRow="1" bandRow="1">
                <a:tableStyleId>{5C22544A-7EE6-4342-B048-85BDC9FD1C3A}</a:tableStyleId>
              </a:tblPr>
              <a:tblGrid>
                <a:gridCol w="5894612">
                  <a:extLst>
                    <a:ext uri="{9D8B030D-6E8A-4147-A177-3AD203B41FA5}">
                      <a16:colId xmlns:a16="http://schemas.microsoft.com/office/drawing/2014/main" val="47972225"/>
                    </a:ext>
                  </a:extLst>
                </a:gridCol>
              </a:tblGrid>
              <a:tr h="9405257">
                <a:tc>
                  <a:txBody>
                    <a:bodyPr/>
                    <a:lstStyle/>
                    <a:p>
                      <a:r>
                        <a:rPr lang="ru-RU" sz="2400" dirty="0" smtClean="0">
                          <a:solidFill>
                            <a:schemeClr val="tx1"/>
                          </a:solidFill>
                        </a:rPr>
                        <a:t>Предложение</a:t>
                      </a:r>
                      <a:r>
                        <a:rPr lang="ru-RU" sz="2400" baseline="0" dirty="0" smtClean="0">
                          <a:solidFill>
                            <a:schemeClr val="tx1"/>
                          </a:solidFill>
                        </a:rPr>
                        <a:t> №…</a:t>
                      </a:r>
                    </a:p>
                    <a:p>
                      <a:r>
                        <a:rPr lang="ru-RU" sz="2400" baseline="0" dirty="0" smtClean="0">
                          <a:solidFill>
                            <a:schemeClr val="tx1"/>
                          </a:solidFill>
                        </a:rPr>
                        <a:t>рейтинг…</a:t>
                      </a:r>
                    </a:p>
                    <a:p>
                      <a:r>
                        <a:rPr lang="ru-RU" sz="2400" baseline="0" dirty="0" smtClean="0">
                          <a:solidFill>
                            <a:schemeClr val="tx1"/>
                          </a:solidFill>
                        </a:rPr>
                        <a:t>Автор (</a:t>
                      </a:r>
                      <a:r>
                        <a:rPr lang="ru-RU" sz="2400" i="1" baseline="0" dirty="0" smtClean="0">
                          <a:solidFill>
                            <a:schemeClr val="tx1"/>
                          </a:solidFill>
                        </a:rPr>
                        <a:t>ФИО, должность</a:t>
                      </a:r>
                      <a:r>
                        <a:rPr lang="ru-RU" sz="2400" baseline="0" dirty="0" smtClean="0">
                          <a:solidFill>
                            <a:schemeClr val="tx1"/>
                          </a:solidFill>
                        </a:rPr>
                        <a:t>)</a:t>
                      </a:r>
                    </a:p>
                    <a:p>
                      <a:r>
                        <a:rPr lang="ru-RU" sz="2400" baseline="0" dirty="0" smtClean="0">
                          <a:solidFill>
                            <a:schemeClr val="tx1"/>
                          </a:solidFill>
                        </a:rPr>
                        <a:t>Соавтор (</a:t>
                      </a:r>
                      <a:r>
                        <a:rPr lang="ru-RU" sz="2400" i="1" baseline="0" dirty="0" smtClean="0">
                          <a:solidFill>
                            <a:schemeClr val="tx1"/>
                          </a:solidFill>
                        </a:rPr>
                        <a:t>ФИО, должность</a:t>
                      </a:r>
                      <a:r>
                        <a:rPr lang="ru-RU" sz="2400" baseline="0" dirty="0" smtClean="0">
                          <a:solidFill>
                            <a:schemeClr val="tx1"/>
                          </a:solidFill>
                        </a:rPr>
                        <a:t>)</a:t>
                      </a:r>
                    </a:p>
                    <a:p>
                      <a:r>
                        <a:rPr lang="ru-RU" sz="2400" baseline="0" dirty="0" smtClean="0">
                          <a:solidFill>
                            <a:schemeClr val="tx1"/>
                          </a:solidFill>
                        </a:rPr>
                        <a:t>Проблема:_____________________</a:t>
                      </a:r>
                    </a:p>
                    <a:p>
                      <a:endParaRPr lang="ru-RU" sz="2400" baseline="0" dirty="0" smtClean="0">
                        <a:solidFill>
                          <a:schemeClr val="tx1"/>
                        </a:solidFill>
                      </a:endParaRPr>
                    </a:p>
                    <a:p>
                      <a:r>
                        <a:rPr lang="ru-RU" sz="2400" baseline="0" dirty="0" smtClean="0">
                          <a:solidFill>
                            <a:schemeClr val="tx1"/>
                          </a:solidFill>
                        </a:rPr>
                        <a:t>Предложение, идея:_________________________</a:t>
                      </a:r>
                    </a:p>
                    <a:p>
                      <a:endParaRPr lang="ru-RU" sz="2400" baseline="0" dirty="0" smtClean="0">
                        <a:solidFill>
                          <a:schemeClr val="tx1"/>
                        </a:solidFill>
                      </a:endParaRPr>
                    </a:p>
                    <a:p>
                      <a:r>
                        <a:rPr lang="ru-RU" sz="2400" baseline="0" dirty="0" smtClean="0">
                          <a:solidFill>
                            <a:schemeClr val="tx1"/>
                          </a:solidFill>
                        </a:rPr>
                        <a:t>Как выполнить:_________________</a:t>
                      </a:r>
                    </a:p>
                    <a:p>
                      <a:r>
                        <a:rPr lang="ru-RU" sz="2400" baseline="0" dirty="0" smtClean="0">
                          <a:solidFill>
                            <a:schemeClr val="tx1"/>
                          </a:solidFill>
                        </a:rPr>
                        <a:t>Требуемые ресурсы:_______________________</a:t>
                      </a:r>
                    </a:p>
                    <a:p>
                      <a:r>
                        <a:rPr lang="ru-RU" sz="2400" u="sng" baseline="0" dirty="0" smtClean="0">
                          <a:solidFill>
                            <a:schemeClr val="tx1"/>
                          </a:solidFill>
                        </a:rPr>
                        <a:t>Согласование </a:t>
                      </a:r>
                    </a:p>
                    <a:p>
                      <a:r>
                        <a:rPr lang="ru-RU" sz="2400" u="sng" baseline="0" dirty="0" smtClean="0">
                          <a:solidFill>
                            <a:schemeClr val="tx1"/>
                          </a:solidFill>
                        </a:rPr>
                        <a:t>комментарии</a:t>
                      </a:r>
                    </a:p>
                    <a:p>
                      <a:pPr algn="l"/>
                      <a:r>
                        <a:rPr lang="ru-RU" sz="2400" u="sng" baseline="0" dirty="0" smtClean="0">
                          <a:solidFill>
                            <a:schemeClr val="tx1"/>
                          </a:solidFill>
                        </a:rPr>
                        <a:t>мой комментарий</a:t>
                      </a:r>
                      <a:endParaRPr lang="ru-RU" sz="3200" u="sng" baseline="0" dirty="0" smtClean="0">
                        <a:solidFill>
                          <a:schemeClr val="tx1"/>
                        </a:solidFill>
                      </a:endParaRPr>
                    </a:p>
                    <a:p>
                      <a:pPr algn="l"/>
                      <a:r>
                        <a:rPr lang="ru-RU" sz="2400" u="sng" baseline="0" dirty="0" smtClean="0">
                          <a:solidFill>
                            <a:schemeClr val="tx1"/>
                          </a:solidFill>
                        </a:rPr>
                        <a:t>предложения по корректировке</a:t>
                      </a:r>
                      <a:endParaRPr lang="en-US" sz="2400" u="sng" baseline="0" dirty="0" smtClean="0">
                        <a:solidFill>
                          <a:schemeClr val="tx1"/>
                        </a:solidFill>
                      </a:endParaRPr>
                    </a:p>
                    <a:p>
                      <a:pPr algn="ctr"/>
                      <a:endParaRPr lang="ru-RU" sz="1800" baseline="0" dirty="0" smtClean="0">
                        <a:solidFill>
                          <a:schemeClr val="tx1"/>
                        </a:solidFill>
                      </a:endParaRPr>
                    </a:p>
                    <a:p>
                      <a:pPr algn="ctr"/>
                      <a:r>
                        <a:rPr lang="ru-RU" sz="1800" baseline="0" dirty="0" smtClean="0">
                          <a:solidFill>
                            <a:schemeClr val="tx1"/>
                          </a:solidFill>
                        </a:rPr>
                        <a:t>Согласовано 03.03.2026 14:23 </a:t>
                      </a:r>
                      <a:r>
                        <a:rPr lang="ru-RU" sz="1800" baseline="0" dirty="0" err="1" smtClean="0">
                          <a:solidFill>
                            <a:schemeClr val="tx1"/>
                          </a:solidFill>
                        </a:rPr>
                        <a:t>вед.инж</a:t>
                      </a:r>
                      <a:r>
                        <a:rPr lang="ru-RU" sz="1800" baseline="0" dirty="0" smtClean="0">
                          <a:solidFill>
                            <a:schemeClr val="tx1"/>
                          </a:solidFill>
                        </a:rPr>
                        <a:t> </a:t>
                      </a:r>
                      <a:r>
                        <a:rPr lang="en-US" sz="1800" baseline="0" dirty="0" smtClean="0">
                          <a:solidFill>
                            <a:schemeClr val="tx1"/>
                          </a:solidFill>
                        </a:rPr>
                        <a:t>IT</a:t>
                      </a:r>
                      <a:r>
                        <a:rPr lang="ru-RU" sz="1800" baseline="0" dirty="0" smtClean="0">
                          <a:solidFill>
                            <a:schemeClr val="tx1"/>
                          </a:solidFill>
                        </a:rPr>
                        <a:t> Попов. С.В.</a:t>
                      </a:r>
                      <a:endParaRPr lang="ru-RU" sz="3200" baseline="0" dirty="0" smtClean="0">
                        <a:solidFill>
                          <a:schemeClr val="tx1"/>
                        </a:solidFill>
                      </a:endParaRPr>
                    </a:p>
                    <a:p>
                      <a:pPr algn="ctr"/>
                      <a:r>
                        <a:rPr lang="ru-RU" sz="2000" u="sng" baseline="0" dirty="0" smtClean="0">
                          <a:solidFill>
                            <a:schemeClr val="tx1"/>
                          </a:solidFill>
                        </a:rPr>
                        <a:t>нажать при завершении исполнения</a:t>
                      </a:r>
                    </a:p>
                    <a:p>
                      <a:pPr algn="ctr"/>
                      <a:r>
                        <a:rPr lang="ru-RU" sz="3200" baseline="0" dirty="0" smtClean="0">
                          <a:solidFill>
                            <a:schemeClr val="tx1"/>
                          </a:solidFill>
                        </a:rPr>
                        <a:t>за     против  воздержался</a:t>
                      </a:r>
                    </a:p>
                    <a:p>
                      <a:pPr algn="l"/>
                      <a:r>
                        <a:rPr lang="ru-RU" sz="3200" dirty="0" smtClean="0">
                          <a:solidFill>
                            <a:schemeClr val="tx1"/>
                          </a:solidFill>
                        </a:rPr>
                        <a:t>             </a:t>
                      </a:r>
                      <a:r>
                        <a:rPr lang="ru-RU" sz="2400" dirty="0" smtClean="0">
                          <a:solidFill>
                            <a:schemeClr val="tx1"/>
                          </a:solidFill>
                        </a:rPr>
                        <a:t>15               4                  2</a:t>
                      </a:r>
                      <a:endParaRPr lang="ru-RU" sz="2400" dirty="0">
                        <a:solidFill>
                          <a:schemeClr val="tx1"/>
                        </a:solidFill>
                      </a:endParaRPr>
                    </a:p>
                  </a:txBody>
                  <a:tcPr/>
                </a:tc>
                <a:extLst>
                  <a:ext uri="{0D108BD9-81ED-4DB2-BD59-A6C34878D82A}">
                    <a16:rowId xmlns:a16="http://schemas.microsoft.com/office/drawing/2014/main" val="3699655430"/>
                  </a:ext>
                </a:extLst>
              </a:tr>
            </a:tbl>
          </a:graphicData>
        </a:graphic>
      </p:graphicFrame>
      <p:graphicFrame>
        <p:nvGraphicFramePr>
          <p:cNvPr id="8" name="Таблица 7"/>
          <p:cNvGraphicFramePr>
            <a:graphicFrameLocks noGrp="1"/>
          </p:cNvGraphicFramePr>
          <p:nvPr>
            <p:extLst/>
          </p:nvPr>
        </p:nvGraphicFramePr>
        <p:xfrm>
          <a:off x="4294414" y="2057401"/>
          <a:ext cx="2057398" cy="516142"/>
        </p:xfrm>
        <a:graphic>
          <a:graphicData uri="http://schemas.openxmlformats.org/drawingml/2006/table">
            <a:tbl>
              <a:tblPr firstRow="1" bandRow="1">
                <a:tableStyleId>{5C22544A-7EE6-4342-B048-85BDC9FD1C3A}</a:tableStyleId>
              </a:tblPr>
              <a:tblGrid>
                <a:gridCol w="2057398">
                  <a:extLst>
                    <a:ext uri="{9D8B030D-6E8A-4147-A177-3AD203B41FA5}">
                      <a16:colId xmlns:a16="http://schemas.microsoft.com/office/drawing/2014/main" val="121150993"/>
                    </a:ext>
                  </a:extLst>
                </a:gridCol>
              </a:tblGrid>
              <a:tr h="516142">
                <a:tc>
                  <a:txBody>
                    <a:bodyPr/>
                    <a:lstStyle/>
                    <a:p>
                      <a:pPr algn="ctr"/>
                      <a:r>
                        <a:rPr lang="ru-RU" sz="2000" dirty="0" smtClean="0">
                          <a:solidFill>
                            <a:schemeClr val="tx1"/>
                          </a:solidFill>
                        </a:rPr>
                        <a:t>анонимно</a:t>
                      </a:r>
                      <a:endParaRPr lang="ru-RU" sz="2000" dirty="0">
                        <a:solidFill>
                          <a:schemeClr val="tx1"/>
                        </a:solidFill>
                      </a:endParaRPr>
                    </a:p>
                  </a:txBody>
                  <a:tcPr anchor="ctr">
                    <a:solidFill>
                      <a:srgbClr val="FFFF00"/>
                    </a:solidFill>
                  </a:tcPr>
                </a:tc>
                <a:extLst>
                  <a:ext uri="{0D108BD9-81ED-4DB2-BD59-A6C34878D82A}">
                    <a16:rowId xmlns:a16="http://schemas.microsoft.com/office/drawing/2014/main" val="3611746982"/>
                  </a:ext>
                </a:extLst>
              </a:tr>
            </a:tbl>
          </a:graphicData>
        </a:graphic>
      </p:graphicFrame>
      <p:sp>
        <p:nvSpPr>
          <p:cNvPr id="9" name="Улыбающееся лицо 8"/>
          <p:cNvSpPr/>
          <p:nvPr/>
        </p:nvSpPr>
        <p:spPr>
          <a:xfrm>
            <a:off x="1061357" y="9925075"/>
            <a:ext cx="734785" cy="636815"/>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42BA97">
                  <a:lumMod val="60000"/>
                  <a:lumOff val="40000"/>
                </a:srgbClr>
              </a:solidFill>
              <a:effectLst/>
              <a:uLnTx/>
              <a:uFillTx/>
              <a:latin typeface="Calibri" panose="020F0502020204030204" pitchFamily="34" charset="0"/>
              <a:ea typeface="+mn-ea"/>
              <a:cs typeface="+mn-cs"/>
            </a:endParaRPr>
          </a:p>
        </p:txBody>
      </p:sp>
      <p:sp>
        <p:nvSpPr>
          <p:cNvPr id="20" name="Знак запрета 19"/>
          <p:cNvSpPr/>
          <p:nvPr/>
        </p:nvSpPr>
        <p:spPr>
          <a:xfrm>
            <a:off x="2400299" y="9835269"/>
            <a:ext cx="751113" cy="726621"/>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2" name="Стрелка влево 11"/>
          <p:cNvSpPr/>
          <p:nvPr/>
        </p:nvSpPr>
        <p:spPr>
          <a:xfrm>
            <a:off x="547007" y="267787"/>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4" name="Управляющая кнопка: сведения 13">
            <a:hlinkClick r:id="" action="ppaction://noaction" highlightClick="1"/>
          </p:cNvPr>
          <p:cNvSpPr/>
          <p:nvPr/>
        </p:nvSpPr>
        <p:spPr>
          <a:xfrm>
            <a:off x="5906685" y="10877792"/>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1" name="Стрелка вниз 10"/>
          <p:cNvSpPr/>
          <p:nvPr/>
        </p:nvSpPr>
        <p:spPr>
          <a:xfrm>
            <a:off x="5766024" y="4560349"/>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pic>
        <p:nvPicPr>
          <p:cNvPr id="16" name="Рисунок 15"/>
          <p:cNvPicPr>
            <a:picLocks noChangeAspect="1"/>
          </p:cNvPicPr>
          <p:nvPr/>
        </p:nvPicPr>
        <p:blipFill>
          <a:blip r:embed="rId2"/>
          <a:stretch>
            <a:fillRect/>
          </a:stretch>
        </p:blipFill>
        <p:spPr>
          <a:xfrm>
            <a:off x="5787364" y="3374495"/>
            <a:ext cx="536494" cy="518205"/>
          </a:xfrm>
          <a:prstGeom prst="rect">
            <a:avLst/>
          </a:prstGeom>
        </p:spPr>
      </p:pic>
      <p:pic>
        <p:nvPicPr>
          <p:cNvPr id="17" name="Рисунок 16"/>
          <p:cNvPicPr>
            <a:picLocks noChangeAspect="1"/>
          </p:cNvPicPr>
          <p:nvPr/>
        </p:nvPicPr>
        <p:blipFill>
          <a:blip r:embed="rId2"/>
          <a:stretch>
            <a:fillRect/>
          </a:stretch>
        </p:blipFill>
        <p:spPr>
          <a:xfrm>
            <a:off x="5764465" y="5367565"/>
            <a:ext cx="536494" cy="518205"/>
          </a:xfrm>
          <a:prstGeom prst="rect">
            <a:avLst/>
          </a:prstGeom>
        </p:spPr>
      </p:pic>
      <p:pic>
        <p:nvPicPr>
          <p:cNvPr id="18" name="Рисунок 17"/>
          <p:cNvPicPr>
            <a:picLocks noChangeAspect="1"/>
          </p:cNvPicPr>
          <p:nvPr/>
        </p:nvPicPr>
        <p:blipFill>
          <a:blip r:embed="rId2"/>
          <a:stretch>
            <a:fillRect/>
          </a:stretch>
        </p:blipFill>
        <p:spPr>
          <a:xfrm>
            <a:off x="5817326" y="5998207"/>
            <a:ext cx="536494" cy="518205"/>
          </a:xfrm>
          <a:prstGeom prst="rect">
            <a:avLst/>
          </a:prstGeom>
        </p:spPr>
      </p:pic>
      <p:sp>
        <p:nvSpPr>
          <p:cNvPr id="21" name="Загнутый угол 20"/>
          <p:cNvSpPr/>
          <p:nvPr/>
        </p:nvSpPr>
        <p:spPr>
          <a:xfrm>
            <a:off x="5299944" y="3424281"/>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2" name="Загнутый угол 21"/>
          <p:cNvSpPr/>
          <p:nvPr/>
        </p:nvSpPr>
        <p:spPr>
          <a:xfrm>
            <a:off x="5257828" y="4566964"/>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3" name="Загнутый угол 22"/>
          <p:cNvSpPr/>
          <p:nvPr/>
        </p:nvSpPr>
        <p:spPr>
          <a:xfrm>
            <a:off x="5299943" y="5346274"/>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4" name="Загнутый угол 23"/>
          <p:cNvSpPr/>
          <p:nvPr/>
        </p:nvSpPr>
        <p:spPr>
          <a:xfrm>
            <a:off x="5323113" y="6047993"/>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3" name="Блок-схема: ИЛИ 12"/>
          <p:cNvSpPr/>
          <p:nvPr/>
        </p:nvSpPr>
        <p:spPr>
          <a:xfrm>
            <a:off x="3832640" y="9892255"/>
            <a:ext cx="612648" cy="612648"/>
          </a:xfrm>
          <a:prstGeom prst="flowChartOr">
            <a:avLst/>
          </a:prstGeom>
          <a:solidFill>
            <a:srgbClr val="E6E6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5" name="Блок-схема: несколько документов 14"/>
          <p:cNvSpPr/>
          <p:nvPr/>
        </p:nvSpPr>
        <p:spPr>
          <a:xfrm>
            <a:off x="6039183" y="208776"/>
            <a:ext cx="499455" cy="481302"/>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pic>
        <p:nvPicPr>
          <p:cNvPr id="27" name="Рисунок 26"/>
          <p:cNvPicPr>
            <a:picLocks noChangeAspect="1"/>
          </p:cNvPicPr>
          <p:nvPr/>
        </p:nvPicPr>
        <p:blipFill>
          <a:blip r:embed="rId3"/>
          <a:stretch>
            <a:fillRect/>
          </a:stretch>
        </p:blipFill>
        <p:spPr>
          <a:xfrm>
            <a:off x="4402556" y="10529849"/>
            <a:ext cx="1475699" cy="807930"/>
          </a:xfrm>
          <a:prstGeom prst="rect">
            <a:avLst/>
          </a:prstGeom>
        </p:spPr>
      </p:pic>
      <p:graphicFrame>
        <p:nvGraphicFramePr>
          <p:cNvPr id="25" name="Таблица 24"/>
          <p:cNvGraphicFramePr>
            <a:graphicFrameLocks noGrp="1"/>
          </p:cNvGraphicFramePr>
          <p:nvPr>
            <p:extLst>
              <p:ext uri="{D42A27DB-BD31-4B8C-83A1-F6EECF244321}">
                <p14:modId xmlns:p14="http://schemas.microsoft.com/office/powerpoint/2010/main" val="894281524"/>
              </p:ext>
            </p:extLst>
          </p:nvPr>
        </p:nvGraphicFramePr>
        <p:xfrm>
          <a:off x="489856" y="768169"/>
          <a:ext cx="5829300" cy="595996"/>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4096374418"/>
                    </a:ext>
                  </a:extLst>
                </a:gridCol>
                <a:gridCol w="2714536">
                  <a:extLst>
                    <a:ext uri="{9D8B030D-6E8A-4147-A177-3AD203B41FA5}">
                      <a16:colId xmlns:a16="http://schemas.microsoft.com/office/drawing/2014/main" val="3004465261"/>
                    </a:ext>
                  </a:extLst>
                </a:gridCol>
                <a:gridCol w="2906484">
                  <a:extLst>
                    <a:ext uri="{9D8B030D-6E8A-4147-A177-3AD203B41FA5}">
                      <a16:colId xmlns:a16="http://schemas.microsoft.com/office/drawing/2014/main" val="495450802"/>
                    </a:ext>
                  </a:extLst>
                </a:gridCol>
              </a:tblGrid>
              <a:tr h="595996">
                <a:tc>
                  <a:txBody>
                    <a:bodyPr/>
                    <a:lstStyle/>
                    <a:p>
                      <a:pPr algn="ctr"/>
                      <a:endParaRPr lang="ru-RU" sz="2400" dirty="0">
                        <a:solidFill>
                          <a:schemeClr val="tx1"/>
                        </a:solidFill>
                      </a:endParaRPr>
                    </a:p>
                  </a:txBody>
                  <a:tcPr anchor="ctr"/>
                </a:tc>
                <a:tc>
                  <a:txBody>
                    <a:bodyPr/>
                    <a:lstStyle/>
                    <a:p>
                      <a:pPr algn="ctr"/>
                      <a:r>
                        <a:rPr lang="ru-RU" sz="2400" dirty="0" smtClean="0">
                          <a:solidFill>
                            <a:schemeClr val="tx1"/>
                          </a:solidFill>
                        </a:rPr>
                        <a:t>ПРЕДПРИЯТИЯ</a:t>
                      </a:r>
                      <a:endParaRPr lang="ru-RU" sz="2400" dirty="0">
                        <a:solidFill>
                          <a:schemeClr val="tx1"/>
                        </a:solidFill>
                      </a:endParaRPr>
                    </a:p>
                  </a:txBody>
                  <a:tcPr anchor="ctr">
                    <a:solidFill>
                      <a:srgbClr val="FFC000"/>
                    </a:solidFill>
                  </a:tcPr>
                </a:tc>
                <a:tc>
                  <a:txBody>
                    <a:bodyPr/>
                    <a:lstStyle/>
                    <a:p>
                      <a:pPr algn="ctr"/>
                      <a:r>
                        <a:rPr lang="ru-RU" sz="2400" dirty="0" smtClean="0">
                          <a:solidFill>
                            <a:schemeClr val="tx1"/>
                          </a:solidFill>
                        </a:rPr>
                        <a:t>КЛИЕНТЫ</a:t>
                      </a:r>
                      <a:endParaRPr lang="ru-RU" sz="2400" dirty="0">
                        <a:solidFill>
                          <a:schemeClr val="tx1"/>
                        </a:solidFill>
                      </a:endParaRPr>
                    </a:p>
                  </a:txBody>
                  <a:tcPr anchor="ctr"/>
                </a:tc>
                <a:extLst>
                  <a:ext uri="{0D108BD9-81ED-4DB2-BD59-A6C34878D82A}">
                    <a16:rowId xmlns:a16="http://schemas.microsoft.com/office/drawing/2014/main" val="1379486038"/>
                  </a:ext>
                </a:extLst>
              </a:tr>
            </a:tbl>
          </a:graphicData>
        </a:graphic>
      </p:graphicFrame>
    </p:spTree>
    <p:extLst>
      <p:ext uri="{BB962C8B-B14F-4D97-AF65-F5344CB8AC3E}">
        <p14:creationId xmlns:p14="http://schemas.microsoft.com/office/powerpoint/2010/main" val="103569700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29489" y="409488"/>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200" b="1" i="0" u="none" strike="noStrike" kern="1200" cap="none" spc="0" normalizeH="0" baseline="0" noProof="0" dirty="0" smtClean="0">
                <a:ln>
                  <a:noFill/>
                </a:ln>
                <a:solidFill>
                  <a:prstClr val="black"/>
                </a:solidFill>
                <a:effectLst/>
                <a:uLnTx/>
                <a:uFillTx/>
                <a:latin typeface="Calibri" panose="020F0502020204030204"/>
                <a:ea typeface="+mn-ea"/>
                <a:cs typeface="+mn-cs"/>
              </a:rPr>
              <a:t>БАЗА</a:t>
            </a:r>
            <a:r>
              <a:rPr kumimoji="0" lang="ru-RU" sz="3200" b="1" i="0" u="none" strike="noStrike" kern="1200" cap="none" spc="0" normalizeH="0" noProof="0" dirty="0" smtClean="0">
                <a:ln>
                  <a:noFill/>
                </a:ln>
                <a:solidFill>
                  <a:prstClr val="black"/>
                </a:solidFill>
                <a:effectLst/>
                <a:uLnTx/>
                <a:uFillTx/>
                <a:latin typeface="Calibri" panose="020F0502020204030204"/>
                <a:ea typeface="+mn-ea"/>
                <a:cs typeface="+mn-cs"/>
              </a:rPr>
              <a:t> </a:t>
            </a:r>
            <a:r>
              <a:rPr kumimoji="0" lang="ru-RU" sz="3200" b="1" i="0" u="none" strike="noStrike" kern="1200" cap="none" spc="0" normalizeH="0" baseline="0" noProof="0" dirty="0" smtClean="0">
                <a:ln>
                  <a:noFill/>
                </a:ln>
                <a:solidFill>
                  <a:prstClr val="black"/>
                </a:solidFill>
                <a:effectLst/>
                <a:uLnTx/>
                <a:uFillTx/>
                <a:latin typeface="Calibri" panose="020F0502020204030204"/>
                <a:ea typeface="+mn-ea"/>
                <a:cs typeface="+mn-cs"/>
              </a:rPr>
              <a:t>ПРЕДЛОЖЕНИЙ</a:t>
            </a:r>
            <a:endParaRPr kumimoji="0" lang="ru-RU" sz="3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Таблица 3"/>
          <p:cNvGraphicFramePr>
            <a:graphicFrameLocks noGrp="1"/>
          </p:cNvGraphicFramePr>
          <p:nvPr>
            <p:extLst>
              <p:ext uri="{D42A27DB-BD31-4B8C-83A1-F6EECF244321}">
                <p14:modId xmlns:p14="http://schemas.microsoft.com/office/powerpoint/2010/main" val="1136954573"/>
              </p:ext>
            </p:extLst>
          </p:nvPr>
        </p:nvGraphicFramePr>
        <p:xfrm>
          <a:off x="522513" y="1175657"/>
          <a:ext cx="5829300" cy="595996"/>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4096374418"/>
                    </a:ext>
                  </a:extLst>
                </a:gridCol>
                <a:gridCol w="2714536">
                  <a:extLst>
                    <a:ext uri="{9D8B030D-6E8A-4147-A177-3AD203B41FA5}">
                      <a16:colId xmlns:a16="http://schemas.microsoft.com/office/drawing/2014/main" val="3004465261"/>
                    </a:ext>
                  </a:extLst>
                </a:gridCol>
                <a:gridCol w="2906484">
                  <a:extLst>
                    <a:ext uri="{9D8B030D-6E8A-4147-A177-3AD203B41FA5}">
                      <a16:colId xmlns:a16="http://schemas.microsoft.com/office/drawing/2014/main" val="495450802"/>
                    </a:ext>
                  </a:extLst>
                </a:gridCol>
              </a:tblGrid>
              <a:tr h="595996">
                <a:tc>
                  <a:txBody>
                    <a:bodyPr/>
                    <a:lstStyle/>
                    <a:p>
                      <a:pPr algn="ctr"/>
                      <a:endParaRPr lang="ru-RU" sz="2400" dirty="0">
                        <a:solidFill>
                          <a:schemeClr val="tx1"/>
                        </a:solidFill>
                      </a:endParaRPr>
                    </a:p>
                  </a:txBody>
                  <a:tcPr anchor="ctr"/>
                </a:tc>
                <a:tc>
                  <a:txBody>
                    <a:bodyPr/>
                    <a:lstStyle/>
                    <a:p>
                      <a:pPr algn="ctr"/>
                      <a:r>
                        <a:rPr lang="ru-RU" sz="2400" dirty="0" smtClean="0">
                          <a:solidFill>
                            <a:schemeClr val="tx1"/>
                          </a:solidFill>
                        </a:rPr>
                        <a:t>ПРЕДПРИЯТИЯ</a:t>
                      </a:r>
                      <a:endParaRPr lang="ru-RU" sz="2400" dirty="0">
                        <a:solidFill>
                          <a:schemeClr val="tx1"/>
                        </a:solidFill>
                      </a:endParaRPr>
                    </a:p>
                  </a:txBody>
                  <a:tcPr anchor="ctr">
                    <a:solidFill>
                      <a:srgbClr val="00B0F0"/>
                    </a:solidFill>
                  </a:tcPr>
                </a:tc>
                <a:tc>
                  <a:txBody>
                    <a:bodyPr/>
                    <a:lstStyle/>
                    <a:p>
                      <a:pPr algn="ctr"/>
                      <a:r>
                        <a:rPr lang="ru-RU" sz="2400" dirty="0" smtClean="0">
                          <a:solidFill>
                            <a:schemeClr val="tx1"/>
                          </a:solidFill>
                        </a:rPr>
                        <a:t>КЛИЕНТЫ</a:t>
                      </a:r>
                      <a:endParaRPr lang="ru-RU" sz="2400" dirty="0">
                        <a:solidFill>
                          <a:schemeClr val="tx1"/>
                        </a:solidFill>
                      </a:endParaRPr>
                    </a:p>
                  </a:txBody>
                  <a:tcPr anchor="ctr">
                    <a:solidFill>
                      <a:srgbClr val="FFC000"/>
                    </a:solidFill>
                  </a:tcPr>
                </a:tc>
                <a:extLst>
                  <a:ext uri="{0D108BD9-81ED-4DB2-BD59-A6C34878D82A}">
                    <a16:rowId xmlns:a16="http://schemas.microsoft.com/office/drawing/2014/main" val="1379486038"/>
                  </a:ext>
                </a:extLst>
              </a:tr>
            </a:tbl>
          </a:graphicData>
        </a:graphic>
      </p:graphicFrame>
      <p:graphicFrame>
        <p:nvGraphicFramePr>
          <p:cNvPr id="5" name="Таблица 4"/>
          <p:cNvGraphicFramePr>
            <a:graphicFrameLocks noGrp="1"/>
          </p:cNvGraphicFramePr>
          <p:nvPr>
            <p:extLst/>
          </p:nvPr>
        </p:nvGraphicFramePr>
        <p:xfrm>
          <a:off x="522513" y="1910443"/>
          <a:ext cx="3886201" cy="457200"/>
        </p:xfrm>
        <a:graphic>
          <a:graphicData uri="http://schemas.openxmlformats.org/drawingml/2006/table">
            <a:tbl>
              <a:tblPr firstRow="1" bandRow="1">
                <a:tableStyleId>{5C22544A-7EE6-4342-B048-85BDC9FD1C3A}</a:tableStyleId>
              </a:tblPr>
              <a:tblGrid>
                <a:gridCol w="3886201">
                  <a:extLst>
                    <a:ext uri="{9D8B030D-6E8A-4147-A177-3AD203B41FA5}">
                      <a16:colId xmlns:a16="http://schemas.microsoft.com/office/drawing/2014/main" val="781837115"/>
                    </a:ext>
                  </a:extLst>
                </a:gridCol>
              </a:tblGrid>
              <a:tr h="400049">
                <a:tc>
                  <a:txBody>
                    <a:bodyPr/>
                    <a:lstStyle/>
                    <a:p>
                      <a:pPr algn="ctr"/>
                      <a:r>
                        <a:rPr lang="ru-RU" sz="2400" dirty="0" smtClean="0">
                          <a:solidFill>
                            <a:schemeClr val="tx1"/>
                          </a:solidFill>
                        </a:rPr>
                        <a:t>01 марта 2026 14</a:t>
                      </a:r>
                      <a:r>
                        <a:rPr lang="ru-RU" sz="2400" baseline="0" dirty="0" smtClean="0">
                          <a:solidFill>
                            <a:schemeClr val="tx1"/>
                          </a:solidFill>
                        </a:rPr>
                        <a:t> ч 15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sp>
        <p:nvSpPr>
          <p:cNvPr id="12" name="Стрелка влево 11"/>
          <p:cNvSpPr/>
          <p:nvPr/>
        </p:nvSpPr>
        <p:spPr>
          <a:xfrm>
            <a:off x="522513" y="664481"/>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Рисунок 6"/>
          <p:cNvPicPr>
            <a:picLocks noChangeAspect="1"/>
          </p:cNvPicPr>
          <p:nvPr/>
        </p:nvPicPr>
        <p:blipFill>
          <a:blip r:embed="rId2"/>
          <a:stretch>
            <a:fillRect/>
          </a:stretch>
        </p:blipFill>
        <p:spPr>
          <a:xfrm>
            <a:off x="603625" y="5696593"/>
            <a:ext cx="5791702" cy="1377815"/>
          </a:xfrm>
          <a:prstGeom prst="rect">
            <a:avLst/>
          </a:prstGeom>
        </p:spPr>
      </p:pic>
      <p:sp>
        <p:nvSpPr>
          <p:cNvPr id="16" name="Прямоугольник 15"/>
          <p:cNvSpPr/>
          <p:nvPr/>
        </p:nvSpPr>
        <p:spPr>
          <a:xfrm>
            <a:off x="576888" y="3391589"/>
            <a:ext cx="5774925" cy="1212366"/>
          </a:xfrm>
          <a:prstGeom prst="rect">
            <a:avLst/>
          </a:prstGeom>
          <a:solidFill>
            <a:srgbClr val="E6E6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анонимно                                 </a:t>
            </a:r>
            <a:endParaRPr kumimoji="0" lang="ru-RU"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12 от 30.07.2025 12:47 «неизвестный» «Внедрение системы регуляции…»</a:t>
            </a:r>
          </a:p>
        </p:txBody>
      </p:sp>
      <p:sp>
        <p:nvSpPr>
          <p:cNvPr id="17" name="Прямоугольник 16"/>
          <p:cNvSpPr/>
          <p:nvPr/>
        </p:nvSpPr>
        <p:spPr>
          <a:xfrm>
            <a:off x="408131" y="8515445"/>
            <a:ext cx="5774925" cy="121236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отказ</a:t>
            </a:r>
            <a:endParaRPr kumimoji="0" lang="ru-RU"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12 от 30.07.2025 12:47 </a:t>
            </a:r>
            <a:r>
              <a:rPr kumimoji="0" lang="ru-RU" sz="2400" b="1" i="0" u="none" strike="noStrike" kern="1200" cap="none" spc="0" normalizeH="0" baseline="0" noProof="0" dirty="0" err="1" smtClean="0">
                <a:ln>
                  <a:noFill/>
                </a:ln>
                <a:solidFill>
                  <a:prstClr val="black"/>
                </a:solidFill>
                <a:effectLst/>
                <a:uLnTx/>
                <a:uFillTx/>
                <a:latin typeface="Calibri" panose="020F0502020204030204" pitchFamily="34" charset="0"/>
                <a:ea typeface="+mn-ea"/>
                <a:cs typeface="+mn-cs"/>
              </a:rPr>
              <a:t>инж</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 </a:t>
            </a:r>
            <a:r>
              <a:rPr kumimoji="0" lang="en-US"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IT </a:t>
            </a:r>
            <a:r>
              <a:rPr kumimoji="0" lang="ru-RU" sz="24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Петров С.Н. «Внедрение системы регуляции…»</a:t>
            </a:r>
          </a:p>
        </p:txBody>
      </p:sp>
      <p:sp>
        <p:nvSpPr>
          <p:cNvPr id="14" name="TextBox 13"/>
          <p:cNvSpPr txBox="1"/>
          <p:nvPr/>
        </p:nvSpPr>
        <p:spPr>
          <a:xfrm>
            <a:off x="1485901" y="2795599"/>
            <a:ext cx="3938372"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400" b="1" i="0" u="sng" strike="noStrike" kern="1200" cap="none" spc="0" normalizeH="0" baseline="0" noProof="0" dirty="0">
                <a:ln>
                  <a:noFill/>
                </a:ln>
                <a:solidFill>
                  <a:prstClr val="black"/>
                </a:solidFill>
                <a:effectLst/>
                <a:uLnTx/>
                <a:uFillTx/>
                <a:latin typeface="Calibri" panose="020F0502020204030204" pitchFamily="34" charset="0"/>
                <a:ea typeface="+mn-ea"/>
                <a:cs typeface="+mn-cs"/>
              </a:rPr>
              <a:t>п</a:t>
            </a:r>
            <a:r>
              <a:rPr kumimoji="0" lang="ru-RU" sz="2400" b="1" i="0" u="sng"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оступившие предложения</a:t>
            </a:r>
            <a:endParaRPr kumimoji="0" lang="ru-RU" sz="2400" b="1" i="0" u="sng"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15" name="TextBox 14"/>
          <p:cNvSpPr txBox="1"/>
          <p:nvPr/>
        </p:nvSpPr>
        <p:spPr>
          <a:xfrm>
            <a:off x="1322613" y="5095564"/>
            <a:ext cx="4229100"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2400" b="1" i="0" u="sng" strike="noStrike" kern="1200" cap="none" spc="0" normalizeH="0" baseline="0" noProof="0" dirty="0">
                <a:ln>
                  <a:noFill/>
                </a:ln>
                <a:solidFill>
                  <a:prstClr val="black"/>
                </a:solidFill>
                <a:effectLst/>
                <a:uLnTx/>
                <a:uFillTx/>
                <a:latin typeface="Calibri" panose="020F0502020204030204" pitchFamily="34" charset="0"/>
                <a:ea typeface="+mn-ea"/>
                <a:cs typeface="+mn-cs"/>
              </a:rPr>
              <a:t>п</a:t>
            </a:r>
            <a:r>
              <a:rPr kumimoji="0" lang="ru-RU" sz="2400" b="1" i="0" u="sng" strike="noStrike" kern="1200" cap="none" spc="0" normalizeH="0" baseline="0" noProof="0" dirty="0" smtClean="0">
                <a:ln>
                  <a:noFill/>
                </a:ln>
                <a:solidFill>
                  <a:prstClr val="black"/>
                </a:solidFill>
                <a:effectLst/>
                <a:uLnTx/>
                <a:uFillTx/>
                <a:latin typeface="Calibri" panose="020F0502020204030204" pitchFamily="34" charset="0"/>
                <a:ea typeface="+mn-ea"/>
                <a:cs typeface="+mn-cs"/>
              </a:rPr>
              <a:t>ринятые в работу</a:t>
            </a:r>
            <a:endParaRPr kumimoji="0" lang="ru-RU" sz="2400" b="1" i="0" u="sng"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18" name="TextBox 17"/>
          <p:cNvSpPr txBox="1"/>
          <p:nvPr/>
        </p:nvSpPr>
        <p:spPr>
          <a:xfrm>
            <a:off x="1485901" y="6991086"/>
            <a:ext cx="3711702" cy="138499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20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ru-RU" sz="2000" b="1" dirty="0">
              <a:solidFill>
                <a:prstClr val="black"/>
              </a:solidFill>
              <a:latin typeface="Calibri" panose="020F050202020403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2000" b="1"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ru-RU" sz="2400" b="1" u="sng" dirty="0" smtClean="0">
                <a:solidFill>
                  <a:prstClr val="black"/>
                </a:solidFill>
                <a:latin typeface="Calibri" panose="020F0502020204030204" pitchFamily="34" charset="0"/>
              </a:rPr>
              <a:t>Архив</a:t>
            </a:r>
            <a:endParaRPr kumimoji="0" lang="ru-RU" sz="2400" b="1" i="0" u="sng"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aphicFrame>
        <p:nvGraphicFramePr>
          <p:cNvPr id="21" name="Таблица 20"/>
          <p:cNvGraphicFramePr>
            <a:graphicFrameLocks noGrp="1"/>
          </p:cNvGraphicFramePr>
          <p:nvPr>
            <p:extLst/>
          </p:nvPr>
        </p:nvGraphicFramePr>
        <p:xfrm>
          <a:off x="4610127" y="1868173"/>
          <a:ext cx="1628293" cy="621762"/>
        </p:xfrm>
        <a:graphic>
          <a:graphicData uri="http://schemas.openxmlformats.org/drawingml/2006/table">
            <a:tbl>
              <a:tblPr firstRow="1" bandRow="1">
                <a:tableStyleId>{5C22544A-7EE6-4342-B048-85BDC9FD1C3A}</a:tableStyleId>
              </a:tblPr>
              <a:tblGrid>
                <a:gridCol w="1628293">
                  <a:extLst>
                    <a:ext uri="{9D8B030D-6E8A-4147-A177-3AD203B41FA5}">
                      <a16:colId xmlns:a16="http://schemas.microsoft.com/office/drawing/2014/main" val="333183870"/>
                    </a:ext>
                  </a:extLst>
                </a:gridCol>
              </a:tblGrid>
              <a:tr h="621762">
                <a:tc>
                  <a:txBody>
                    <a:bodyPr/>
                    <a:lstStyle/>
                    <a:p>
                      <a:r>
                        <a:rPr lang="ru-RU" sz="2000" dirty="0" smtClean="0"/>
                        <a:t>поиск</a:t>
                      </a:r>
                      <a:endParaRPr lang="ru-RU" sz="2000" dirty="0"/>
                    </a:p>
                  </a:txBody>
                  <a:tcPr/>
                </a:tc>
                <a:extLst>
                  <a:ext uri="{0D108BD9-81ED-4DB2-BD59-A6C34878D82A}">
                    <a16:rowId xmlns:a16="http://schemas.microsoft.com/office/drawing/2014/main" val="4063895717"/>
                  </a:ext>
                </a:extLst>
              </a:tr>
            </a:tbl>
          </a:graphicData>
        </a:graphic>
      </p:graphicFrame>
      <p:sp>
        <p:nvSpPr>
          <p:cNvPr id="19" name="Управляющая кнопка: сведения 18">
            <a:hlinkClick r:id="" action="ppaction://noaction" highlightClick="1"/>
          </p:cNvPr>
          <p:cNvSpPr/>
          <p:nvPr/>
        </p:nvSpPr>
        <p:spPr>
          <a:xfrm>
            <a:off x="6153315" y="11514522"/>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93397436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93914" y="124896"/>
            <a:ext cx="6286499" cy="1156062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3200" b="1" i="0" u="none" strike="noStrike" kern="1200" cap="none" spc="0" normalizeH="0" baseline="0" noProof="0" dirty="0" smtClean="0">
                <a:ln>
                  <a:noFill/>
                </a:ln>
                <a:solidFill>
                  <a:prstClr val="black"/>
                </a:solidFill>
                <a:effectLst/>
                <a:uLnTx/>
                <a:uFillTx/>
                <a:latin typeface="Calibri" panose="020F0502020204030204"/>
                <a:ea typeface="+mn-ea"/>
                <a:cs typeface="+mn-cs"/>
              </a:rPr>
              <a:t>БАЗА ПРЕДЛОЖЕНИЙ</a:t>
            </a:r>
            <a:endParaRPr kumimoji="0" lang="ru-RU" sz="3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Таблица 4"/>
          <p:cNvGraphicFramePr>
            <a:graphicFrameLocks noGrp="1"/>
          </p:cNvGraphicFramePr>
          <p:nvPr>
            <p:extLst>
              <p:ext uri="{D42A27DB-BD31-4B8C-83A1-F6EECF244321}">
                <p14:modId xmlns:p14="http://schemas.microsoft.com/office/powerpoint/2010/main" val="3137822129"/>
              </p:ext>
            </p:extLst>
          </p:nvPr>
        </p:nvGraphicFramePr>
        <p:xfrm>
          <a:off x="522513" y="1502229"/>
          <a:ext cx="4065815" cy="457200"/>
        </p:xfrm>
        <a:graphic>
          <a:graphicData uri="http://schemas.openxmlformats.org/drawingml/2006/table">
            <a:tbl>
              <a:tblPr firstRow="1" bandRow="1">
                <a:tableStyleId>{5C22544A-7EE6-4342-B048-85BDC9FD1C3A}</a:tableStyleId>
              </a:tblPr>
              <a:tblGrid>
                <a:gridCol w="4065815">
                  <a:extLst>
                    <a:ext uri="{9D8B030D-6E8A-4147-A177-3AD203B41FA5}">
                      <a16:colId xmlns:a16="http://schemas.microsoft.com/office/drawing/2014/main" val="781837115"/>
                    </a:ext>
                  </a:extLst>
                </a:gridCol>
              </a:tblGrid>
              <a:tr h="418393">
                <a:tc>
                  <a:txBody>
                    <a:bodyPr/>
                    <a:lstStyle/>
                    <a:p>
                      <a:pPr algn="ctr"/>
                      <a:r>
                        <a:rPr lang="ru-RU" sz="2400" dirty="0" smtClean="0">
                          <a:solidFill>
                            <a:schemeClr val="tx1"/>
                          </a:solidFill>
                        </a:rPr>
                        <a:t>01 марта 2026</a:t>
                      </a:r>
                      <a:r>
                        <a:rPr lang="ru-RU" sz="2400" baseline="0" dirty="0" smtClean="0">
                          <a:solidFill>
                            <a:schemeClr val="tx1"/>
                          </a:solidFill>
                        </a:rPr>
                        <a:t> </a:t>
                      </a:r>
                      <a:r>
                        <a:rPr lang="ru-RU" sz="2400" dirty="0" smtClean="0">
                          <a:solidFill>
                            <a:schemeClr val="tx1"/>
                          </a:solidFill>
                        </a:rPr>
                        <a:t>10 ч 12 мин</a:t>
                      </a:r>
                      <a:endParaRPr lang="ru-RU" sz="2400" dirty="0">
                        <a:solidFill>
                          <a:schemeClr val="tx1"/>
                        </a:solidFill>
                      </a:endParaRPr>
                    </a:p>
                  </a:txBody>
                  <a:tcPr anchor="ctr"/>
                </a:tc>
                <a:extLst>
                  <a:ext uri="{0D108BD9-81ED-4DB2-BD59-A6C34878D82A}">
                    <a16:rowId xmlns:a16="http://schemas.microsoft.com/office/drawing/2014/main" val="1801337742"/>
                  </a:ext>
                </a:extLst>
              </a:tr>
            </a:tbl>
          </a:graphicData>
        </a:graphic>
      </p:graphicFrame>
      <p:graphicFrame>
        <p:nvGraphicFramePr>
          <p:cNvPr id="6" name="Таблица 5"/>
          <p:cNvGraphicFramePr>
            <a:graphicFrameLocks noGrp="1"/>
          </p:cNvGraphicFramePr>
          <p:nvPr>
            <p:extLst>
              <p:ext uri="{D42A27DB-BD31-4B8C-83A1-F6EECF244321}">
                <p14:modId xmlns:p14="http://schemas.microsoft.com/office/powerpoint/2010/main" val="2848485236"/>
              </p:ext>
            </p:extLst>
          </p:nvPr>
        </p:nvGraphicFramePr>
        <p:xfrm>
          <a:off x="457200" y="2024743"/>
          <a:ext cx="5894612" cy="9405257"/>
        </p:xfrm>
        <a:graphic>
          <a:graphicData uri="http://schemas.openxmlformats.org/drawingml/2006/table">
            <a:tbl>
              <a:tblPr firstRow="1" bandRow="1">
                <a:tableStyleId>{5C22544A-7EE6-4342-B048-85BDC9FD1C3A}</a:tableStyleId>
              </a:tblPr>
              <a:tblGrid>
                <a:gridCol w="5894612">
                  <a:extLst>
                    <a:ext uri="{9D8B030D-6E8A-4147-A177-3AD203B41FA5}">
                      <a16:colId xmlns:a16="http://schemas.microsoft.com/office/drawing/2014/main" val="47972225"/>
                    </a:ext>
                  </a:extLst>
                </a:gridCol>
              </a:tblGrid>
              <a:tr h="9405257">
                <a:tc>
                  <a:txBody>
                    <a:bodyPr/>
                    <a:lstStyle/>
                    <a:p>
                      <a:r>
                        <a:rPr lang="ru-RU" sz="2400" dirty="0" smtClean="0">
                          <a:solidFill>
                            <a:schemeClr val="tx1"/>
                          </a:solidFill>
                        </a:rPr>
                        <a:t>Предложение</a:t>
                      </a:r>
                      <a:r>
                        <a:rPr lang="ru-RU" sz="2400" baseline="0" dirty="0" smtClean="0">
                          <a:solidFill>
                            <a:schemeClr val="tx1"/>
                          </a:solidFill>
                        </a:rPr>
                        <a:t> №1/12.04.2026</a:t>
                      </a:r>
                    </a:p>
                    <a:p>
                      <a:r>
                        <a:rPr lang="ru-RU" sz="2400" baseline="0" dirty="0" smtClean="0">
                          <a:solidFill>
                            <a:schemeClr val="tx1"/>
                          </a:solidFill>
                        </a:rPr>
                        <a:t>Рейтинг 68</a:t>
                      </a:r>
                    </a:p>
                    <a:p>
                      <a:r>
                        <a:rPr lang="ru-RU" sz="2400" baseline="0" dirty="0" smtClean="0">
                          <a:solidFill>
                            <a:schemeClr val="tx1"/>
                          </a:solidFill>
                        </a:rPr>
                        <a:t>Автор (</a:t>
                      </a:r>
                      <a:r>
                        <a:rPr lang="ru-RU" sz="2400" i="1" baseline="0" dirty="0" smtClean="0">
                          <a:solidFill>
                            <a:schemeClr val="tx1"/>
                          </a:solidFill>
                        </a:rPr>
                        <a:t>ФИО, должность</a:t>
                      </a:r>
                      <a:r>
                        <a:rPr lang="ru-RU" sz="2400" baseline="0" dirty="0" smtClean="0">
                          <a:solidFill>
                            <a:schemeClr val="tx1"/>
                          </a:solidFill>
                        </a:rPr>
                        <a:t>)</a:t>
                      </a:r>
                    </a:p>
                    <a:p>
                      <a:r>
                        <a:rPr lang="ru-RU" sz="2400" baseline="0" dirty="0" smtClean="0">
                          <a:solidFill>
                            <a:schemeClr val="tx1"/>
                          </a:solidFill>
                        </a:rPr>
                        <a:t>Соавтор (</a:t>
                      </a:r>
                      <a:r>
                        <a:rPr lang="ru-RU" sz="2400" i="1" baseline="0" dirty="0" smtClean="0">
                          <a:solidFill>
                            <a:schemeClr val="tx1"/>
                          </a:solidFill>
                        </a:rPr>
                        <a:t>ФИО, должность</a:t>
                      </a:r>
                      <a:r>
                        <a:rPr lang="ru-RU" sz="2400" baseline="0" dirty="0" smtClean="0">
                          <a:solidFill>
                            <a:schemeClr val="tx1"/>
                          </a:solidFill>
                        </a:rPr>
                        <a:t>)</a:t>
                      </a:r>
                    </a:p>
                    <a:p>
                      <a:r>
                        <a:rPr lang="ru-RU" sz="2400" baseline="0" dirty="0" smtClean="0">
                          <a:solidFill>
                            <a:schemeClr val="tx1"/>
                          </a:solidFill>
                        </a:rPr>
                        <a:t>Проблема:_____________________</a:t>
                      </a:r>
                    </a:p>
                    <a:p>
                      <a:endParaRPr lang="ru-RU" sz="2400" baseline="0" dirty="0" smtClean="0">
                        <a:solidFill>
                          <a:schemeClr val="tx1"/>
                        </a:solidFill>
                      </a:endParaRPr>
                    </a:p>
                    <a:p>
                      <a:r>
                        <a:rPr lang="ru-RU" sz="2400" baseline="0" dirty="0" smtClean="0">
                          <a:solidFill>
                            <a:schemeClr val="tx1"/>
                          </a:solidFill>
                        </a:rPr>
                        <a:t>Предложение, идея:_________________________</a:t>
                      </a:r>
                    </a:p>
                    <a:p>
                      <a:endParaRPr lang="ru-RU" sz="2400" baseline="0" dirty="0" smtClean="0">
                        <a:solidFill>
                          <a:schemeClr val="tx1"/>
                        </a:solidFill>
                      </a:endParaRPr>
                    </a:p>
                    <a:p>
                      <a:r>
                        <a:rPr lang="ru-RU" sz="2400" baseline="0" dirty="0" smtClean="0">
                          <a:solidFill>
                            <a:schemeClr val="tx1"/>
                          </a:solidFill>
                        </a:rPr>
                        <a:t>Как выполнить:_________________</a:t>
                      </a:r>
                    </a:p>
                    <a:p>
                      <a:r>
                        <a:rPr lang="ru-RU" sz="2400" baseline="0" dirty="0" smtClean="0">
                          <a:solidFill>
                            <a:schemeClr val="tx1"/>
                          </a:solidFill>
                        </a:rPr>
                        <a:t>Требуемые ресурсы:_______________________</a:t>
                      </a:r>
                    </a:p>
                    <a:p>
                      <a:r>
                        <a:rPr lang="ru-RU" sz="2400" u="sng" baseline="0" dirty="0" smtClean="0">
                          <a:solidFill>
                            <a:schemeClr val="tx1"/>
                          </a:solidFill>
                        </a:rPr>
                        <a:t>Согласование </a:t>
                      </a:r>
                    </a:p>
                    <a:p>
                      <a:r>
                        <a:rPr lang="ru-RU" sz="2400" u="sng" baseline="0" dirty="0" smtClean="0">
                          <a:solidFill>
                            <a:schemeClr val="tx1"/>
                          </a:solidFill>
                        </a:rPr>
                        <a:t>комментарии</a:t>
                      </a:r>
                    </a:p>
                    <a:p>
                      <a:pPr algn="l"/>
                      <a:r>
                        <a:rPr lang="ru-RU" sz="2400" u="sng" baseline="0" dirty="0" smtClean="0">
                          <a:solidFill>
                            <a:schemeClr val="tx1"/>
                          </a:solidFill>
                        </a:rPr>
                        <a:t>мой комментарий</a:t>
                      </a:r>
                      <a:endParaRPr lang="ru-RU" sz="3200" u="sng" baseline="0" dirty="0" smtClean="0">
                        <a:solidFill>
                          <a:schemeClr val="tx1"/>
                        </a:solidFill>
                      </a:endParaRPr>
                    </a:p>
                    <a:p>
                      <a:pPr algn="l"/>
                      <a:r>
                        <a:rPr lang="ru-RU" sz="2400" u="sng" baseline="0" dirty="0" smtClean="0">
                          <a:solidFill>
                            <a:schemeClr val="tx1"/>
                          </a:solidFill>
                        </a:rPr>
                        <a:t>предложения по корректировке</a:t>
                      </a:r>
                      <a:endParaRPr lang="en-US" sz="2400" u="sng" baseline="0" dirty="0" smtClean="0">
                        <a:solidFill>
                          <a:schemeClr val="tx1"/>
                        </a:solidFill>
                      </a:endParaRPr>
                    </a:p>
                    <a:p>
                      <a:pPr algn="ctr"/>
                      <a:endParaRPr lang="ru-RU" sz="1800" baseline="0" dirty="0" smtClean="0">
                        <a:solidFill>
                          <a:schemeClr val="tx1"/>
                        </a:solidFill>
                      </a:endParaRPr>
                    </a:p>
                    <a:p>
                      <a:pPr algn="ctr"/>
                      <a:r>
                        <a:rPr lang="ru-RU" sz="1800" baseline="0" dirty="0" smtClean="0">
                          <a:solidFill>
                            <a:schemeClr val="tx1"/>
                          </a:solidFill>
                        </a:rPr>
                        <a:t>Согласовано 03.03.2026 14:23 </a:t>
                      </a:r>
                      <a:r>
                        <a:rPr lang="ru-RU" sz="1800" baseline="0" dirty="0" err="1" smtClean="0">
                          <a:solidFill>
                            <a:schemeClr val="tx1"/>
                          </a:solidFill>
                        </a:rPr>
                        <a:t>вед.инж</a:t>
                      </a:r>
                      <a:r>
                        <a:rPr lang="ru-RU" sz="1800" baseline="0" dirty="0" smtClean="0">
                          <a:solidFill>
                            <a:schemeClr val="tx1"/>
                          </a:solidFill>
                        </a:rPr>
                        <a:t> </a:t>
                      </a:r>
                      <a:r>
                        <a:rPr lang="en-US" sz="1800" baseline="0" dirty="0" smtClean="0">
                          <a:solidFill>
                            <a:schemeClr val="tx1"/>
                          </a:solidFill>
                        </a:rPr>
                        <a:t>IT</a:t>
                      </a:r>
                      <a:r>
                        <a:rPr lang="ru-RU" sz="1800" baseline="0" dirty="0" smtClean="0">
                          <a:solidFill>
                            <a:schemeClr val="tx1"/>
                          </a:solidFill>
                        </a:rPr>
                        <a:t> Попов. С.В.</a:t>
                      </a:r>
                      <a:endParaRPr lang="ru-RU" sz="3200" baseline="0" dirty="0" smtClean="0">
                        <a:solidFill>
                          <a:schemeClr val="tx1"/>
                        </a:solidFill>
                      </a:endParaRPr>
                    </a:p>
                    <a:p>
                      <a:pPr algn="ctr"/>
                      <a:endParaRPr lang="ru-RU" sz="3200" baseline="0" dirty="0" smtClean="0">
                        <a:solidFill>
                          <a:schemeClr val="tx1"/>
                        </a:solidFill>
                      </a:endParaRPr>
                    </a:p>
                    <a:p>
                      <a:pPr algn="ctr"/>
                      <a:r>
                        <a:rPr lang="ru-RU" sz="3200" baseline="0" dirty="0" smtClean="0">
                          <a:solidFill>
                            <a:schemeClr val="tx1"/>
                          </a:solidFill>
                        </a:rPr>
                        <a:t>за     против  воздержался</a:t>
                      </a:r>
                      <a:r>
                        <a:rPr lang="ru-RU" sz="3200" dirty="0" smtClean="0">
                          <a:solidFill>
                            <a:schemeClr val="tx1"/>
                          </a:solidFill>
                        </a:rPr>
                        <a:t>    </a:t>
                      </a:r>
                    </a:p>
                    <a:p>
                      <a:pPr algn="l"/>
                      <a:r>
                        <a:rPr lang="ru-RU" sz="3200" dirty="0" smtClean="0">
                          <a:solidFill>
                            <a:schemeClr val="tx1"/>
                          </a:solidFill>
                        </a:rPr>
                        <a:t>          </a:t>
                      </a:r>
                      <a:r>
                        <a:rPr lang="ru-RU" sz="3200" baseline="0" dirty="0" smtClean="0">
                          <a:solidFill>
                            <a:schemeClr val="tx1"/>
                          </a:solidFill>
                        </a:rPr>
                        <a:t> </a:t>
                      </a:r>
                      <a:r>
                        <a:rPr lang="ru-RU" sz="2400" dirty="0" smtClean="0">
                          <a:solidFill>
                            <a:schemeClr val="tx1"/>
                          </a:solidFill>
                        </a:rPr>
                        <a:t>15               4                  2</a:t>
                      </a:r>
                      <a:endParaRPr lang="ru-RU" sz="2400" dirty="0">
                        <a:solidFill>
                          <a:schemeClr val="tx1"/>
                        </a:solidFill>
                      </a:endParaRPr>
                    </a:p>
                  </a:txBody>
                  <a:tcPr/>
                </a:tc>
                <a:extLst>
                  <a:ext uri="{0D108BD9-81ED-4DB2-BD59-A6C34878D82A}">
                    <a16:rowId xmlns:a16="http://schemas.microsoft.com/office/drawing/2014/main" val="3699655430"/>
                  </a:ext>
                </a:extLst>
              </a:tr>
            </a:tbl>
          </a:graphicData>
        </a:graphic>
      </p:graphicFrame>
      <p:graphicFrame>
        <p:nvGraphicFramePr>
          <p:cNvPr id="8" name="Таблица 7"/>
          <p:cNvGraphicFramePr>
            <a:graphicFrameLocks noGrp="1"/>
          </p:cNvGraphicFramePr>
          <p:nvPr>
            <p:extLst>
              <p:ext uri="{D42A27DB-BD31-4B8C-83A1-F6EECF244321}">
                <p14:modId xmlns:p14="http://schemas.microsoft.com/office/powerpoint/2010/main" val="826367787"/>
              </p:ext>
            </p:extLst>
          </p:nvPr>
        </p:nvGraphicFramePr>
        <p:xfrm>
          <a:off x="4588328" y="2057401"/>
          <a:ext cx="1763483" cy="516142"/>
        </p:xfrm>
        <a:graphic>
          <a:graphicData uri="http://schemas.openxmlformats.org/drawingml/2006/table">
            <a:tbl>
              <a:tblPr firstRow="1" bandRow="1">
                <a:tableStyleId>{5C22544A-7EE6-4342-B048-85BDC9FD1C3A}</a:tableStyleId>
              </a:tblPr>
              <a:tblGrid>
                <a:gridCol w="1763483">
                  <a:extLst>
                    <a:ext uri="{9D8B030D-6E8A-4147-A177-3AD203B41FA5}">
                      <a16:colId xmlns:a16="http://schemas.microsoft.com/office/drawing/2014/main" val="121150993"/>
                    </a:ext>
                  </a:extLst>
                </a:gridCol>
              </a:tblGrid>
              <a:tr h="516142">
                <a:tc>
                  <a:txBody>
                    <a:bodyPr/>
                    <a:lstStyle/>
                    <a:p>
                      <a:pPr algn="ctr"/>
                      <a:r>
                        <a:rPr lang="ru-RU" sz="2000" dirty="0" smtClean="0">
                          <a:solidFill>
                            <a:schemeClr val="tx1"/>
                          </a:solidFill>
                        </a:rPr>
                        <a:t>анонимно</a:t>
                      </a:r>
                      <a:endParaRPr lang="ru-RU" sz="2000" dirty="0">
                        <a:solidFill>
                          <a:schemeClr val="tx1"/>
                        </a:solidFill>
                      </a:endParaRPr>
                    </a:p>
                  </a:txBody>
                  <a:tcPr anchor="ctr">
                    <a:solidFill>
                      <a:srgbClr val="FFFF00"/>
                    </a:solidFill>
                  </a:tcPr>
                </a:tc>
                <a:extLst>
                  <a:ext uri="{0D108BD9-81ED-4DB2-BD59-A6C34878D82A}">
                    <a16:rowId xmlns:a16="http://schemas.microsoft.com/office/drawing/2014/main" val="3611746982"/>
                  </a:ext>
                </a:extLst>
              </a:tr>
            </a:tbl>
          </a:graphicData>
        </a:graphic>
      </p:graphicFrame>
      <p:sp>
        <p:nvSpPr>
          <p:cNvPr id="9" name="Улыбающееся лицо 8"/>
          <p:cNvSpPr/>
          <p:nvPr/>
        </p:nvSpPr>
        <p:spPr>
          <a:xfrm>
            <a:off x="1061357" y="9925075"/>
            <a:ext cx="734785" cy="636815"/>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42BA97">
                  <a:lumMod val="60000"/>
                  <a:lumOff val="40000"/>
                </a:srgbClr>
              </a:solidFill>
              <a:effectLst/>
              <a:uLnTx/>
              <a:uFillTx/>
              <a:latin typeface="Calibri" panose="020F0502020204030204" pitchFamily="34" charset="0"/>
              <a:ea typeface="+mn-ea"/>
              <a:cs typeface="+mn-cs"/>
            </a:endParaRPr>
          </a:p>
        </p:txBody>
      </p:sp>
      <p:sp>
        <p:nvSpPr>
          <p:cNvPr id="20" name="Знак запрета 19"/>
          <p:cNvSpPr/>
          <p:nvPr/>
        </p:nvSpPr>
        <p:spPr>
          <a:xfrm>
            <a:off x="2400299" y="9835269"/>
            <a:ext cx="751113" cy="726621"/>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2" name="Стрелка влево 11"/>
          <p:cNvSpPr/>
          <p:nvPr/>
        </p:nvSpPr>
        <p:spPr>
          <a:xfrm>
            <a:off x="547007" y="267787"/>
            <a:ext cx="457200" cy="3632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4" name="Управляющая кнопка: сведения 13">
            <a:hlinkClick r:id="" action="ppaction://noaction" highlightClick="1"/>
          </p:cNvPr>
          <p:cNvSpPr/>
          <p:nvPr/>
        </p:nvSpPr>
        <p:spPr>
          <a:xfrm>
            <a:off x="5906685" y="10877792"/>
            <a:ext cx="424543" cy="405618"/>
          </a:xfrm>
          <a:prstGeom prst="actionButtonInformation">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1" name="Стрелка вниз 10"/>
          <p:cNvSpPr/>
          <p:nvPr/>
        </p:nvSpPr>
        <p:spPr>
          <a:xfrm>
            <a:off x="5766024" y="4560349"/>
            <a:ext cx="480587" cy="489204"/>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pic>
        <p:nvPicPr>
          <p:cNvPr id="16" name="Рисунок 15"/>
          <p:cNvPicPr>
            <a:picLocks noChangeAspect="1"/>
          </p:cNvPicPr>
          <p:nvPr/>
        </p:nvPicPr>
        <p:blipFill>
          <a:blip r:embed="rId2"/>
          <a:stretch>
            <a:fillRect/>
          </a:stretch>
        </p:blipFill>
        <p:spPr>
          <a:xfrm>
            <a:off x="5787364" y="3374495"/>
            <a:ext cx="536494" cy="518205"/>
          </a:xfrm>
          <a:prstGeom prst="rect">
            <a:avLst/>
          </a:prstGeom>
        </p:spPr>
      </p:pic>
      <p:pic>
        <p:nvPicPr>
          <p:cNvPr id="17" name="Рисунок 16"/>
          <p:cNvPicPr>
            <a:picLocks noChangeAspect="1"/>
          </p:cNvPicPr>
          <p:nvPr/>
        </p:nvPicPr>
        <p:blipFill>
          <a:blip r:embed="rId2"/>
          <a:stretch>
            <a:fillRect/>
          </a:stretch>
        </p:blipFill>
        <p:spPr>
          <a:xfrm>
            <a:off x="5764465" y="5367565"/>
            <a:ext cx="536494" cy="518205"/>
          </a:xfrm>
          <a:prstGeom prst="rect">
            <a:avLst/>
          </a:prstGeom>
        </p:spPr>
      </p:pic>
      <p:pic>
        <p:nvPicPr>
          <p:cNvPr id="18" name="Рисунок 17"/>
          <p:cNvPicPr>
            <a:picLocks noChangeAspect="1"/>
          </p:cNvPicPr>
          <p:nvPr/>
        </p:nvPicPr>
        <p:blipFill>
          <a:blip r:embed="rId2"/>
          <a:stretch>
            <a:fillRect/>
          </a:stretch>
        </p:blipFill>
        <p:spPr>
          <a:xfrm>
            <a:off x="5817326" y="5998207"/>
            <a:ext cx="536494" cy="518205"/>
          </a:xfrm>
          <a:prstGeom prst="rect">
            <a:avLst/>
          </a:prstGeom>
        </p:spPr>
      </p:pic>
      <p:sp>
        <p:nvSpPr>
          <p:cNvPr id="21" name="Загнутый угол 20"/>
          <p:cNvSpPr/>
          <p:nvPr/>
        </p:nvSpPr>
        <p:spPr>
          <a:xfrm>
            <a:off x="5299944" y="3424281"/>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2" name="Загнутый угол 21"/>
          <p:cNvSpPr/>
          <p:nvPr/>
        </p:nvSpPr>
        <p:spPr>
          <a:xfrm>
            <a:off x="5257828" y="4566964"/>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3" name="Загнутый угол 22"/>
          <p:cNvSpPr/>
          <p:nvPr/>
        </p:nvSpPr>
        <p:spPr>
          <a:xfrm>
            <a:off x="5299943" y="5346274"/>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4" name="Загнутый угол 23"/>
          <p:cNvSpPr/>
          <p:nvPr/>
        </p:nvSpPr>
        <p:spPr>
          <a:xfrm>
            <a:off x="5323113" y="6047993"/>
            <a:ext cx="335055" cy="418634"/>
          </a:xfrm>
          <a:prstGeom prst="foldedCorner">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3" name="Блок-схема: ИЛИ 12"/>
          <p:cNvSpPr/>
          <p:nvPr/>
        </p:nvSpPr>
        <p:spPr>
          <a:xfrm>
            <a:off x="3832640" y="9892255"/>
            <a:ext cx="612648" cy="612648"/>
          </a:xfrm>
          <a:prstGeom prst="flowChartOr">
            <a:avLst/>
          </a:prstGeom>
          <a:solidFill>
            <a:srgbClr val="E6E6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5" name="Блок-схема: несколько документов 14"/>
          <p:cNvSpPr/>
          <p:nvPr/>
        </p:nvSpPr>
        <p:spPr>
          <a:xfrm>
            <a:off x="6039183" y="208776"/>
            <a:ext cx="499455" cy="481302"/>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pic>
        <p:nvPicPr>
          <p:cNvPr id="27" name="Рисунок 26"/>
          <p:cNvPicPr>
            <a:picLocks noChangeAspect="1"/>
          </p:cNvPicPr>
          <p:nvPr/>
        </p:nvPicPr>
        <p:blipFill>
          <a:blip r:embed="rId3"/>
          <a:stretch>
            <a:fillRect/>
          </a:stretch>
        </p:blipFill>
        <p:spPr>
          <a:xfrm>
            <a:off x="4402556" y="10529849"/>
            <a:ext cx="1475699" cy="807930"/>
          </a:xfrm>
          <a:prstGeom prst="rect">
            <a:avLst/>
          </a:prstGeom>
        </p:spPr>
      </p:pic>
      <p:graphicFrame>
        <p:nvGraphicFramePr>
          <p:cNvPr id="25" name="Таблица 24"/>
          <p:cNvGraphicFramePr>
            <a:graphicFrameLocks noGrp="1"/>
          </p:cNvGraphicFramePr>
          <p:nvPr>
            <p:extLst>
              <p:ext uri="{D42A27DB-BD31-4B8C-83A1-F6EECF244321}">
                <p14:modId xmlns:p14="http://schemas.microsoft.com/office/powerpoint/2010/main" val="3174119383"/>
              </p:ext>
            </p:extLst>
          </p:nvPr>
        </p:nvGraphicFramePr>
        <p:xfrm>
          <a:off x="489856" y="768169"/>
          <a:ext cx="5829300" cy="595996"/>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4096374418"/>
                    </a:ext>
                  </a:extLst>
                </a:gridCol>
                <a:gridCol w="2714536">
                  <a:extLst>
                    <a:ext uri="{9D8B030D-6E8A-4147-A177-3AD203B41FA5}">
                      <a16:colId xmlns:a16="http://schemas.microsoft.com/office/drawing/2014/main" val="3004465261"/>
                    </a:ext>
                  </a:extLst>
                </a:gridCol>
                <a:gridCol w="2906484">
                  <a:extLst>
                    <a:ext uri="{9D8B030D-6E8A-4147-A177-3AD203B41FA5}">
                      <a16:colId xmlns:a16="http://schemas.microsoft.com/office/drawing/2014/main" val="495450802"/>
                    </a:ext>
                  </a:extLst>
                </a:gridCol>
              </a:tblGrid>
              <a:tr h="595996">
                <a:tc>
                  <a:txBody>
                    <a:bodyPr/>
                    <a:lstStyle/>
                    <a:p>
                      <a:pPr algn="ctr"/>
                      <a:endParaRPr lang="ru-RU" sz="2400" dirty="0">
                        <a:solidFill>
                          <a:schemeClr val="tx1"/>
                        </a:solidFill>
                      </a:endParaRPr>
                    </a:p>
                  </a:txBody>
                  <a:tcPr anchor="ctr"/>
                </a:tc>
                <a:tc>
                  <a:txBody>
                    <a:bodyPr/>
                    <a:lstStyle/>
                    <a:p>
                      <a:pPr algn="ctr"/>
                      <a:r>
                        <a:rPr lang="ru-RU" sz="2400" dirty="0" smtClean="0">
                          <a:solidFill>
                            <a:schemeClr val="tx1"/>
                          </a:solidFill>
                        </a:rPr>
                        <a:t>ПРЕДПРИЯТИЯ</a:t>
                      </a:r>
                      <a:endParaRPr lang="ru-RU" sz="2400" dirty="0">
                        <a:solidFill>
                          <a:schemeClr val="tx1"/>
                        </a:solidFill>
                      </a:endParaRPr>
                    </a:p>
                  </a:txBody>
                  <a:tcPr anchor="ctr">
                    <a:solidFill>
                      <a:schemeClr val="accent1"/>
                    </a:solidFill>
                  </a:tcPr>
                </a:tc>
                <a:tc>
                  <a:txBody>
                    <a:bodyPr/>
                    <a:lstStyle/>
                    <a:p>
                      <a:pPr algn="ctr"/>
                      <a:r>
                        <a:rPr lang="ru-RU" sz="2400" dirty="0" smtClean="0">
                          <a:solidFill>
                            <a:schemeClr val="tx1"/>
                          </a:solidFill>
                        </a:rPr>
                        <a:t>КЛИЕНТЫ</a:t>
                      </a:r>
                      <a:endParaRPr lang="ru-RU" sz="2400" dirty="0">
                        <a:solidFill>
                          <a:schemeClr val="tx1"/>
                        </a:solidFill>
                      </a:endParaRPr>
                    </a:p>
                  </a:txBody>
                  <a:tcPr anchor="ctr">
                    <a:solidFill>
                      <a:srgbClr val="FFC000"/>
                    </a:solidFill>
                  </a:tcPr>
                </a:tc>
                <a:extLst>
                  <a:ext uri="{0D108BD9-81ED-4DB2-BD59-A6C34878D82A}">
                    <a16:rowId xmlns:a16="http://schemas.microsoft.com/office/drawing/2014/main" val="1379486038"/>
                  </a:ext>
                </a:extLst>
              </a:tr>
            </a:tbl>
          </a:graphicData>
        </a:graphic>
      </p:graphicFrame>
      <p:pic>
        <p:nvPicPr>
          <p:cNvPr id="3" name="Рисунок 2"/>
          <p:cNvPicPr>
            <a:picLocks noChangeAspect="1"/>
          </p:cNvPicPr>
          <p:nvPr/>
        </p:nvPicPr>
        <p:blipFill>
          <a:blip r:embed="rId4"/>
          <a:stretch>
            <a:fillRect/>
          </a:stretch>
        </p:blipFill>
        <p:spPr>
          <a:xfrm>
            <a:off x="4624558" y="1427812"/>
            <a:ext cx="1664352" cy="682811"/>
          </a:xfrm>
          <a:prstGeom prst="rect">
            <a:avLst/>
          </a:prstGeom>
        </p:spPr>
      </p:pic>
    </p:spTree>
    <p:extLst>
      <p:ext uri="{BB962C8B-B14F-4D97-AF65-F5344CB8AC3E}">
        <p14:creationId xmlns:p14="http://schemas.microsoft.com/office/powerpoint/2010/main" val="375104577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06585" y="506186"/>
            <a:ext cx="12083142" cy="44289047"/>
          </a:xfrm>
          <a:prstGeom prst="rect">
            <a:avLst/>
          </a:prstGeom>
          <a:noFill/>
        </p:spPr>
        <p:txBody>
          <a:bodyPr wrap="square" rtlCol="0">
            <a:spAutoFit/>
          </a:bodyPr>
          <a:lstStyle/>
          <a:p>
            <a:pPr algn="just"/>
            <a:r>
              <a:rPr lang="ru-RU" sz="2800" b="1" dirty="0" smtClean="0"/>
              <a:t>Идея, конструктив работы сайта:</a:t>
            </a:r>
          </a:p>
          <a:p>
            <a:pPr lvl="0" algn="just"/>
            <a:r>
              <a:rPr lang="ru-RU" sz="2400" dirty="0" smtClean="0"/>
              <a:t>Предприятие заключает </a:t>
            </a:r>
            <a:r>
              <a:rPr lang="ru-RU" sz="2400" dirty="0" smtClean="0">
                <a:solidFill>
                  <a:prstClr val="black"/>
                </a:solidFill>
              </a:rPr>
              <a:t>договор </a:t>
            </a:r>
            <a:r>
              <a:rPr lang="ru-RU" sz="2400" dirty="0" smtClean="0"/>
              <a:t>с СИПРИ.  Админ </a:t>
            </a:r>
            <a:r>
              <a:rPr lang="ru-RU" sz="2400" dirty="0" smtClean="0">
                <a:solidFill>
                  <a:prstClr val="black"/>
                </a:solidFill>
              </a:rPr>
              <a:t>предприятия</a:t>
            </a:r>
            <a:endParaRPr lang="ru-RU" sz="2400" dirty="0">
              <a:solidFill>
                <a:prstClr val="black"/>
              </a:solidFill>
            </a:endParaRPr>
          </a:p>
          <a:p>
            <a:pPr algn="just"/>
            <a:r>
              <a:rPr lang="ru-RU" sz="2400" dirty="0" smtClean="0"/>
              <a:t> (с отдела </a:t>
            </a:r>
            <a:r>
              <a:rPr lang="en-US" sz="2400" dirty="0" smtClean="0">
                <a:solidFill>
                  <a:prstClr val="black"/>
                </a:solidFill>
              </a:rPr>
              <a:t>I</a:t>
            </a:r>
            <a:r>
              <a:rPr lang="en-US" sz="2400" dirty="0" smtClean="0"/>
              <a:t>T)</a:t>
            </a:r>
            <a:r>
              <a:rPr lang="ru-RU" sz="2400" dirty="0" smtClean="0"/>
              <a:t> с вами включает на свои сайты (интернет и </a:t>
            </a:r>
            <a:r>
              <a:rPr lang="ru-RU" sz="2400" dirty="0" err="1" smtClean="0"/>
              <a:t>интранет</a:t>
            </a:r>
            <a:r>
              <a:rPr lang="ru-RU" sz="2400" dirty="0" smtClean="0"/>
              <a:t>) кнопку-ссылку, при нажатии переходит на СИПРИ (слайд 1). Лучше делать сайт на платформе «</a:t>
            </a:r>
            <a:r>
              <a:rPr lang="ru-RU" sz="2400" dirty="0" err="1" smtClean="0"/>
              <a:t>Битрикс</a:t>
            </a:r>
            <a:r>
              <a:rPr lang="ru-RU" sz="2400" dirty="0" smtClean="0"/>
              <a:t>», или чтобы сайты предприятий на </a:t>
            </a:r>
            <a:r>
              <a:rPr lang="ru-RU" sz="2400" dirty="0" err="1" smtClean="0"/>
              <a:t>Битрикс</a:t>
            </a:r>
            <a:r>
              <a:rPr lang="ru-RU" sz="2400" dirty="0" smtClean="0"/>
              <a:t> могли открывать и работать с СИПРИ. Или какая будет в тренде, чтобы с компьютера и с мобильных устройств работало-и приложение сделать для телефона. И какая платформа в будущем  будет перспективна , чтобы делать сайт и приложение, есть понимание?(прошу сообщить). Админ с вашей помощью заполняет данные предприятия, руководство предприятия от директора до начальников всех нижних структурных подразделений(отделов, групп) авторизуется, вносятся правила участникам (позже напишу), работникам предлагается участие и заполнение своих карточек-авторизацию. </a:t>
            </a:r>
            <a:r>
              <a:rPr lang="ru-RU" sz="2400" dirty="0" smtClean="0"/>
              <a:t>Админ при настройках сайта для своего предприятия прописывает название предприятия, которое видно на главной странице при авторизации (слайд 2)</a:t>
            </a:r>
            <a:endParaRPr lang="ru-RU" sz="2400" dirty="0" smtClean="0"/>
          </a:p>
          <a:p>
            <a:pPr lvl="0" algn="just"/>
            <a:r>
              <a:rPr lang="ru-RU" sz="2400" dirty="0"/>
              <a:t> </a:t>
            </a:r>
            <a:r>
              <a:rPr lang="ru-RU" sz="2400" dirty="0" smtClean="0"/>
              <a:t>                  </a:t>
            </a:r>
            <a:r>
              <a:rPr lang="ru-RU" sz="2400" dirty="0">
                <a:solidFill>
                  <a:prstClr val="black"/>
                </a:solidFill>
              </a:rPr>
              <a:t>СИПРИ должен работать </a:t>
            </a:r>
            <a:r>
              <a:rPr lang="ru-RU" sz="2400" dirty="0" smtClean="0">
                <a:solidFill>
                  <a:prstClr val="black"/>
                </a:solidFill>
              </a:rPr>
              <a:t>как </a:t>
            </a:r>
            <a:r>
              <a:rPr lang="ru-RU" sz="2400" dirty="0">
                <a:solidFill>
                  <a:prstClr val="black"/>
                </a:solidFill>
              </a:rPr>
              <a:t>в компьютерах на </a:t>
            </a:r>
            <a:r>
              <a:rPr lang="en-US" sz="2400" dirty="0">
                <a:solidFill>
                  <a:prstClr val="black"/>
                </a:solidFill>
              </a:rPr>
              <a:t>Windows</a:t>
            </a:r>
            <a:r>
              <a:rPr lang="ru-RU" sz="2400" dirty="0">
                <a:solidFill>
                  <a:prstClr val="black"/>
                </a:solidFill>
              </a:rPr>
              <a:t>, на российской новой </a:t>
            </a:r>
            <a:r>
              <a:rPr lang="ru-RU" sz="2400" dirty="0" smtClean="0">
                <a:solidFill>
                  <a:prstClr val="black"/>
                </a:solidFill>
              </a:rPr>
              <a:t>ОС Аврора, </a:t>
            </a:r>
            <a:r>
              <a:rPr lang="ru-RU" sz="2400" dirty="0">
                <a:solidFill>
                  <a:prstClr val="black"/>
                </a:solidFill>
              </a:rPr>
              <a:t>и в мобильных устройствах, это возможно сделать? И сделать  сайт как приложение для загрузки через  магазины приложений  для мобильных устройств на </a:t>
            </a:r>
            <a:r>
              <a:rPr lang="ru-RU" sz="2400" dirty="0" err="1">
                <a:solidFill>
                  <a:prstClr val="black"/>
                </a:solidFill>
              </a:rPr>
              <a:t>Андроид</a:t>
            </a:r>
            <a:r>
              <a:rPr lang="ru-RU" sz="2400" dirty="0">
                <a:solidFill>
                  <a:prstClr val="black"/>
                </a:solidFill>
              </a:rPr>
              <a:t>, Эппл и </a:t>
            </a:r>
            <a:r>
              <a:rPr lang="ru-RU" sz="2400" dirty="0" smtClean="0">
                <a:solidFill>
                  <a:prstClr val="black"/>
                </a:solidFill>
              </a:rPr>
              <a:t>китайских </a:t>
            </a:r>
            <a:r>
              <a:rPr lang="ru-RU" sz="2400" dirty="0">
                <a:solidFill>
                  <a:prstClr val="black"/>
                </a:solidFill>
              </a:rPr>
              <a:t>ОС можно сделать, или необходимо приложение создавать?</a:t>
            </a:r>
          </a:p>
          <a:p>
            <a:pPr lvl="0" algn="just"/>
            <a:r>
              <a:rPr lang="ru-RU" sz="2400" dirty="0">
                <a:solidFill>
                  <a:prstClr val="black"/>
                </a:solidFill>
              </a:rPr>
              <a:t>Также необходимо учесть возможность расширения </a:t>
            </a:r>
            <a:r>
              <a:rPr lang="ru-RU" sz="2400" dirty="0" smtClean="0">
                <a:solidFill>
                  <a:prstClr val="black"/>
                </a:solidFill>
              </a:rPr>
              <a:t>сайта (</a:t>
            </a:r>
            <a:r>
              <a:rPr lang="ru-RU" sz="2400" dirty="0">
                <a:solidFill>
                  <a:prstClr val="black"/>
                </a:solidFill>
              </a:rPr>
              <a:t>и приложения) для корпораций и больших предприятий с численностью до несколько десятков тысяч человек и большим количеством отделов и подразделений. Данным сайтом </a:t>
            </a:r>
            <a:r>
              <a:rPr lang="ru-RU" sz="2400" dirty="0" smtClean="0">
                <a:solidFill>
                  <a:prstClr val="black"/>
                </a:solidFill>
              </a:rPr>
              <a:t>первоначально</a:t>
            </a:r>
            <a:r>
              <a:rPr lang="ru-RU" sz="2400" dirty="0" smtClean="0">
                <a:solidFill>
                  <a:prstClr val="black"/>
                </a:solidFill>
              </a:rPr>
              <a:t> </a:t>
            </a:r>
            <a:r>
              <a:rPr lang="ru-RU" sz="2400" dirty="0">
                <a:solidFill>
                  <a:prstClr val="black"/>
                </a:solidFill>
              </a:rPr>
              <a:t>будет пользоваться от 700 до </a:t>
            </a:r>
            <a:r>
              <a:rPr lang="ru-RU" sz="2400" dirty="0" smtClean="0">
                <a:solidFill>
                  <a:prstClr val="black"/>
                </a:solidFill>
              </a:rPr>
              <a:t>3000 </a:t>
            </a:r>
            <a:r>
              <a:rPr lang="ru-RU" sz="2400" dirty="0">
                <a:solidFill>
                  <a:prstClr val="black"/>
                </a:solidFill>
              </a:rPr>
              <a:t>человек,  в составе которых около 10-20 параллельных похожих предприятий с похожей структурой и составом от нескольких до примерно несколько десятков групп, отделов</a:t>
            </a:r>
          </a:p>
          <a:p>
            <a:pPr algn="just"/>
            <a:r>
              <a:rPr lang="ru-RU" sz="2400" dirty="0" smtClean="0"/>
              <a:t>       </a:t>
            </a:r>
          </a:p>
          <a:p>
            <a:pPr algn="ctr"/>
            <a:r>
              <a:rPr lang="ru-RU" sz="2800" b="1" dirty="0" smtClean="0"/>
              <a:t>Схема работы:</a:t>
            </a:r>
          </a:p>
          <a:p>
            <a:pPr algn="just"/>
            <a:r>
              <a:rPr lang="ru-RU" sz="2400" dirty="0" smtClean="0"/>
              <a:t>Любой работник предприятия (от рядового до директора) может подать идею или запрос по найденной проблеме или улучшению чего либо. Создает карточку идеи, становится автором и подает на обсуждение в свой отдел. Обсуждение идет через переписку встроенного мессенджера, </a:t>
            </a:r>
            <a:r>
              <a:rPr lang="ru-RU" sz="2400" dirty="0" err="1" smtClean="0"/>
              <a:t>служ</a:t>
            </a:r>
            <a:r>
              <a:rPr lang="ru-RU" sz="2400" dirty="0" smtClean="0"/>
              <a:t> почту или звонки (для устранения «</a:t>
            </a:r>
            <a:r>
              <a:rPr lang="ru-RU" sz="2400" dirty="0" err="1" smtClean="0"/>
              <a:t>флуда</a:t>
            </a:r>
            <a:r>
              <a:rPr lang="ru-RU" sz="2400" dirty="0" smtClean="0"/>
              <a:t>» при согласовании в карточке), и того кто ее дополнит в процессе обсуждения, может сделать соавтором. Заполнив строки карточки, каждый работник с отдела голосует нажимая соответствующие кнопки (за, против или нейтрально). Отображается значков кол-во соответствующих голосов и рейтинг (от 0 до 100 процентов, считается соотношение тех кто за, к тем кто против с учетом нейтральных). Далее руководитель принимает решение за или против. Против –отказ уходит в архив (он пишет в карточке причину отказа), если за-отправляет карточку идеи всем смежным руководителям своего уровня – отдела, или вышестоящему руководителю (только своему) на согласование. Они также обсуждают между собой (можно через встроенный мессенджер, </a:t>
            </a:r>
            <a:r>
              <a:rPr lang="ru-RU" sz="2400" dirty="0" err="1" smtClean="0"/>
              <a:t>служ</a:t>
            </a:r>
            <a:r>
              <a:rPr lang="ru-RU" sz="2400" dirty="0" smtClean="0"/>
              <a:t> почту или по телефону). Далее ставят статус «согласовано» или» отказ», отображаются все данные (кто, должность, дата и пр-в ТЗ указано), и так до директора (или лицо им уполномоченное-необходимо в правах при авторизации иметь возможность делегировать директору свои полномочия. Все отказные идеи уходят в архив с описанием причин(заполняет рук. Отдела или может вышестоящий руководитель подразделения автора </a:t>
            </a:r>
            <a:r>
              <a:rPr lang="ru-RU" sz="2400" dirty="0" smtClean="0"/>
              <a:t>идеи). </a:t>
            </a:r>
            <a:r>
              <a:rPr lang="ru-RU" sz="2400" dirty="0" smtClean="0"/>
              <a:t>Чужие руководители не могут отправить в архив, могут только не согласовать. При согласовании всеми, кому отправили карточку, она принимается в работу , в статус «на исполнении</a:t>
            </a:r>
            <a:r>
              <a:rPr lang="ru-RU" sz="2400" dirty="0" smtClean="0"/>
              <a:t>», и назначается ответственный исполнитель( работника до </a:t>
            </a:r>
            <a:r>
              <a:rPr lang="ru-RU" sz="2400" dirty="0"/>
              <a:t>директора) по реализации идеи, </a:t>
            </a:r>
            <a:r>
              <a:rPr lang="ru-RU" sz="2400" dirty="0" smtClean="0"/>
              <a:t>который отмечается в карточке идеи пометкой. Также количество голосов проголосовавших за идею автора начисляется на определенный бонусный счет автора, который виден в его карточке контакта, и считается рейтинг этого автора по идеям как соотношение сумм всех голосов с «за» к голосам «против» за все поданные им идеи за все время участия в СИПРИ.  В </a:t>
            </a:r>
            <a:r>
              <a:rPr lang="ru-RU" sz="2400" dirty="0" smtClean="0"/>
              <a:t>процессе может требоваться доработка, для этого имеется возможность дополнять ее предложениями по корректировке и комментариями. После исполнения автор идеи(ответственный за исполнение идеи) сообщает руководителю об исполнении, тот завершает карточку отчетом и статусом-успешно или неуспешно, она сохраняется и переходит в </a:t>
            </a:r>
            <a:r>
              <a:rPr lang="ru-RU" sz="2400" dirty="0" err="1" smtClean="0"/>
              <a:t>в</a:t>
            </a:r>
            <a:r>
              <a:rPr lang="ru-RU" sz="2400" dirty="0" smtClean="0"/>
              <a:t> базу-архив предложений. Аналогично схема работает при получении идей извне - от клиентов и работников смежных предприятий (в составе корпораций или похожих по направлению деятельности, например авиация), только они создают немного другие карточки с персональными данными и ограничены в правах и просмотрах, не могут открывать определенные вкладки, страницы. Руководство может ставить гриф, статус идеи «секретно» в начале или после исполнения (и в любой момент) при этом никто из работников кроме них не может просмотреть и поделиться с кем либо карточкой. Директор может сам (или делегировать кому решит-сделать ему функцию в его настройках) поставить «замок» всем, и снять его только тому кому решит. Карточками можно делиться с коллегами для удобства. Аналогично идеи поступают от клиентов, которые пользуются услугами или потребляют товары предприятия, и от работников смежных предприятий, которые совместно производят продукцию или взаимодействуют при производстве услуг и товаров. Они могут авторизоваться, заполняя контактные данные, или остаться в статусе «анонимно» , создав ник и нажав соответствующую кнопку. При этом в базе идей карточки для удобства поиска сортируются согласно данным трем категориям (своего предприятия, клиенты и смежные предприятия их работники» . Если смежные предприятия тоже включаются в СИПРИ, работники каждого предприятия могут видеть (это на странице в разделе «Контакты») структурно отделы всех смежных предприятий (не видя персональных данных работников согласно закону о защите перс данных). Это с учетом закона посмотрите насколько возможно.  В карточке контакта сделать категории прав доступа(к подаче идеи, просмотру, редактированию и </a:t>
            </a:r>
            <a:r>
              <a:rPr lang="ru-RU" sz="2400" dirty="0" err="1" smtClean="0"/>
              <a:t>тп</a:t>
            </a:r>
            <a:r>
              <a:rPr lang="ru-RU" sz="2400" dirty="0" smtClean="0"/>
              <a:t>), которые может менять руководитель отдела и выше, чтобы можно было отключить (</a:t>
            </a:r>
            <a:r>
              <a:rPr lang="ru-RU" sz="2400" dirty="0" err="1" smtClean="0"/>
              <a:t>забанить</a:t>
            </a:r>
            <a:r>
              <a:rPr lang="ru-RU" sz="2400" dirty="0" smtClean="0"/>
              <a:t>) того, кто несет </a:t>
            </a:r>
            <a:r>
              <a:rPr lang="ru-RU" sz="2400" dirty="0" err="1" smtClean="0"/>
              <a:t>флуд</a:t>
            </a:r>
            <a:r>
              <a:rPr lang="ru-RU" sz="2400" dirty="0" smtClean="0"/>
              <a:t> на определенное время, допустим на сутки. Можно видеть контакты (кроме номера телефона) если только находятся в составе одной корпорации (делается в настройках-необходимо сделать такую функцию) Написать им и отправить свою карточку идеи можно через поделиться (нажав  </a:t>
            </a:r>
            <a:r>
              <a:rPr lang="ru-RU" sz="2400" dirty="0" err="1" smtClean="0"/>
              <a:t>соотв</a:t>
            </a:r>
            <a:r>
              <a:rPr lang="ru-RU" sz="2400" dirty="0" smtClean="0"/>
              <a:t> отдел)-поступит начальнику </a:t>
            </a:r>
            <a:r>
              <a:rPr lang="ru-RU" sz="2400" dirty="0" err="1" smtClean="0"/>
              <a:t>соответств</a:t>
            </a:r>
            <a:r>
              <a:rPr lang="ru-RU" sz="2400" dirty="0" smtClean="0"/>
              <a:t> отдела. Мессенджер или почту возможно сделать как ссылками за надписями вкладок на странице СИПРИ? (при нажатии на вкладки «</a:t>
            </a:r>
            <a:r>
              <a:rPr lang="ru-RU" sz="2400" dirty="0" err="1" smtClean="0"/>
              <a:t>меесенджер</a:t>
            </a:r>
            <a:r>
              <a:rPr lang="ru-RU" sz="2400" dirty="0" smtClean="0"/>
              <a:t>» и «почта») на типовые наш «Мах» и домен служебной почты предприятия или это будет нарушение закона?  Какой функционал в настройках требуется предлагайте и включайте, я примитивно, в общем нарисовал. Предлагаю сделать сперва как бы черно белый черновик (</a:t>
            </a:r>
            <a:r>
              <a:rPr lang="ru-RU" sz="2400" dirty="0"/>
              <a:t>б</a:t>
            </a:r>
            <a:r>
              <a:rPr lang="ru-RU" sz="2400" dirty="0" smtClean="0"/>
              <a:t>ез прорисовок и настроек)по </a:t>
            </a:r>
            <a:r>
              <a:rPr lang="ru-RU" sz="2400" dirty="0" err="1" smtClean="0"/>
              <a:t>минималу</a:t>
            </a:r>
            <a:r>
              <a:rPr lang="ru-RU" sz="2400" dirty="0" smtClean="0"/>
              <a:t>, чтобы отладить схему и пути открытия, верное открытие вкладок, кнопок, убрать скрытые системные возможные </a:t>
            </a:r>
            <a:r>
              <a:rPr lang="ru-RU" sz="2400" dirty="0">
                <a:solidFill>
                  <a:prstClr val="black"/>
                </a:solidFill>
              </a:rPr>
              <a:t>мои </a:t>
            </a:r>
            <a:r>
              <a:rPr lang="ru-RU" sz="2400" dirty="0" smtClean="0"/>
              <a:t>косяки, и понять сколько достаточно страниц,  чтобы я сам все </a:t>
            </a:r>
            <a:r>
              <a:rPr lang="ru-RU" sz="2400" dirty="0" err="1" smtClean="0"/>
              <a:t>протестил</a:t>
            </a:r>
            <a:r>
              <a:rPr lang="ru-RU" sz="2400" dirty="0" smtClean="0"/>
              <a:t> , и потом будем расширять и допиливать по функционалу и прорисовкам как я увижу. Возможно в ТЗ есть ошибки, противоречия, предлагаю в процессе давать обратную связь, уточнять, чтобы не тратить время и деньги на ненужное. Что непонятно лучше сразу пишите, звоните, фото и </a:t>
            </a:r>
            <a:r>
              <a:rPr lang="ru-RU" sz="2400" dirty="0" err="1" smtClean="0"/>
              <a:t>скрины</a:t>
            </a:r>
            <a:r>
              <a:rPr lang="ru-RU" sz="2400" dirty="0" smtClean="0"/>
              <a:t> на </a:t>
            </a:r>
            <a:r>
              <a:rPr lang="ru-RU" sz="2400" dirty="0" smtClean="0"/>
              <a:t>почту </a:t>
            </a:r>
            <a:r>
              <a:rPr lang="en-US" sz="2400" dirty="0" smtClean="0">
                <a:solidFill>
                  <a:srgbClr val="FF0000"/>
                </a:solidFill>
                <a:hlinkClick r:id="rId2"/>
              </a:rPr>
              <a:t>voldmist@mail.ru</a:t>
            </a:r>
            <a:r>
              <a:rPr lang="en-US" sz="2400" dirty="0" smtClean="0"/>
              <a:t> </a:t>
            </a:r>
            <a:r>
              <a:rPr lang="ru-RU" sz="2400" dirty="0" smtClean="0"/>
              <a:t> </a:t>
            </a:r>
            <a:r>
              <a:rPr lang="ru-RU" sz="2400" dirty="0" smtClean="0"/>
              <a:t>и в мессенджер Макс, хорошо? </a:t>
            </a:r>
          </a:p>
          <a:p>
            <a:pPr algn="ctr"/>
            <a:endParaRPr lang="en-US" sz="2800" b="1" dirty="0" smtClean="0"/>
          </a:p>
          <a:p>
            <a:pPr algn="ctr"/>
            <a:r>
              <a:rPr lang="ru-RU" sz="2800" b="1" dirty="0" smtClean="0"/>
              <a:t>Уточнения</a:t>
            </a:r>
            <a:r>
              <a:rPr lang="ru-RU" sz="2800" b="1" dirty="0" smtClean="0"/>
              <a:t>, вопросы</a:t>
            </a:r>
          </a:p>
          <a:p>
            <a:pPr algn="just"/>
            <a:endParaRPr lang="ru-RU" sz="2400" dirty="0"/>
          </a:p>
          <a:p>
            <a:pPr algn="just"/>
            <a:r>
              <a:rPr lang="ru-RU" sz="2400" dirty="0" smtClean="0"/>
              <a:t> 1.При входе пользователь авторизуется через внесение данных, ник(если анонимно) и логин пароль-для всех, </a:t>
            </a:r>
            <a:r>
              <a:rPr lang="ru-RU" sz="2400" dirty="0" smtClean="0"/>
              <a:t>как проще?</a:t>
            </a:r>
            <a:endParaRPr lang="ru-RU" sz="2400" dirty="0" smtClean="0"/>
          </a:p>
          <a:p>
            <a:pPr algn="just"/>
            <a:r>
              <a:rPr lang="ru-RU" sz="2400" dirty="0" smtClean="0"/>
              <a:t>2. Как на главной странице лучше сделать внесение логина и пароля для входа? В кнопке авторизация, личный кабинет?</a:t>
            </a:r>
          </a:p>
          <a:p>
            <a:pPr algn="just"/>
            <a:r>
              <a:rPr lang="ru-RU" sz="2400" dirty="0" smtClean="0"/>
              <a:t>3. Делаем вначале сайт, отрабатываем, потом </a:t>
            </a:r>
            <a:r>
              <a:rPr lang="ru-RU" sz="2400" dirty="0" smtClean="0"/>
              <a:t>приложение.</a:t>
            </a:r>
            <a:endParaRPr lang="ru-RU" sz="2400" dirty="0" smtClean="0"/>
          </a:p>
          <a:p>
            <a:pPr algn="just"/>
            <a:r>
              <a:rPr lang="ru-RU" sz="2400" dirty="0" smtClean="0"/>
              <a:t>4. Слайды в ТЗ расположены не в порядке открывания страниц, смотрите переходы согласно комментариям, </a:t>
            </a:r>
            <a:r>
              <a:rPr lang="ru-RU" sz="2400" dirty="0" err="1" smtClean="0"/>
              <a:t>тк</a:t>
            </a:r>
            <a:r>
              <a:rPr lang="ru-RU" sz="2400" dirty="0" smtClean="0"/>
              <a:t> новые страницы рождаются в процессе создания ТЗ. Возможны ошибки-сверяйте со мной логику переходов на страницы</a:t>
            </a:r>
          </a:p>
          <a:p>
            <a:pPr algn="just"/>
            <a:r>
              <a:rPr lang="ru-RU" sz="2400" dirty="0" smtClean="0"/>
              <a:t>5.Значки взяты с данной программы, многие просьба заменить на более интуитивно понятные (согласуем в работе)</a:t>
            </a:r>
          </a:p>
          <a:p>
            <a:pPr algn="just"/>
            <a:r>
              <a:rPr lang="ru-RU" sz="2400" dirty="0" smtClean="0"/>
              <a:t>6. Предлагаю делать поэтапно, согласовывая новую готовую страницу(или несколько страниц) на мое рассмотрение для исключения возможных переделок?</a:t>
            </a:r>
          </a:p>
          <a:p>
            <a:pPr algn="just"/>
            <a:r>
              <a:rPr lang="ru-RU" sz="2400" dirty="0" smtClean="0"/>
              <a:t>7. Что то необходимое для работы может отсутствовать (не имею опыта создания сайтов). Прошу вначале провести анализ на наличие возможных ошибок и получить ваши рекомендации как сделать лучше или удобнее, проще. Прошу подсказать варианты шрифтов, которые лучше подходят к сайту. Можете сами корректировать в файле мои ошибки и недоработки в ТЗ (показывая их мне) и приступите к работе.</a:t>
            </a:r>
          </a:p>
          <a:p>
            <a:pPr algn="just"/>
            <a:r>
              <a:rPr lang="ru-RU" sz="2400" dirty="0" smtClean="0"/>
              <a:t>8. То что написано в первой версии ТЗ должно быть  применимо и к данному ТЗ, но что противоречит-удалить, согласовав со мной. То что уже сделано но не нужно в данной версии сайта (согласно нового ТЗ) можно удалять. Новое, что появилось во второй версии ТЗ прошу оценить по стоимости работ.</a:t>
            </a:r>
          </a:p>
          <a:p>
            <a:pPr algn="just"/>
            <a:r>
              <a:rPr lang="ru-RU" sz="2400" dirty="0" smtClean="0"/>
              <a:t>9. Прошу сообщить возможность встройки данной системы в существующие системы документооборота (например СЭД «Практика» и другие самые распространенные) для предприятий и сайты предприятий(вкладками-ссылками или как</a:t>
            </a:r>
            <a:r>
              <a:rPr lang="ru-RU" dirty="0" smtClean="0"/>
              <a:t>?)</a:t>
            </a:r>
          </a:p>
        </p:txBody>
      </p:sp>
    </p:spTree>
    <p:extLst>
      <p:ext uri="{BB962C8B-B14F-4D97-AF65-F5344CB8AC3E}">
        <p14:creationId xmlns:p14="http://schemas.microsoft.com/office/powerpoint/2010/main" val="3580129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Интеграл">
  <a:themeElements>
    <a:clrScheme name="Интеграл">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Интеграл">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Интеграл">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91773</TotalTime>
  <Words>3389</Words>
  <Application>Microsoft Office PowerPoint</Application>
  <PresentationFormat>Широкоэкранный</PresentationFormat>
  <Paragraphs>729</Paragraphs>
  <Slides>39</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39</vt:i4>
      </vt:variant>
    </vt:vector>
  </HeadingPairs>
  <TitlesOfParts>
    <vt:vector size="44" baseType="lpstr">
      <vt:lpstr>Calibri</vt:lpstr>
      <vt:lpstr>Tw Cen MT</vt:lpstr>
      <vt:lpstr>Tw Cen MT Condensed</vt:lpstr>
      <vt:lpstr>Wingdings 3</vt:lpstr>
      <vt:lpstr>Интеграл</vt:lpstr>
      <vt:lpstr>      www.sipri.ru  СИПРИ система предложений, идей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lenovo50y6@hotmail.com</dc:creator>
  <cp:lastModifiedBy>Пользователь Lenovo</cp:lastModifiedBy>
  <cp:revision>521</cp:revision>
  <dcterms:created xsi:type="dcterms:W3CDTF">2024-12-13T09:24:13Z</dcterms:created>
  <dcterms:modified xsi:type="dcterms:W3CDTF">2025-12-28T23:31:21Z</dcterms:modified>
</cp:coreProperties>
</file>